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57" r:id="rId3"/>
    <p:sldId id="258" r:id="rId4"/>
    <p:sldId id="259" r:id="rId5"/>
    <p:sldId id="260" r:id="rId6"/>
    <p:sldId id="261" r:id="rId7"/>
    <p:sldId id="262" r:id="rId8"/>
    <p:sldId id="263" r:id="rId9"/>
    <p:sldId id="264" r:id="rId10"/>
    <p:sldId id="268" r:id="rId11"/>
    <p:sldId id="267" r:id="rId12"/>
    <p:sldId id="266"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32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16933"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s-ES"/>
            </a:p>
          </p:txBody>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9" y="1871133"/>
            <a:ext cx="6815669" cy="1515533"/>
          </a:xfrm>
        </p:spPr>
        <p:txBody>
          <a:bodyPr anchor="b">
            <a:noAutofit/>
          </a:bodyPr>
          <a:lstStyle>
            <a:lvl1pPr algn="ctr">
              <a:defRPr sz="5400">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692399"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983233" y="5037663"/>
            <a:ext cx="897467" cy="279400"/>
          </a:xfrm>
        </p:spPr>
        <p:txBody>
          <a:bodyPr/>
          <a:lstStyle/>
          <a:p>
            <a:fld id="{0AB18D51-99D4-478B-87E1-A2B038CFB0BF}" type="datetimeFigureOut">
              <a:rPr lang="es-ES" smtClean="0"/>
              <a:t>08/11/2025</a:t>
            </a:fld>
            <a:endParaRPr lang="es-ES"/>
          </a:p>
        </p:txBody>
      </p:sp>
      <p:sp>
        <p:nvSpPr>
          <p:cNvPr id="5" name="Footer Placeholder 4"/>
          <p:cNvSpPr>
            <a:spLocks noGrp="1"/>
          </p:cNvSpPr>
          <p:nvPr>
            <p:ph type="ftr" sz="quarter" idx="11"/>
          </p:nvPr>
        </p:nvSpPr>
        <p:spPr>
          <a:xfrm>
            <a:off x="2692397" y="5037663"/>
            <a:ext cx="5214635" cy="279400"/>
          </a:xfrm>
        </p:spPr>
        <p:txBody>
          <a:bodyPr/>
          <a:lstStyle/>
          <a:p>
            <a:endParaRPr lang="es-ES"/>
          </a:p>
        </p:txBody>
      </p:sp>
      <p:sp>
        <p:nvSpPr>
          <p:cNvPr id="6" name="Slide Number Placeholder 5"/>
          <p:cNvSpPr>
            <a:spLocks noGrp="1"/>
          </p:cNvSpPr>
          <p:nvPr>
            <p:ph type="sldNum" sz="quarter" idx="12"/>
          </p:nvPr>
        </p:nvSpPr>
        <p:spPr>
          <a:xfrm>
            <a:off x="8956902" y="5037663"/>
            <a:ext cx="551167" cy="279400"/>
          </a:xfrm>
        </p:spPr>
        <p:txBody>
          <a:bodyPr/>
          <a:lstStyle/>
          <a:p>
            <a:fld id="{B9500B35-A3FF-4322-827A-002A59170DD2}" type="slidenum">
              <a:rPr lang="es-ES" smtClean="0"/>
              <a:t>‹Nº›</a:t>
            </a:fld>
            <a:endParaRPr lang="es-E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5251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cxnSp>
        <p:nvCxnSpPr>
          <p:cNvPr id="7" name="Straight Connector 6"/>
          <p:cNvCxnSpPr/>
          <p:nvPr/>
        </p:nvCxnSpPr>
        <p:spPr>
          <a:xfrm>
            <a:off x="1396169" y="2421466"/>
            <a:ext cx="9407299"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AB18D51-99D4-478B-87E1-A2B038CFB0BF}" type="datetimeFigureOut">
              <a:rPr lang="es-ES" smtClean="0"/>
              <a:t>08/11/2025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B9500B35-A3FF-4322-827A-002A59170DD2}" type="slidenum">
              <a:rPr lang="es-ES" smtClean="0"/>
              <a:t>‹Nº›</a:t>
            </a:fld>
            <a:endParaRPr lang="es-ES"/>
          </a:p>
        </p:txBody>
      </p:sp>
    </p:spTree>
    <p:extLst>
      <p:ext uri="{BB962C8B-B14F-4D97-AF65-F5344CB8AC3E}">
        <p14:creationId xmlns:p14="http://schemas.microsoft.com/office/powerpoint/2010/main" val="1399664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015067" y="3846053"/>
            <a:ext cx="8158691"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0AB18D51-99D4-478B-87E1-A2B038CFB0BF}" type="datetimeFigureOut">
              <a:rPr lang="es-ES" smtClean="0"/>
              <a:t>08/11/2025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B9500B35-A3FF-4322-827A-002A59170DD2}" type="slidenum">
              <a:rPr lang="es-ES" smtClean="0"/>
              <a:t>‹Nº›</a:t>
            </a:fld>
            <a:endParaRPr lang="es-E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84429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cxnSp>
        <p:nvCxnSpPr>
          <p:cNvPr id="8" name="Straight Connector 7"/>
          <p:cNvCxnSpPr/>
          <p:nvPr/>
        </p:nvCxnSpPr>
        <p:spPr>
          <a:xfrm>
            <a:off x="1396169" y="2421466"/>
            <a:ext cx="9407299"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0AB18D51-99D4-478B-87E1-A2B038CFB0BF}" type="datetimeFigureOut">
              <a:rPr lang="es-ES" smtClean="0"/>
              <a:t>08/11/2025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B9500B35-A3FF-4322-827A-002A59170DD2}" type="slidenum">
              <a:rPr lang="es-ES" smtClean="0"/>
              <a:t>‹Nº›</a:t>
            </a:fld>
            <a:endParaRPr lang="es-ES"/>
          </a:p>
        </p:txBody>
      </p:sp>
    </p:spTree>
    <p:extLst>
      <p:ext uri="{BB962C8B-B14F-4D97-AF65-F5344CB8AC3E}">
        <p14:creationId xmlns:p14="http://schemas.microsoft.com/office/powerpoint/2010/main" val="2730112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295400" y="3243264"/>
            <a:ext cx="4718304" cy="2632605"/>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80671" y="3243264"/>
            <a:ext cx="4718304" cy="2632605"/>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0AB18D51-99D4-478B-87E1-A2B038CFB0BF}" type="datetimeFigureOut">
              <a:rPr lang="es-ES" smtClean="0"/>
              <a:t>08/11/2025</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B9500B35-A3FF-4322-827A-002A59170DD2}" type="slidenum">
              <a:rPr lang="es-ES" smtClean="0"/>
              <a:t>‹Nº›</a:t>
            </a:fld>
            <a:endParaRPr lang="es-ES"/>
          </a:p>
        </p:txBody>
      </p:sp>
      <p:cxnSp>
        <p:nvCxnSpPr>
          <p:cNvPr id="18" name="Straight Connector 17"/>
          <p:cNvCxnSpPr/>
          <p:nvPr/>
        </p:nvCxnSpPr>
        <p:spPr>
          <a:xfrm>
            <a:off x="1396169" y="2421466"/>
            <a:ext cx="9407299"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74425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0AB18D51-99D4-478B-87E1-A2B038CFB0BF}" type="datetimeFigureOut">
              <a:rPr lang="es-ES" smtClean="0"/>
              <a:t>08/11/2025</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B9500B35-A3FF-4322-827A-002A59170DD2}" type="slidenum">
              <a:rPr lang="es-ES" smtClean="0"/>
              <a:t>‹Nº›</a:t>
            </a:fld>
            <a:endParaRPr lang="es-ES"/>
          </a:p>
        </p:txBody>
      </p:sp>
      <p:cxnSp>
        <p:nvCxnSpPr>
          <p:cNvPr id="14" name="Straight Connector 13"/>
          <p:cNvCxnSpPr/>
          <p:nvPr/>
        </p:nvCxnSpPr>
        <p:spPr>
          <a:xfrm>
            <a:off x="1396169" y="2421466"/>
            <a:ext cx="9407299"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5956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B18D51-99D4-478B-87E1-A2B038CFB0BF}" type="datetimeFigureOut">
              <a:rPr lang="es-ES" smtClean="0"/>
              <a:t>08/11/2025</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B9500B35-A3FF-4322-827A-002A59170DD2}" type="slidenum">
              <a:rPr lang="es-ES" smtClean="0"/>
              <a:t>‹Nº›</a:t>
            </a:fld>
            <a:endParaRPr lang="es-ES"/>
          </a:p>
        </p:txBody>
      </p:sp>
    </p:spTree>
    <p:extLst>
      <p:ext uri="{BB962C8B-B14F-4D97-AF65-F5344CB8AC3E}">
        <p14:creationId xmlns:p14="http://schemas.microsoft.com/office/powerpoint/2010/main" val="20852172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293813" y="1388534"/>
            <a:ext cx="3718455" cy="1371600"/>
          </a:xfrm>
        </p:spPr>
        <p:txBody>
          <a:bodyPr anchor="b">
            <a:normAutofit/>
          </a:bodyPr>
          <a:lstStyle>
            <a:lvl1pPr algn="ctr">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418668" y="982133"/>
            <a:ext cx="5469467" cy="4893735"/>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293813"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0AB18D51-99D4-478B-87E1-A2B038CFB0BF}" type="datetimeFigureOut">
              <a:rPr lang="es-ES" smtClean="0"/>
              <a:t>08/11/2025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B9500B35-A3FF-4322-827A-002A59170DD2}" type="slidenum">
              <a:rPr lang="es-ES" smtClean="0"/>
              <a:t>‹Nº›</a:t>
            </a:fld>
            <a:endParaRPr lang="es-ES"/>
          </a:p>
        </p:txBody>
      </p:sp>
      <p:cxnSp>
        <p:nvCxnSpPr>
          <p:cNvPr id="16" name="Straight Connector 15"/>
          <p:cNvCxnSpPr/>
          <p:nvPr/>
        </p:nvCxnSpPr>
        <p:spPr>
          <a:xfrm>
            <a:off x="1396169" y="2912533"/>
            <a:ext cx="3514499"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74373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s-ES"/>
              <a:t>Haga clic para modificar el estilo de título del patrón</a:t>
            </a:r>
            <a:endParaRPr lang="en-US" dirty="0"/>
          </a:p>
        </p:txBody>
      </p:sp>
      <p:sp>
        <p:nvSpPr>
          <p:cNvPr id="17" name="Picture Placeholder 2"/>
          <p:cNvSpPr>
            <a:spLocks noGrp="1" noChangeAspect="1"/>
          </p:cNvSpPr>
          <p:nvPr>
            <p:ph type="pic" idx="1"/>
          </p:nvPr>
        </p:nvSpPr>
        <p:spPr>
          <a:xfrm>
            <a:off x="8094832"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0AB18D51-99D4-478B-87E1-A2B038CFB0BF}" type="datetimeFigureOut">
              <a:rPr lang="es-ES" smtClean="0"/>
              <a:t>08/11/2025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B9500B35-A3FF-4322-827A-002A59170DD2}" type="slidenum">
              <a:rPr lang="es-ES" smtClean="0"/>
              <a:t>‹Nº›</a:t>
            </a:fld>
            <a:endParaRPr lang="es-ES"/>
          </a:p>
        </p:txBody>
      </p:sp>
    </p:spTree>
    <p:extLst>
      <p:ext uri="{BB962C8B-B14F-4D97-AF65-F5344CB8AC3E}">
        <p14:creationId xmlns:p14="http://schemas.microsoft.com/office/powerpoint/2010/main" val="3580181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7" cy="566738"/>
          </a:xfrm>
        </p:spPr>
        <p:txBody>
          <a:bodyPr anchor="b">
            <a:normAutofit/>
          </a:bodyPr>
          <a:lstStyle>
            <a:lvl1pPr algn="ctr">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041427" y="1041401"/>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295401" y="5382153"/>
            <a:ext cx="9609667"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0AB18D51-99D4-478B-87E1-A2B038CFB0BF}" type="datetimeFigureOut">
              <a:rPr lang="es-ES" smtClean="0"/>
              <a:t>08/11/2025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B9500B35-A3FF-4322-827A-002A59170DD2}" type="slidenum">
              <a:rPr lang="es-ES" smtClean="0"/>
              <a:t>‹Nº›</a:t>
            </a:fld>
            <a:endParaRPr lang="es-ES"/>
          </a:p>
        </p:txBody>
      </p:sp>
    </p:spTree>
    <p:extLst>
      <p:ext uri="{BB962C8B-B14F-4D97-AF65-F5344CB8AC3E}">
        <p14:creationId xmlns:p14="http://schemas.microsoft.com/office/powerpoint/2010/main" val="2557961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303869" y="982132"/>
            <a:ext cx="9592732" cy="2954868"/>
          </a:xfrm>
        </p:spPr>
        <p:txBody>
          <a:bodyPr anchor="ctr">
            <a:normAutofit/>
          </a:bodyPr>
          <a:lstStyle>
            <a:lvl1pPr algn="ctr">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303869" y="4343401"/>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0AB18D51-99D4-478B-87E1-A2B038CFB0BF}" type="datetimeFigureOut">
              <a:rPr lang="es-ES" smtClean="0"/>
              <a:t>08/11/2025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B9500B35-A3FF-4322-827A-002A59170DD2}" type="slidenum">
              <a:rPr lang="es-ES" smtClean="0"/>
              <a:t>‹Nº›</a:t>
            </a:fld>
            <a:endParaRPr lang="es-ES"/>
          </a:p>
        </p:txBody>
      </p:sp>
      <p:cxnSp>
        <p:nvCxnSpPr>
          <p:cNvPr id="15" name="Straight Connector 14"/>
          <p:cNvCxnSpPr/>
          <p:nvPr/>
        </p:nvCxnSpPr>
        <p:spPr>
          <a:xfrm>
            <a:off x="1396169" y="4140199"/>
            <a:ext cx="9407299"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34975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4" y="982132"/>
            <a:ext cx="9296399" cy="2370668"/>
          </a:xfrm>
        </p:spPr>
        <p:txBody>
          <a:bodyPr anchor="ctr">
            <a:normAutofit/>
          </a:bodyPr>
          <a:lstStyle>
            <a:lvl1pPr algn="ctr">
              <a:defRPr sz="3200" b="0" cap="none">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674812" y="3352800"/>
            <a:ext cx="8839203"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1295401" y="4343401"/>
            <a:ext cx="9609667"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0AB18D51-99D4-478B-87E1-A2B038CFB0BF}" type="datetimeFigureOut">
              <a:rPr lang="es-ES" smtClean="0"/>
              <a:t>08/11/2025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B9500B35-A3FF-4322-827A-002A59170DD2}" type="slidenum">
              <a:rPr lang="es-ES" smtClean="0"/>
              <a:t>‹Nº›</a:t>
            </a:fld>
            <a:endParaRPr lang="es-E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9"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61557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295403" y="3308581"/>
            <a:ext cx="9609668" cy="1468800"/>
          </a:xfrm>
        </p:spPr>
        <p:txBody>
          <a:bodyPr anchor="b">
            <a:normAutofit/>
          </a:bodyPr>
          <a:lstStyle>
            <a:lvl1pPr algn="l">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2"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0AB18D51-99D4-478B-87E1-A2B038CFB0BF}" type="datetimeFigureOut">
              <a:rPr lang="es-ES" smtClean="0"/>
              <a:t>08/11/2025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B9500B35-A3FF-4322-827A-002A59170DD2}" type="slidenum">
              <a:rPr lang="es-ES" smtClean="0"/>
              <a:t>‹Nº›</a:t>
            </a:fld>
            <a:endParaRPr lang="es-ES"/>
          </a:p>
        </p:txBody>
      </p:sp>
    </p:spTree>
    <p:extLst>
      <p:ext uri="{BB962C8B-B14F-4D97-AF65-F5344CB8AC3E}">
        <p14:creationId xmlns:p14="http://schemas.microsoft.com/office/powerpoint/2010/main" val="8299862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446214" y="982132"/>
            <a:ext cx="9296399" cy="2243668"/>
          </a:xfrm>
        </p:spPr>
        <p:txBody>
          <a:bodyPr anchor="ctr">
            <a:normAutofit/>
          </a:bodyPr>
          <a:lstStyle>
            <a:lvl1pPr algn="ctr">
              <a:defRPr sz="3200" b="0" cap="none">
                <a:solidFill>
                  <a:schemeClr val="tx1"/>
                </a:solidFill>
              </a:defRPr>
            </a:lvl1pPr>
          </a:lstStyle>
          <a:p>
            <a:r>
              <a:rPr lang="es-ES"/>
              <a:t>Haga clic para modificar el estilo de título del patrón</a:t>
            </a:r>
            <a:endParaRPr lang="en-US" dirty="0"/>
          </a:p>
        </p:txBody>
      </p:sp>
      <p:sp>
        <p:nvSpPr>
          <p:cNvPr id="23" name="Text Placeholder 2"/>
          <p:cNvSpPr>
            <a:spLocks noGrp="1"/>
          </p:cNvSpPr>
          <p:nvPr>
            <p:ph type="body" idx="13"/>
          </p:nvPr>
        </p:nvSpPr>
        <p:spPr>
          <a:xfrm>
            <a:off x="1295402"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3" name="Text Placeholder 2"/>
          <p:cNvSpPr>
            <a:spLocks noGrp="1"/>
          </p:cNvSpPr>
          <p:nvPr>
            <p:ph type="body" idx="1"/>
          </p:nvPr>
        </p:nvSpPr>
        <p:spPr>
          <a:xfrm>
            <a:off x="1295402"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0AB18D51-99D4-478B-87E1-A2B038CFB0BF}" type="datetimeFigureOut">
              <a:rPr lang="es-ES" smtClean="0"/>
              <a:t>08/11/2025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B9500B35-A3FF-4322-827A-002A59170DD2}" type="slidenum">
              <a:rPr lang="es-ES" smtClean="0"/>
              <a:t>‹Nº›</a:t>
            </a:fld>
            <a:endParaRPr lang="es-E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9"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98152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7" cy="2243668"/>
          </a:xfrm>
        </p:spPr>
        <p:txBody>
          <a:bodyPr vert="horz" lIns="91440" tIns="45720" rIns="91440" bIns="45720" rtlCol="0" anchor="ctr">
            <a:normAutofit/>
          </a:bodyPr>
          <a:lstStyle>
            <a:lvl1pPr>
              <a:defRPr lang="en-US" b="0" dirty="0"/>
            </a:lvl1pPr>
          </a:lstStyle>
          <a:p>
            <a:pPr marL="0" lvl="0"/>
            <a:r>
              <a:rPr lang="es-ES"/>
              <a:t>Haga clic para modificar el estilo de título del patrón</a:t>
            </a:r>
            <a:endParaRPr lang="en-US" dirty="0"/>
          </a:p>
        </p:txBody>
      </p:sp>
      <p:sp>
        <p:nvSpPr>
          <p:cNvPr id="20" name="Text Placeholder 2"/>
          <p:cNvSpPr>
            <a:spLocks noGrp="1"/>
          </p:cNvSpPr>
          <p:nvPr>
            <p:ph type="body" idx="13"/>
          </p:nvPr>
        </p:nvSpPr>
        <p:spPr>
          <a:xfrm>
            <a:off x="1295402"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3" name="Text Placeholder 2"/>
          <p:cNvSpPr>
            <a:spLocks noGrp="1"/>
          </p:cNvSpPr>
          <p:nvPr>
            <p:ph type="body" idx="1"/>
          </p:nvPr>
        </p:nvSpPr>
        <p:spPr>
          <a:xfrm>
            <a:off x="1295401" y="4470401"/>
            <a:ext cx="9609671"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0AB18D51-99D4-478B-87E1-A2B038CFB0BF}" type="datetimeFigureOut">
              <a:rPr lang="es-ES" smtClean="0"/>
              <a:t>08/11/2025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B9500B35-A3FF-4322-827A-002A59170DD2}" type="slidenum">
              <a:rPr lang="es-ES" smtClean="0"/>
              <a:t>‹Nº›</a:t>
            </a:fld>
            <a:endParaRPr lang="es-ES"/>
          </a:p>
        </p:txBody>
      </p:sp>
      <p:cxnSp>
        <p:nvCxnSpPr>
          <p:cNvPr id="15" name="Straight Connector 14"/>
          <p:cNvCxnSpPr/>
          <p:nvPr/>
        </p:nvCxnSpPr>
        <p:spPr>
          <a:xfrm>
            <a:off x="1396169" y="3429000"/>
            <a:ext cx="9407299"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202155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AB18D51-99D4-478B-87E1-A2B038CFB0BF}" type="datetimeFigureOut">
              <a:rPr lang="es-ES" smtClean="0"/>
              <a:t>08/11/2025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B9500B35-A3FF-4322-827A-002A59170DD2}" type="slidenum">
              <a:rPr lang="es-ES" smtClean="0"/>
              <a:t>‹Nº›</a:t>
            </a:fld>
            <a:endParaRPr lang="es-ES"/>
          </a:p>
        </p:txBody>
      </p:sp>
      <p:cxnSp>
        <p:nvCxnSpPr>
          <p:cNvPr id="14" name="Straight Connector 13"/>
          <p:cNvCxnSpPr/>
          <p:nvPr/>
        </p:nvCxnSpPr>
        <p:spPr>
          <a:xfrm>
            <a:off x="1396169" y="2421466"/>
            <a:ext cx="9407299"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52927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8" y="982133"/>
            <a:ext cx="1890895" cy="489373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295400" y="982132"/>
            <a:ext cx="7433025" cy="4893734"/>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AB18D51-99D4-478B-87E1-A2B038CFB0BF}" type="datetimeFigureOut">
              <a:rPr lang="es-ES" smtClean="0"/>
              <a:t>08/11/2025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B9500B35-A3FF-4322-827A-002A59170DD2}" type="slidenum">
              <a:rPr lang="es-ES" smtClean="0"/>
              <a:t>‹Nº›</a:t>
            </a:fld>
            <a:endParaRPr lang="es-ES"/>
          </a:p>
        </p:txBody>
      </p:sp>
      <p:cxnSp>
        <p:nvCxnSpPr>
          <p:cNvPr id="14" name="Straight Connector 13"/>
          <p:cNvCxnSpPr/>
          <p:nvPr/>
        </p:nvCxnSpPr>
        <p:spPr>
          <a:xfrm>
            <a:off x="8863891"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16959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3"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s-ES"/>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3" y="982134"/>
            <a:ext cx="9601196" cy="1303867"/>
          </a:xfrm>
          <a:prstGeom prst="rect">
            <a:avLst/>
          </a:prstGeom>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2" y="2556932"/>
            <a:ext cx="9601196" cy="3318936"/>
          </a:xfrm>
          <a:prstGeom prst="rect">
            <a:avLst/>
          </a:prstGeom>
        </p:spPr>
        <p:txBody>
          <a:bodyPr vert="horz" lIns="91440" tIns="45720" rIns="91440" bIns="45720" rtlCol="0"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AB18D51-99D4-478B-87E1-A2B038CFB0BF}" type="datetimeFigureOut">
              <a:rPr lang="es-ES" smtClean="0"/>
              <a:t>08/11/2025</a:t>
            </a:fld>
            <a:endParaRPr lang="es-ES"/>
          </a:p>
        </p:txBody>
      </p:sp>
      <p:sp>
        <p:nvSpPr>
          <p:cNvPr id="5" name="Footer Placeholder 4"/>
          <p:cNvSpPr>
            <a:spLocks noGrp="1"/>
          </p:cNvSpPr>
          <p:nvPr>
            <p:ph type="ftr" sz="quarter" idx="3"/>
          </p:nvPr>
        </p:nvSpPr>
        <p:spPr>
          <a:xfrm>
            <a:off x="1295402"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s-ES"/>
          </a:p>
        </p:txBody>
      </p:sp>
      <p:sp>
        <p:nvSpPr>
          <p:cNvPr id="6" name="Slide Number Placeholder 5"/>
          <p:cNvSpPr>
            <a:spLocks noGrp="1"/>
          </p:cNvSpPr>
          <p:nvPr>
            <p:ph type="sldNum" sz="quarter" idx="4"/>
          </p:nvPr>
        </p:nvSpPr>
        <p:spPr>
          <a:xfrm>
            <a:off x="10353902"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9500B35-A3FF-4322-827A-002A59170DD2}" type="slidenum">
              <a:rPr lang="es-ES" smtClean="0"/>
              <a:t>‹Nº›</a:t>
            </a:fld>
            <a:endParaRPr lang="es-ES"/>
          </a:p>
        </p:txBody>
      </p:sp>
    </p:spTree>
    <p:extLst>
      <p:ext uri="{BB962C8B-B14F-4D97-AF65-F5344CB8AC3E}">
        <p14:creationId xmlns:p14="http://schemas.microsoft.com/office/powerpoint/2010/main" val="575130857"/>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FC43140-15EB-338D-6DCD-6E8306C4C8CD}"/>
              </a:ext>
            </a:extLst>
          </p:cNvPr>
          <p:cNvSpPr txBox="1"/>
          <p:nvPr/>
        </p:nvSpPr>
        <p:spPr>
          <a:xfrm>
            <a:off x="875697" y="1908629"/>
            <a:ext cx="10755086" cy="3970318"/>
          </a:xfrm>
          <a:prstGeom prst="rect">
            <a:avLst/>
          </a:prstGeom>
          <a:noFill/>
        </p:spPr>
        <p:txBody>
          <a:bodyPr wrap="square" rtlCol="0">
            <a:spAutoFit/>
          </a:bodyPr>
          <a:lstStyle/>
          <a:p>
            <a:pPr algn="ctr"/>
            <a:r>
              <a:rPr lang="es-CO" sz="5400" dirty="0"/>
              <a:t>PASADO CONTINUO</a:t>
            </a:r>
          </a:p>
          <a:p>
            <a:pPr algn="ctr"/>
            <a:r>
              <a:rPr lang="es-CO" sz="5400" dirty="0"/>
              <a:t>(PAST CONTINUOUS TENSE)</a:t>
            </a:r>
          </a:p>
          <a:p>
            <a:pPr algn="ctr"/>
            <a:r>
              <a:rPr lang="es-CO" sz="3600" dirty="0"/>
              <a:t>Presentado por: Marien Tamara Segura </a:t>
            </a:r>
            <a:r>
              <a:rPr lang="es-CO" sz="3600" dirty="0" err="1"/>
              <a:t>Carvaja</a:t>
            </a:r>
            <a:r>
              <a:rPr lang="es-ES" sz="3600" dirty="0"/>
              <a:t>l</a:t>
            </a:r>
          </a:p>
          <a:p>
            <a:pPr algn="ctr"/>
            <a:r>
              <a:rPr lang="es-ES" sz="3600" dirty="0"/>
              <a:t>Entregado a: Marcos Angulo</a:t>
            </a:r>
          </a:p>
          <a:p>
            <a:pPr algn="ctr"/>
            <a:r>
              <a:rPr lang="es-ES" sz="3600" dirty="0"/>
              <a:t>Grado: 10-2</a:t>
            </a:r>
          </a:p>
          <a:p>
            <a:pPr algn="ctr"/>
            <a:r>
              <a:rPr lang="es-ES" sz="3600" dirty="0"/>
              <a:t>Año: 2025</a:t>
            </a:r>
            <a:endParaRPr lang="es-CO" sz="3600" dirty="0"/>
          </a:p>
        </p:txBody>
      </p:sp>
    </p:spTree>
    <p:extLst>
      <p:ext uri="{BB962C8B-B14F-4D97-AF65-F5344CB8AC3E}">
        <p14:creationId xmlns:p14="http://schemas.microsoft.com/office/powerpoint/2010/main" val="21471322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00B0272-75E2-D4F9-4831-010380C14C87}"/>
              </a:ext>
            </a:extLst>
          </p:cNvPr>
          <p:cNvSpPr txBox="1"/>
          <p:nvPr/>
        </p:nvSpPr>
        <p:spPr>
          <a:xfrm>
            <a:off x="957943" y="1045028"/>
            <a:ext cx="10265228" cy="5355312"/>
          </a:xfrm>
          <a:prstGeom prst="rect">
            <a:avLst/>
          </a:prstGeom>
          <a:noFill/>
        </p:spPr>
        <p:txBody>
          <a:bodyPr wrap="square" rtlCol="0">
            <a:spAutoFit/>
          </a:bodyPr>
          <a:lstStyle/>
          <a:p>
            <a:r>
              <a:rPr lang="es-CO" b="1" dirty="0"/>
              <a:t>Tabla De Contenido</a:t>
            </a:r>
          </a:p>
          <a:p>
            <a:pPr marL="342900" indent="-342900">
              <a:buFont typeface="Arial" panose="020B0604020202020204" pitchFamily="34" charset="0"/>
              <a:buChar char="•"/>
            </a:pPr>
            <a:r>
              <a:rPr lang="es-CO" dirty="0"/>
              <a:t>¿ Que es el pasado continuo?</a:t>
            </a:r>
          </a:p>
          <a:p>
            <a:pPr marL="342900" indent="-342900">
              <a:buFont typeface="Arial" panose="020B0604020202020204" pitchFamily="34" charset="0"/>
              <a:buChar char="•"/>
            </a:pPr>
            <a:r>
              <a:rPr lang="es-CO" dirty="0"/>
              <a:t>Estructura afirmativa</a:t>
            </a:r>
          </a:p>
          <a:p>
            <a:pPr marL="342900" indent="-342900">
              <a:buFont typeface="Arial" panose="020B0604020202020204" pitchFamily="34" charset="0"/>
              <a:buChar char="•"/>
            </a:pPr>
            <a:r>
              <a:rPr lang="es-CO" dirty="0"/>
              <a:t>Ejemplos</a:t>
            </a:r>
          </a:p>
          <a:p>
            <a:pPr marL="342900" indent="-342900">
              <a:buFont typeface="Arial" panose="020B0604020202020204" pitchFamily="34" charset="0"/>
              <a:buChar char="•"/>
            </a:pPr>
            <a:r>
              <a:rPr lang="es-ES" dirty="0"/>
              <a:t>Estructura Negativa</a:t>
            </a:r>
          </a:p>
          <a:p>
            <a:pPr marL="342900" indent="-342900">
              <a:buFont typeface="Arial" panose="020B0604020202020204" pitchFamily="34" charset="0"/>
              <a:buChar char="•"/>
            </a:pPr>
            <a:r>
              <a:rPr lang="es-ES" dirty="0"/>
              <a:t>Ejemplos</a:t>
            </a:r>
          </a:p>
          <a:p>
            <a:pPr marL="342900" indent="-342900">
              <a:buFont typeface="Arial" panose="020B0604020202020204" pitchFamily="34" charset="0"/>
              <a:buChar char="•"/>
            </a:pPr>
            <a:r>
              <a:rPr lang="es-ES" dirty="0"/>
              <a:t>Estructura Interrogativa</a:t>
            </a:r>
          </a:p>
          <a:p>
            <a:pPr marL="342900" indent="-342900">
              <a:buFont typeface="Arial" panose="020B0604020202020204" pitchFamily="34" charset="0"/>
              <a:buChar char="•"/>
            </a:pPr>
            <a:r>
              <a:rPr lang="es-ES" dirty="0"/>
              <a:t>Ejemplos</a:t>
            </a:r>
          </a:p>
          <a:p>
            <a:pPr marL="342900" indent="-342900">
              <a:buFont typeface="Arial" panose="020B0604020202020204" pitchFamily="34" charset="0"/>
              <a:buChar char="•"/>
            </a:pPr>
            <a:r>
              <a:rPr lang="es-ES" dirty="0"/>
              <a:t>Pasado simple</a:t>
            </a:r>
          </a:p>
          <a:p>
            <a:pPr marL="342900" indent="-342900">
              <a:buFont typeface="Arial" panose="020B0604020202020204" pitchFamily="34" charset="0"/>
              <a:buChar char="•"/>
            </a:pPr>
            <a:r>
              <a:rPr lang="es-ES" dirty="0"/>
              <a:t>Verbos regulares/irregulares</a:t>
            </a:r>
          </a:p>
          <a:p>
            <a:pPr marL="342900" indent="-342900">
              <a:buFont typeface="Arial" panose="020B0604020202020204" pitchFamily="34" charset="0"/>
              <a:buChar char="•"/>
            </a:pPr>
            <a:r>
              <a:rPr lang="es-CO" dirty="0"/>
              <a:t>Estructura afirmativa</a:t>
            </a:r>
          </a:p>
          <a:p>
            <a:pPr marL="342900" indent="-342900">
              <a:buFont typeface="Arial" panose="020B0604020202020204" pitchFamily="34" charset="0"/>
              <a:buChar char="•"/>
            </a:pPr>
            <a:r>
              <a:rPr lang="es-CO" dirty="0"/>
              <a:t>Ejemplos</a:t>
            </a:r>
          </a:p>
          <a:p>
            <a:pPr marL="342900" indent="-342900">
              <a:buFont typeface="Arial" panose="020B0604020202020204" pitchFamily="34" charset="0"/>
              <a:buChar char="•"/>
            </a:pPr>
            <a:r>
              <a:rPr lang="es-ES" dirty="0"/>
              <a:t>Estructura Negativa</a:t>
            </a:r>
          </a:p>
          <a:p>
            <a:pPr marL="342900" indent="-342900">
              <a:buFont typeface="Arial" panose="020B0604020202020204" pitchFamily="34" charset="0"/>
              <a:buChar char="•"/>
            </a:pPr>
            <a:r>
              <a:rPr lang="es-ES" dirty="0"/>
              <a:t>Ejemplos</a:t>
            </a:r>
          </a:p>
          <a:p>
            <a:pPr marL="342900" indent="-342900">
              <a:buFont typeface="Arial" panose="020B0604020202020204" pitchFamily="34" charset="0"/>
              <a:buChar char="•"/>
            </a:pPr>
            <a:r>
              <a:rPr lang="es-ES" dirty="0"/>
              <a:t>Estructura Interrogativa</a:t>
            </a:r>
          </a:p>
          <a:p>
            <a:pPr marL="342900" indent="-342900">
              <a:buFont typeface="Arial" panose="020B0604020202020204" pitchFamily="34" charset="0"/>
              <a:buChar char="•"/>
            </a:pPr>
            <a:r>
              <a:rPr lang="es-ES" dirty="0"/>
              <a:t>Ejemplos</a:t>
            </a:r>
          </a:p>
          <a:p>
            <a:pPr marL="342900" indent="-342900">
              <a:buFont typeface="Arial" panose="020B0604020202020204" pitchFamily="34" charset="0"/>
              <a:buChar char="•"/>
            </a:pPr>
            <a:endParaRPr lang="es-ES" dirty="0"/>
          </a:p>
          <a:p>
            <a:pPr marL="342900" indent="-342900">
              <a:buFont typeface="Arial" panose="020B0604020202020204" pitchFamily="34" charset="0"/>
              <a:buChar char="•"/>
            </a:pPr>
            <a:endParaRPr lang="es-ES" dirty="0"/>
          </a:p>
          <a:p>
            <a:pPr marL="800100" lvl="1" indent="-342900">
              <a:buFont typeface="Arial" panose="020B0604020202020204" pitchFamily="34" charset="0"/>
              <a:buChar char="•"/>
            </a:pPr>
            <a:endParaRPr lang="es-ES" dirty="0"/>
          </a:p>
        </p:txBody>
      </p:sp>
    </p:spTree>
    <p:extLst>
      <p:ext uri="{BB962C8B-B14F-4D97-AF65-F5344CB8AC3E}">
        <p14:creationId xmlns:p14="http://schemas.microsoft.com/office/powerpoint/2010/main" val="40557494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DD327D7-037A-9E7E-AF92-2799DBF5B6B4}"/>
              </a:ext>
            </a:extLst>
          </p:cNvPr>
          <p:cNvSpPr txBox="1"/>
          <p:nvPr/>
        </p:nvSpPr>
        <p:spPr>
          <a:xfrm>
            <a:off x="881743" y="973667"/>
            <a:ext cx="10428514" cy="1754326"/>
          </a:xfrm>
          <a:prstGeom prst="rect">
            <a:avLst/>
          </a:prstGeom>
          <a:noFill/>
        </p:spPr>
        <p:txBody>
          <a:bodyPr wrap="square" rtlCol="0">
            <a:spAutoFit/>
          </a:bodyPr>
          <a:lstStyle/>
          <a:p>
            <a:pPr algn="ctr"/>
            <a:r>
              <a:rPr lang="es-CO" b="1" dirty="0"/>
              <a:t>¿Qué es el pasado continuo ?</a:t>
            </a:r>
          </a:p>
          <a:p>
            <a:pPr algn="just"/>
            <a:r>
              <a:rPr lang="es-ES" dirty="0"/>
              <a:t>El Pasado Continuo (Past Continuous Tense) se utiliza para describir acciones que estaban en progreso o desarrollándose en un momento específico del pasado. Se enfoca en la duración de la acción en ese momento, no en si se completo. En español, se forma con el verbo Estar en pasado (estaba, estabas, etc.) más el gerundio</a:t>
            </a:r>
          </a:p>
          <a:p>
            <a:pPr algn="just"/>
            <a:r>
              <a:rPr lang="es-ES" dirty="0"/>
              <a:t> (-ando o -iendo).</a:t>
            </a:r>
            <a:r>
              <a:rPr lang="es-CO" dirty="0"/>
              <a:t> </a:t>
            </a:r>
          </a:p>
          <a:p>
            <a:pPr algn="just"/>
            <a:r>
              <a:rPr lang="es-ES" dirty="0"/>
              <a:t>Ejemplo: "I was studying at 10 PM last night"  Yo estaba estudiando a las 10 PM anoche</a:t>
            </a:r>
          </a:p>
        </p:txBody>
      </p:sp>
    </p:spTree>
    <p:extLst>
      <p:ext uri="{BB962C8B-B14F-4D97-AF65-F5344CB8AC3E}">
        <p14:creationId xmlns:p14="http://schemas.microsoft.com/office/powerpoint/2010/main" val="407274053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A3F85B2-1720-801A-CD78-4632D5944390}"/>
              </a:ext>
            </a:extLst>
          </p:cNvPr>
          <p:cNvSpPr txBox="1"/>
          <p:nvPr/>
        </p:nvSpPr>
        <p:spPr>
          <a:xfrm>
            <a:off x="1023257" y="1012371"/>
            <a:ext cx="10199914" cy="3139321"/>
          </a:xfrm>
          <a:prstGeom prst="rect">
            <a:avLst/>
          </a:prstGeom>
          <a:noFill/>
        </p:spPr>
        <p:txBody>
          <a:bodyPr wrap="square" rtlCol="0">
            <a:spAutoFit/>
          </a:bodyPr>
          <a:lstStyle/>
          <a:p>
            <a:pPr algn="ctr"/>
            <a:r>
              <a:rPr lang="es-CO" b="1" dirty="0"/>
              <a:t>Estructura Afirmativa Y Ejemplos</a:t>
            </a:r>
          </a:p>
          <a:p>
            <a:pPr algn="ctr"/>
            <a:r>
              <a:rPr lang="es-CO" dirty="0"/>
              <a:t> Fórmula General: Sujeto (S) + </a:t>
            </a:r>
            <a:r>
              <a:rPr lang="es-CO" dirty="0" err="1"/>
              <a:t>Was</a:t>
            </a:r>
            <a:r>
              <a:rPr lang="es-CO" dirty="0"/>
              <a:t>/</a:t>
            </a:r>
            <a:r>
              <a:rPr lang="es-CO" dirty="0" err="1"/>
              <a:t>Were</a:t>
            </a:r>
            <a:r>
              <a:rPr lang="es-CO" dirty="0"/>
              <a:t> + Verbo + -</a:t>
            </a:r>
            <a:r>
              <a:rPr lang="es-CO" dirty="0" err="1"/>
              <a:t>ing</a:t>
            </a:r>
            <a:r>
              <a:rPr lang="es-CO" dirty="0"/>
              <a:t> + Complemento (C).</a:t>
            </a:r>
          </a:p>
          <a:p>
            <a:r>
              <a:rPr lang="es-CO" dirty="0"/>
              <a:t> Conjugación del Auxiliar </a:t>
            </a:r>
            <a:r>
              <a:rPr lang="es-CO" dirty="0" err="1"/>
              <a:t>To</a:t>
            </a:r>
            <a:r>
              <a:rPr lang="es-CO" dirty="0"/>
              <a:t> Be en Pasado:    I, He, </a:t>
            </a:r>
            <a:r>
              <a:rPr lang="es-CO" dirty="0" err="1"/>
              <a:t>She</a:t>
            </a:r>
            <a:r>
              <a:rPr lang="es-CO" dirty="0"/>
              <a:t>, </a:t>
            </a:r>
            <a:r>
              <a:rPr lang="es-CO" dirty="0" err="1"/>
              <a:t>It</a:t>
            </a:r>
            <a:r>
              <a:rPr lang="es-CO" dirty="0"/>
              <a:t> /</a:t>
            </a:r>
            <a:r>
              <a:rPr lang="es-CO" b="1" dirty="0" err="1"/>
              <a:t>was</a:t>
            </a:r>
            <a:r>
              <a:rPr lang="es-CO" dirty="0"/>
              <a:t>    </a:t>
            </a:r>
          </a:p>
          <a:p>
            <a:r>
              <a:rPr lang="es-CO" dirty="0"/>
              <a:t>  </a:t>
            </a:r>
            <a:r>
              <a:rPr lang="es-CO" dirty="0" err="1"/>
              <a:t>You</a:t>
            </a:r>
            <a:r>
              <a:rPr lang="es-CO" dirty="0"/>
              <a:t>, </a:t>
            </a:r>
            <a:r>
              <a:rPr lang="es-CO" dirty="0" err="1"/>
              <a:t>We</a:t>
            </a:r>
            <a:r>
              <a:rPr lang="es-CO" dirty="0"/>
              <a:t>, </a:t>
            </a:r>
            <a:r>
              <a:rPr lang="es-CO" dirty="0" err="1"/>
              <a:t>They</a:t>
            </a:r>
            <a:r>
              <a:rPr lang="es-CO" dirty="0"/>
              <a:t> /</a:t>
            </a:r>
            <a:r>
              <a:rPr lang="es-CO" dirty="0" err="1"/>
              <a:t>were</a:t>
            </a:r>
            <a:r>
              <a:rPr lang="es-CO" dirty="0"/>
              <a:t>  </a:t>
            </a:r>
          </a:p>
          <a:p>
            <a:r>
              <a:rPr lang="es-CO" dirty="0"/>
              <a:t>  Ejemplo: </a:t>
            </a:r>
            <a:r>
              <a:rPr lang="es-CO" dirty="0" err="1"/>
              <a:t>She</a:t>
            </a:r>
            <a:r>
              <a:rPr lang="es-CO" dirty="0"/>
              <a:t> </a:t>
            </a:r>
            <a:r>
              <a:rPr lang="es-CO" b="1" dirty="0" err="1"/>
              <a:t>was</a:t>
            </a:r>
            <a:r>
              <a:rPr lang="es-CO" dirty="0"/>
              <a:t> </a:t>
            </a:r>
            <a:r>
              <a:rPr lang="es-CO" dirty="0" err="1"/>
              <a:t>watching</a:t>
            </a:r>
            <a:r>
              <a:rPr lang="es-CO" dirty="0"/>
              <a:t> </a:t>
            </a:r>
            <a:r>
              <a:rPr lang="es-CO" dirty="0" err="1"/>
              <a:t>television</a:t>
            </a:r>
            <a:r>
              <a:rPr lang="es-CO" dirty="0"/>
              <a:t>. </a:t>
            </a:r>
          </a:p>
          <a:p>
            <a:r>
              <a:rPr lang="es-CO" dirty="0"/>
              <a:t>  Traducción: Ella estaba viendo televisión.</a:t>
            </a:r>
          </a:p>
          <a:p>
            <a:r>
              <a:rPr lang="es-CO" dirty="0"/>
              <a:t>  Sujeto Inglés (Auxiliar + V-</a:t>
            </a:r>
            <a:r>
              <a:rPr lang="es-CO" dirty="0" err="1"/>
              <a:t>ing</a:t>
            </a:r>
            <a:r>
              <a:rPr lang="es-CO" dirty="0"/>
              <a:t>). Español (Auxiliar + Gerundio/ando-</a:t>
            </a:r>
            <a:r>
              <a:rPr lang="es-CO" dirty="0" err="1"/>
              <a:t>endo</a:t>
            </a:r>
            <a:r>
              <a:rPr lang="es-CO" dirty="0"/>
              <a:t>) </a:t>
            </a:r>
          </a:p>
          <a:p>
            <a:r>
              <a:rPr lang="es-CO" dirty="0"/>
              <a:t>  Yo (I) | I </a:t>
            </a:r>
            <a:r>
              <a:rPr lang="es-CO" dirty="0" err="1"/>
              <a:t>was</a:t>
            </a:r>
            <a:r>
              <a:rPr lang="es-CO" dirty="0"/>
              <a:t> Reading. Yo estaba leyendo </a:t>
            </a:r>
          </a:p>
          <a:p>
            <a:r>
              <a:rPr lang="es-CO" dirty="0"/>
              <a:t>  Ellos (</a:t>
            </a:r>
            <a:r>
              <a:rPr lang="es-CO" dirty="0" err="1"/>
              <a:t>They</a:t>
            </a:r>
            <a:r>
              <a:rPr lang="es-CO" dirty="0"/>
              <a:t>) | </a:t>
            </a:r>
            <a:r>
              <a:rPr lang="es-CO" dirty="0" err="1"/>
              <a:t>They</a:t>
            </a:r>
            <a:r>
              <a:rPr lang="es-CO" dirty="0"/>
              <a:t> </a:t>
            </a:r>
            <a:r>
              <a:rPr lang="es-CO" dirty="0" err="1"/>
              <a:t>were</a:t>
            </a:r>
            <a:r>
              <a:rPr lang="es-CO" dirty="0"/>
              <a:t> </a:t>
            </a:r>
            <a:r>
              <a:rPr lang="es-CO" dirty="0" err="1"/>
              <a:t>playing</a:t>
            </a:r>
            <a:r>
              <a:rPr lang="es-CO" dirty="0"/>
              <a:t>  Ellos estaban jugando </a:t>
            </a:r>
          </a:p>
          <a:p>
            <a:r>
              <a:rPr lang="es-CO" dirty="0"/>
              <a:t>  Nosotros (</a:t>
            </a:r>
            <a:r>
              <a:rPr lang="es-CO" dirty="0" err="1"/>
              <a:t>We</a:t>
            </a:r>
            <a:r>
              <a:rPr lang="es-CO" dirty="0"/>
              <a:t>) | </a:t>
            </a:r>
            <a:r>
              <a:rPr lang="es-CO" dirty="0" err="1"/>
              <a:t>We</a:t>
            </a:r>
            <a:r>
              <a:rPr lang="es-CO" dirty="0"/>
              <a:t> </a:t>
            </a:r>
            <a:r>
              <a:rPr lang="es-CO" dirty="0" err="1"/>
              <a:t>were</a:t>
            </a:r>
            <a:r>
              <a:rPr lang="es-CO" dirty="0"/>
              <a:t> </a:t>
            </a:r>
            <a:r>
              <a:rPr lang="es-CO" dirty="0" err="1"/>
              <a:t>working</a:t>
            </a:r>
            <a:r>
              <a:rPr lang="es-CO" dirty="0"/>
              <a:t> | Nosotros estábamos trabajando </a:t>
            </a:r>
          </a:p>
          <a:p>
            <a:endParaRPr lang="es-ES" dirty="0"/>
          </a:p>
        </p:txBody>
      </p:sp>
    </p:spTree>
    <p:extLst>
      <p:ext uri="{BB962C8B-B14F-4D97-AF65-F5344CB8AC3E}">
        <p14:creationId xmlns:p14="http://schemas.microsoft.com/office/powerpoint/2010/main" val="29287522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805709D-9B57-8B25-1C20-BD237F428429}"/>
              </a:ext>
            </a:extLst>
          </p:cNvPr>
          <p:cNvSpPr txBox="1"/>
          <p:nvPr/>
        </p:nvSpPr>
        <p:spPr>
          <a:xfrm>
            <a:off x="1066800" y="881742"/>
            <a:ext cx="9884228" cy="3139321"/>
          </a:xfrm>
          <a:prstGeom prst="rect">
            <a:avLst/>
          </a:prstGeom>
          <a:noFill/>
        </p:spPr>
        <p:txBody>
          <a:bodyPr wrap="square" rtlCol="0">
            <a:spAutoFit/>
          </a:bodyPr>
          <a:lstStyle/>
          <a:p>
            <a:pPr algn="ctr"/>
            <a:r>
              <a:rPr lang="es-CO" b="1" dirty="0"/>
              <a:t>Estructura Negativa Y Ejemplos</a:t>
            </a:r>
          </a:p>
          <a:p>
            <a:pPr algn="ctr"/>
            <a:r>
              <a:rPr lang="es-CO" dirty="0"/>
              <a:t> Fórmula General: Sujeto (S) + </a:t>
            </a:r>
            <a:r>
              <a:rPr lang="es-CO" dirty="0" err="1"/>
              <a:t>Was</a:t>
            </a:r>
            <a:r>
              <a:rPr lang="es-CO" dirty="0"/>
              <a:t>/</a:t>
            </a:r>
            <a:r>
              <a:rPr lang="es-CO" dirty="0" err="1"/>
              <a:t>Were</a:t>
            </a:r>
            <a:r>
              <a:rPr lang="es-CO" dirty="0"/>
              <a:t> + </a:t>
            </a:r>
            <a:r>
              <a:rPr lang="es-CO" dirty="0" err="1"/>
              <a:t>Not+Verbo</a:t>
            </a:r>
            <a:r>
              <a:rPr lang="es-CO" dirty="0"/>
              <a:t> + </a:t>
            </a:r>
            <a:r>
              <a:rPr lang="es-CO" dirty="0" err="1"/>
              <a:t>ing</a:t>
            </a:r>
            <a:r>
              <a:rPr lang="es-CO" dirty="0"/>
              <a:t> + Complemento (C).</a:t>
            </a:r>
          </a:p>
          <a:p>
            <a:r>
              <a:rPr lang="es-CO" dirty="0"/>
              <a:t>Ejemplos:</a:t>
            </a:r>
          </a:p>
          <a:p>
            <a:pPr marL="342900" indent="-342900">
              <a:buAutoNum type="arabicPeriod"/>
            </a:pPr>
            <a:r>
              <a:rPr lang="es-CO" dirty="0" err="1"/>
              <a:t>She</a:t>
            </a:r>
            <a:r>
              <a:rPr lang="es-CO" dirty="0"/>
              <a:t> </a:t>
            </a:r>
            <a:r>
              <a:rPr lang="es-CO" dirty="0" err="1"/>
              <a:t>was</a:t>
            </a:r>
            <a:r>
              <a:rPr lang="es-CO" dirty="0"/>
              <a:t> </a:t>
            </a:r>
            <a:r>
              <a:rPr lang="es-CO" dirty="0" err="1"/>
              <a:t>reading</a:t>
            </a:r>
            <a:r>
              <a:rPr lang="es-CO" dirty="0"/>
              <a:t> a </a:t>
            </a:r>
            <a:r>
              <a:rPr lang="es-CO" dirty="0" err="1"/>
              <a:t>book</a:t>
            </a:r>
            <a:r>
              <a:rPr lang="es-CO" dirty="0"/>
              <a:t> </a:t>
            </a:r>
            <a:r>
              <a:rPr lang="es-CO" dirty="0" err="1"/>
              <a:t>by</a:t>
            </a:r>
            <a:r>
              <a:rPr lang="es-CO" dirty="0"/>
              <a:t> </a:t>
            </a:r>
            <a:r>
              <a:rPr lang="es-CO" dirty="0" err="1"/>
              <a:t>the</a:t>
            </a:r>
            <a:r>
              <a:rPr lang="es-CO" dirty="0"/>
              <a:t> </a:t>
            </a:r>
            <a:r>
              <a:rPr lang="es-CO" dirty="0" err="1"/>
              <a:t>window</a:t>
            </a:r>
            <a:r>
              <a:rPr lang="es-CO" dirty="0"/>
              <a:t>.</a:t>
            </a:r>
          </a:p>
          <a:p>
            <a:r>
              <a:rPr lang="es-ES" dirty="0"/>
              <a:t> Ella estaba leyendo un libro junto a la ventana.</a:t>
            </a:r>
          </a:p>
          <a:p>
            <a:r>
              <a:rPr lang="es-ES" dirty="0"/>
              <a:t>.</a:t>
            </a:r>
            <a:r>
              <a:rPr lang="es-CO" dirty="0"/>
              <a:t>2. </a:t>
            </a:r>
            <a:r>
              <a:rPr lang="es-CO" dirty="0" err="1"/>
              <a:t>We</a:t>
            </a:r>
            <a:r>
              <a:rPr lang="es-CO" dirty="0"/>
              <a:t> </a:t>
            </a:r>
            <a:r>
              <a:rPr lang="es-CO" dirty="0" err="1"/>
              <a:t>were</a:t>
            </a:r>
            <a:r>
              <a:rPr lang="es-CO" dirty="0"/>
              <a:t> </a:t>
            </a:r>
            <a:r>
              <a:rPr lang="es-CO" dirty="0" err="1"/>
              <a:t>waiting</a:t>
            </a:r>
            <a:r>
              <a:rPr lang="es-CO" dirty="0"/>
              <a:t> </a:t>
            </a:r>
            <a:r>
              <a:rPr lang="es-CO" dirty="0" err="1"/>
              <a:t>for</a:t>
            </a:r>
            <a:r>
              <a:rPr lang="es-CO" dirty="0"/>
              <a:t> </a:t>
            </a:r>
            <a:r>
              <a:rPr lang="es-CO" dirty="0" err="1"/>
              <a:t>the</a:t>
            </a:r>
            <a:r>
              <a:rPr lang="es-CO" dirty="0"/>
              <a:t> bus </a:t>
            </a:r>
            <a:r>
              <a:rPr lang="es-CO" dirty="0" err="1"/>
              <a:t>when</a:t>
            </a:r>
            <a:r>
              <a:rPr lang="es-CO" dirty="0"/>
              <a:t> </a:t>
            </a:r>
            <a:r>
              <a:rPr lang="es-CO" dirty="0" err="1"/>
              <a:t>it</a:t>
            </a:r>
            <a:r>
              <a:rPr lang="es-CO" dirty="0"/>
              <a:t> </a:t>
            </a:r>
            <a:r>
              <a:rPr lang="es-CO" dirty="0" err="1"/>
              <a:t>started</a:t>
            </a:r>
            <a:r>
              <a:rPr lang="es-CO" dirty="0"/>
              <a:t> </a:t>
            </a:r>
            <a:r>
              <a:rPr lang="es-CO" dirty="0" err="1"/>
              <a:t>raining</a:t>
            </a:r>
            <a:r>
              <a:rPr lang="es-CO" dirty="0"/>
              <a:t> </a:t>
            </a:r>
          </a:p>
          <a:p>
            <a:r>
              <a:rPr lang="es-ES" dirty="0"/>
              <a:t> Nosotros estábamos esperando el autobús cuando empezó a llover.</a:t>
            </a:r>
          </a:p>
          <a:p>
            <a:r>
              <a:rPr lang="es-CO" dirty="0"/>
              <a:t>3. </a:t>
            </a:r>
            <a:r>
              <a:rPr lang="es-CO" dirty="0" err="1"/>
              <a:t>They</a:t>
            </a:r>
            <a:r>
              <a:rPr lang="es-CO" dirty="0"/>
              <a:t> </a:t>
            </a:r>
            <a:r>
              <a:rPr lang="es-CO" dirty="0" err="1"/>
              <a:t>were</a:t>
            </a:r>
            <a:r>
              <a:rPr lang="es-CO" dirty="0"/>
              <a:t> </a:t>
            </a:r>
            <a:r>
              <a:rPr lang="es-CO" dirty="0" err="1"/>
              <a:t>playing</a:t>
            </a:r>
            <a:r>
              <a:rPr lang="es-CO" dirty="0"/>
              <a:t> soccer </a:t>
            </a:r>
            <a:r>
              <a:rPr lang="es-CO" dirty="0" err="1"/>
              <a:t>all</a:t>
            </a:r>
            <a:r>
              <a:rPr lang="es-CO" dirty="0"/>
              <a:t> </a:t>
            </a:r>
            <a:r>
              <a:rPr lang="es-CO" dirty="0" err="1"/>
              <a:t>afternoon</a:t>
            </a:r>
            <a:r>
              <a:rPr lang="es-CO" dirty="0"/>
              <a:t>.</a:t>
            </a:r>
          </a:p>
          <a:p>
            <a:r>
              <a:rPr lang="es-CO" dirty="0"/>
              <a:t> </a:t>
            </a:r>
            <a:r>
              <a:rPr lang="es-ES" dirty="0"/>
              <a:t> Ellos estaban jugando fútbol toda la tarde.</a:t>
            </a:r>
          </a:p>
          <a:p>
            <a:r>
              <a:rPr lang="es-CO" dirty="0"/>
              <a:t>4. I </a:t>
            </a:r>
            <a:r>
              <a:rPr lang="es-CO" dirty="0" err="1"/>
              <a:t>was</a:t>
            </a:r>
            <a:r>
              <a:rPr lang="es-CO" dirty="0"/>
              <a:t> </a:t>
            </a:r>
            <a:r>
              <a:rPr lang="es-CO" dirty="0" err="1"/>
              <a:t>studying</a:t>
            </a:r>
            <a:r>
              <a:rPr lang="es-CO" dirty="0"/>
              <a:t> </a:t>
            </a:r>
            <a:r>
              <a:rPr lang="es-CO" dirty="0" err="1"/>
              <a:t>chemistry</a:t>
            </a:r>
            <a:r>
              <a:rPr lang="es-CO" dirty="0"/>
              <a:t> </a:t>
            </a:r>
            <a:r>
              <a:rPr lang="es-CO" dirty="0" err="1"/>
              <a:t>when</a:t>
            </a:r>
            <a:r>
              <a:rPr lang="es-CO" dirty="0"/>
              <a:t> </a:t>
            </a:r>
            <a:r>
              <a:rPr lang="es-CO" dirty="0" err="1"/>
              <a:t>you</a:t>
            </a:r>
            <a:r>
              <a:rPr lang="es-CO" dirty="0"/>
              <a:t> </a:t>
            </a:r>
            <a:r>
              <a:rPr lang="es-CO" dirty="0" err="1"/>
              <a:t>sent</a:t>
            </a:r>
            <a:r>
              <a:rPr lang="es-CO" dirty="0"/>
              <a:t> </a:t>
            </a:r>
            <a:r>
              <a:rPr lang="es-CO" dirty="0" err="1"/>
              <a:t>the</a:t>
            </a:r>
            <a:r>
              <a:rPr lang="es-CO" dirty="0"/>
              <a:t> </a:t>
            </a:r>
            <a:r>
              <a:rPr lang="es-CO" dirty="0" err="1"/>
              <a:t>last</a:t>
            </a:r>
            <a:r>
              <a:rPr lang="es-CO" dirty="0"/>
              <a:t> </a:t>
            </a:r>
            <a:r>
              <a:rPr lang="es-CO" dirty="0" err="1"/>
              <a:t>message</a:t>
            </a:r>
            <a:r>
              <a:rPr lang="es-CO" dirty="0"/>
              <a:t>.</a:t>
            </a:r>
          </a:p>
          <a:p>
            <a:r>
              <a:rPr lang="es-ES" dirty="0"/>
              <a:t> Yo estaba estudiando química cuando enviaste el último mensaje.</a:t>
            </a:r>
          </a:p>
        </p:txBody>
      </p:sp>
    </p:spTree>
    <p:extLst>
      <p:ext uri="{BB962C8B-B14F-4D97-AF65-F5344CB8AC3E}">
        <p14:creationId xmlns:p14="http://schemas.microsoft.com/office/powerpoint/2010/main" val="4133313616"/>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E1E9360-F00F-380A-4036-420AF3D15397}"/>
              </a:ext>
            </a:extLst>
          </p:cNvPr>
          <p:cNvSpPr txBox="1"/>
          <p:nvPr/>
        </p:nvSpPr>
        <p:spPr>
          <a:xfrm>
            <a:off x="936171" y="979714"/>
            <a:ext cx="10297886" cy="2862322"/>
          </a:xfrm>
          <a:prstGeom prst="rect">
            <a:avLst/>
          </a:prstGeom>
          <a:noFill/>
        </p:spPr>
        <p:txBody>
          <a:bodyPr wrap="square" rtlCol="0">
            <a:spAutoFit/>
          </a:bodyPr>
          <a:lstStyle/>
          <a:p>
            <a:pPr algn="ctr"/>
            <a:r>
              <a:rPr lang="es-CO" b="1" dirty="0"/>
              <a:t>Estructura Interrogativa Y Ejemplos</a:t>
            </a:r>
            <a:endParaRPr lang="es-ES" b="1" dirty="0"/>
          </a:p>
          <a:p>
            <a:r>
              <a:rPr lang="es-ES" dirty="0"/>
              <a:t>La estructura de las oraciones interrogativas en Pasado Continuo (Past Continuous) invierte el orden del sujeto y el auxiliar (was/</a:t>
            </a:r>
            <a:r>
              <a:rPr lang="es-ES" dirty="0" err="1"/>
              <a:t>were</a:t>
            </a:r>
            <a:r>
              <a:rPr lang="es-ES" dirty="0"/>
              <a:t>) + Sujeto (S)  + Verbo + -ing + Complemento (C) </a:t>
            </a:r>
          </a:p>
          <a:p>
            <a:r>
              <a:rPr lang="es-ES" dirty="0"/>
              <a:t>Ejemplos:</a:t>
            </a:r>
          </a:p>
          <a:p>
            <a:pPr marL="342900" indent="-342900">
              <a:buAutoNum type="arabicPeriod"/>
            </a:pPr>
            <a:r>
              <a:rPr lang="es-ES" dirty="0"/>
              <a:t>Was </a:t>
            </a:r>
            <a:r>
              <a:rPr lang="es-ES" dirty="0" err="1"/>
              <a:t>she</a:t>
            </a:r>
            <a:r>
              <a:rPr lang="es-ES" dirty="0"/>
              <a:t> working? </a:t>
            </a:r>
          </a:p>
          <a:p>
            <a:r>
              <a:rPr lang="es-ES" dirty="0"/>
              <a:t>¿Estaba ella trabajando?</a:t>
            </a:r>
          </a:p>
          <a:p>
            <a:r>
              <a:rPr lang="es-ES" dirty="0"/>
              <a:t>2. </a:t>
            </a:r>
            <a:r>
              <a:rPr lang="es-ES" dirty="0" err="1"/>
              <a:t>Were</a:t>
            </a:r>
            <a:r>
              <a:rPr lang="es-ES" dirty="0"/>
              <a:t> </a:t>
            </a:r>
            <a:r>
              <a:rPr lang="es-ES" dirty="0" err="1"/>
              <a:t>they</a:t>
            </a:r>
            <a:r>
              <a:rPr lang="es-ES" dirty="0"/>
              <a:t> </a:t>
            </a:r>
            <a:r>
              <a:rPr lang="es-ES" dirty="0" err="1"/>
              <a:t>listening</a:t>
            </a:r>
            <a:r>
              <a:rPr lang="es-ES" dirty="0"/>
              <a:t>? </a:t>
            </a:r>
          </a:p>
          <a:p>
            <a:r>
              <a:rPr lang="es-ES" dirty="0"/>
              <a:t>¿Estaban ellos escuchando?</a:t>
            </a:r>
          </a:p>
          <a:p>
            <a:r>
              <a:rPr lang="es-ES" dirty="0"/>
              <a:t>3. Was </a:t>
            </a:r>
            <a:r>
              <a:rPr lang="es-ES" dirty="0" err="1"/>
              <a:t>she</a:t>
            </a:r>
            <a:r>
              <a:rPr lang="es-ES" dirty="0"/>
              <a:t> studying </a:t>
            </a:r>
            <a:r>
              <a:rPr lang="es-ES" dirty="0" err="1"/>
              <a:t>for</a:t>
            </a:r>
            <a:r>
              <a:rPr lang="es-ES" dirty="0"/>
              <a:t> </a:t>
            </a:r>
            <a:r>
              <a:rPr lang="es-ES" dirty="0" err="1"/>
              <a:t>the</a:t>
            </a:r>
            <a:r>
              <a:rPr lang="es-ES" dirty="0"/>
              <a:t> </a:t>
            </a:r>
            <a:r>
              <a:rPr lang="es-ES" dirty="0" err="1"/>
              <a:t>exam</a:t>
            </a:r>
            <a:r>
              <a:rPr lang="es-ES" dirty="0"/>
              <a:t>?</a:t>
            </a:r>
          </a:p>
          <a:p>
            <a:r>
              <a:rPr lang="es-ES" dirty="0"/>
              <a:t> ¿Estaba ella estudiando para el examen? </a:t>
            </a:r>
          </a:p>
        </p:txBody>
      </p:sp>
    </p:spTree>
    <p:extLst>
      <p:ext uri="{BB962C8B-B14F-4D97-AF65-F5344CB8AC3E}">
        <p14:creationId xmlns:p14="http://schemas.microsoft.com/office/powerpoint/2010/main" val="737326608"/>
      </p:ext>
    </p:extLst>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grpId="0" nodeType="clickEffect">
                                  <p:stCondLst>
                                    <p:cond delay="0"/>
                                  </p:stCondLst>
                                  <p:childTnLst>
                                    <p:animClr clrSpc="rgb" dir="cw">
                                      <p:cBhvr override="childStyle">
                                        <p:cTn id="6" dur="250" autoRev="1" fill="remove"/>
                                        <p:tgtEl>
                                          <p:spTgt spid="2"/>
                                        </p:tgtEl>
                                        <p:attrNameLst>
                                          <p:attrName>style.color</p:attrName>
                                        </p:attrNameLst>
                                      </p:cBhvr>
                                      <p:to>
                                        <a:schemeClr val="bg1"/>
                                      </p:to>
                                    </p:animClr>
                                    <p:animClr clrSpc="rgb" dir="cw">
                                      <p:cBhvr>
                                        <p:cTn id="7" dur="250" autoRev="1" fill="remove"/>
                                        <p:tgtEl>
                                          <p:spTgt spid="2"/>
                                        </p:tgtEl>
                                        <p:attrNameLst>
                                          <p:attrName>fillcolor</p:attrName>
                                        </p:attrNameLst>
                                      </p:cBhvr>
                                      <p:to>
                                        <a:schemeClr val="bg1"/>
                                      </p:to>
                                    </p:animClr>
                                    <p:set>
                                      <p:cBhvr>
                                        <p:cTn id="8" dur="250" autoRev="1" fill="remove"/>
                                        <p:tgtEl>
                                          <p:spTgt spid="2"/>
                                        </p:tgtEl>
                                        <p:attrNameLst>
                                          <p:attrName>fill.type</p:attrName>
                                        </p:attrNameLst>
                                      </p:cBhvr>
                                      <p:to>
                                        <p:strVal val="solid"/>
                                      </p:to>
                                    </p:set>
                                    <p:set>
                                      <p:cBhvr>
                                        <p:cTn id="9" dur="250" autoRev="1" fill="remove"/>
                                        <p:tgtEl>
                                          <p:spTgt spid="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0130503A-B3F4-475D-CCE9-6E9CC398858B}"/>
              </a:ext>
            </a:extLst>
          </p:cNvPr>
          <p:cNvSpPr txBox="1"/>
          <p:nvPr/>
        </p:nvSpPr>
        <p:spPr>
          <a:xfrm>
            <a:off x="2653391" y="2068286"/>
            <a:ext cx="7611837" cy="1938992"/>
          </a:xfrm>
          <a:prstGeom prst="rect">
            <a:avLst/>
          </a:prstGeom>
          <a:noFill/>
        </p:spPr>
        <p:txBody>
          <a:bodyPr wrap="square">
            <a:spAutoFit/>
          </a:bodyPr>
          <a:lstStyle/>
          <a:p>
            <a:pPr algn="ctr"/>
            <a:r>
              <a:rPr lang="es-CO" sz="6000" b="1" dirty="0"/>
              <a:t>PASADO SIMPLE</a:t>
            </a:r>
          </a:p>
          <a:p>
            <a:pPr algn="ctr"/>
            <a:r>
              <a:rPr lang="es-CO" sz="6000" b="1" dirty="0"/>
              <a:t>(SIMPLE PAST)</a:t>
            </a:r>
            <a:endParaRPr lang="es-ES" sz="6000" b="1" dirty="0"/>
          </a:p>
        </p:txBody>
      </p:sp>
    </p:spTree>
    <p:extLst>
      <p:ext uri="{BB962C8B-B14F-4D97-AF65-F5344CB8AC3E}">
        <p14:creationId xmlns:p14="http://schemas.microsoft.com/office/powerpoint/2010/main" val="4167939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grpId="0" nodeType="clickEffect">
                                  <p:stCondLst>
                                    <p:cond delay="0"/>
                                  </p:stCondLst>
                                  <p:childTnLst>
                                    <p:animRot by="120000">
                                      <p:cBhvr>
                                        <p:cTn id="6" dur="100" fill="hold">
                                          <p:stCondLst>
                                            <p:cond delay="0"/>
                                          </p:stCondLst>
                                        </p:cTn>
                                        <p:tgtEl>
                                          <p:spTgt spid="3"/>
                                        </p:tgtEl>
                                        <p:attrNameLst>
                                          <p:attrName>r</p:attrName>
                                        </p:attrNameLst>
                                      </p:cBhvr>
                                    </p:animRot>
                                    <p:animRot by="-240000">
                                      <p:cBhvr>
                                        <p:cTn id="7" dur="200" fill="hold">
                                          <p:stCondLst>
                                            <p:cond delay="200"/>
                                          </p:stCondLst>
                                        </p:cTn>
                                        <p:tgtEl>
                                          <p:spTgt spid="3"/>
                                        </p:tgtEl>
                                        <p:attrNameLst>
                                          <p:attrName>r</p:attrName>
                                        </p:attrNameLst>
                                      </p:cBhvr>
                                    </p:animRot>
                                    <p:animRot by="240000">
                                      <p:cBhvr>
                                        <p:cTn id="8" dur="200" fill="hold">
                                          <p:stCondLst>
                                            <p:cond delay="400"/>
                                          </p:stCondLst>
                                        </p:cTn>
                                        <p:tgtEl>
                                          <p:spTgt spid="3"/>
                                        </p:tgtEl>
                                        <p:attrNameLst>
                                          <p:attrName>r</p:attrName>
                                        </p:attrNameLst>
                                      </p:cBhvr>
                                    </p:animRot>
                                    <p:animRot by="-240000">
                                      <p:cBhvr>
                                        <p:cTn id="9" dur="200" fill="hold">
                                          <p:stCondLst>
                                            <p:cond delay="600"/>
                                          </p:stCondLst>
                                        </p:cTn>
                                        <p:tgtEl>
                                          <p:spTgt spid="3"/>
                                        </p:tgtEl>
                                        <p:attrNameLst>
                                          <p:attrName>r</p:attrName>
                                        </p:attrNameLst>
                                      </p:cBhvr>
                                    </p:animRot>
                                    <p:animRot by="120000">
                                      <p:cBhvr>
                                        <p:cTn id="10" dur="200" fill="hold">
                                          <p:stCondLst>
                                            <p:cond delay="800"/>
                                          </p:stCondLst>
                                        </p:cTn>
                                        <p:tgtEl>
                                          <p:spTgt spid="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51D740D-4D4D-538A-F3B0-DE2F7BA6E2A6}"/>
              </a:ext>
            </a:extLst>
          </p:cNvPr>
          <p:cNvSpPr txBox="1"/>
          <p:nvPr/>
        </p:nvSpPr>
        <p:spPr>
          <a:xfrm>
            <a:off x="666750" y="859971"/>
            <a:ext cx="10858500" cy="2585323"/>
          </a:xfrm>
          <a:prstGeom prst="rect">
            <a:avLst/>
          </a:prstGeom>
          <a:noFill/>
        </p:spPr>
        <p:txBody>
          <a:bodyPr wrap="square">
            <a:spAutoFit/>
          </a:bodyPr>
          <a:lstStyle/>
          <a:p>
            <a:pPr algn="ctr"/>
            <a:r>
              <a:rPr lang="es-CO" b="1" dirty="0"/>
              <a:t>¿Qué es el pasado simple?</a:t>
            </a:r>
          </a:p>
          <a:p>
            <a:r>
              <a:rPr lang="es-ES" dirty="0"/>
              <a:t>El Pasado Simple (Simple Past) en inglés se utiliza para describir acciones o situaciones que comenzaron y terminaron en un momento definido en el pasado. </a:t>
            </a:r>
          </a:p>
          <a:p>
            <a:r>
              <a:rPr lang="es-ES" b="1" dirty="0"/>
              <a:t>Formación Básica:</a:t>
            </a:r>
          </a:p>
          <a:p>
            <a:r>
              <a:rPr lang="es-ES" dirty="0"/>
              <a:t>   Verbos Regulares: Se forma añadiendo -</a:t>
            </a:r>
            <a:r>
              <a:rPr lang="es-ES" dirty="0" err="1"/>
              <a:t>ed</a:t>
            </a:r>
            <a:r>
              <a:rPr lang="es-ES" dirty="0"/>
              <a:t> al verbo base (</a:t>
            </a:r>
            <a:r>
              <a:rPr lang="es-ES" dirty="0" err="1"/>
              <a:t>ej</a:t>
            </a:r>
            <a:r>
              <a:rPr lang="es-ES" dirty="0"/>
              <a:t>: </a:t>
            </a:r>
            <a:r>
              <a:rPr lang="es-ES" dirty="0" err="1"/>
              <a:t>walk</a:t>
            </a:r>
            <a:r>
              <a:rPr lang="es-ES" dirty="0"/>
              <a:t> -&gt; </a:t>
            </a:r>
            <a:r>
              <a:rPr lang="es-ES" dirty="0" err="1"/>
              <a:t>walked</a:t>
            </a:r>
            <a:r>
              <a:rPr lang="es-ES" dirty="0"/>
              <a:t>).</a:t>
            </a:r>
          </a:p>
          <a:p>
            <a:r>
              <a:rPr lang="es-ES" dirty="0"/>
              <a:t>   Verbos Irregulares: Tienen formas únicas que deben memorizarse (</a:t>
            </a:r>
            <a:r>
              <a:rPr lang="es-ES" dirty="0" err="1"/>
              <a:t>ej</a:t>
            </a:r>
            <a:r>
              <a:rPr lang="es-ES" dirty="0"/>
              <a:t>: </a:t>
            </a:r>
            <a:r>
              <a:rPr lang="es-ES" dirty="0" err="1"/>
              <a:t>go</a:t>
            </a:r>
            <a:r>
              <a:rPr lang="es-ES" dirty="0"/>
              <a:t> -&gt; </a:t>
            </a:r>
            <a:r>
              <a:rPr lang="es-ES" dirty="0" err="1"/>
              <a:t>went</a:t>
            </a:r>
            <a:r>
              <a:rPr lang="es-ES" dirty="0"/>
              <a:t>, </a:t>
            </a:r>
            <a:r>
              <a:rPr lang="es-ES" dirty="0" err="1"/>
              <a:t>eat</a:t>
            </a:r>
            <a:r>
              <a:rPr lang="es-ES" dirty="0"/>
              <a:t> -&gt; ate).</a:t>
            </a:r>
          </a:p>
          <a:p>
            <a:r>
              <a:rPr lang="es-ES" dirty="0"/>
              <a:t>Ejemplo:</a:t>
            </a:r>
          </a:p>
          <a:p>
            <a:pPr marL="342900" indent="-342900">
              <a:buAutoNum type="arabicPeriod"/>
            </a:pPr>
            <a:r>
              <a:rPr lang="es-ES" dirty="0" err="1"/>
              <a:t>She</a:t>
            </a:r>
            <a:r>
              <a:rPr lang="es-ES" dirty="0"/>
              <a:t> </a:t>
            </a:r>
            <a:r>
              <a:rPr lang="es-ES" dirty="0" err="1"/>
              <a:t>visited</a:t>
            </a:r>
            <a:r>
              <a:rPr lang="es-ES" dirty="0"/>
              <a:t> Paris last </a:t>
            </a:r>
            <a:r>
              <a:rPr lang="es-ES" dirty="0" err="1"/>
              <a:t>year</a:t>
            </a:r>
            <a:r>
              <a:rPr lang="es-ES" dirty="0"/>
              <a:t>.</a:t>
            </a:r>
          </a:p>
          <a:p>
            <a:r>
              <a:rPr lang="es-ES" dirty="0"/>
              <a:t> Ella visitó París el año pasado.</a:t>
            </a:r>
            <a:endParaRPr lang="es-CO" dirty="0"/>
          </a:p>
        </p:txBody>
      </p:sp>
    </p:spTree>
    <p:extLst>
      <p:ext uri="{BB962C8B-B14F-4D97-AF65-F5344CB8AC3E}">
        <p14:creationId xmlns:p14="http://schemas.microsoft.com/office/powerpoint/2010/main" val="553755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FB912D61-FFAA-E92E-2157-26D4337BDF31}"/>
              </a:ext>
            </a:extLst>
          </p:cNvPr>
          <p:cNvSpPr txBox="1"/>
          <p:nvPr/>
        </p:nvSpPr>
        <p:spPr>
          <a:xfrm>
            <a:off x="813707" y="1061668"/>
            <a:ext cx="6112328" cy="2585323"/>
          </a:xfrm>
          <a:prstGeom prst="rect">
            <a:avLst/>
          </a:prstGeom>
          <a:noFill/>
        </p:spPr>
        <p:txBody>
          <a:bodyPr wrap="square">
            <a:spAutoFit/>
          </a:bodyPr>
          <a:lstStyle/>
          <a:p>
            <a:r>
              <a:rPr lang="es-CO" b="1" dirty="0"/>
              <a:t>Verbos </a:t>
            </a:r>
            <a:r>
              <a:rPr lang="es-CO" b="1" dirty="0" err="1"/>
              <a:t>regulres</a:t>
            </a:r>
            <a:r>
              <a:rPr lang="es-CO" b="1" dirty="0"/>
              <a:t>:</a:t>
            </a:r>
          </a:p>
          <a:p>
            <a:pPr marL="342900" indent="-342900">
              <a:buAutoNum type="arabicPeriod"/>
            </a:pPr>
            <a:r>
              <a:rPr lang="es-ES" dirty="0" err="1"/>
              <a:t>Accept</a:t>
            </a:r>
            <a:r>
              <a:rPr lang="es-ES" dirty="0"/>
              <a:t> | </a:t>
            </a:r>
            <a:r>
              <a:rPr lang="es-ES" dirty="0" err="1"/>
              <a:t>Accepted</a:t>
            </a:r>
            <a:r>
              <a:rPr lang="es-ES" dirty="0"/>
              <a:t> | Aceptar </a:t>
            </a:r>
          </a:p>
          <a:p>
            <a:pPr marL="342900" indent="-342900">
              <a:buFont typeface="+mj-lt"/>
              <a:buAutoNum type="arabicPeriod"/>
            </a:pPr>
            <a:r>
              <a:rPr lang="es-ES" dirty="0"/>
              <a:t>  </a:t>
            </a:r>
            <a:r>
              <a:rPr lang="es-ES" dirty="0" err="1"/>
              <a:t>Add</a:t>
            </a:r>
            <a:r>
              <a:rPr lang="es-ES" dirty="0"/>
              <a:t> | </a:t>
            </a:r>
            <a:r>
              <a:rPr lang="es-ES" dirty="0" err="1"/>
              <a:t>Added</a:t>
            </a:r>
            <a:r>
              <a:rPr lang="es-ES" dirty="0"/>
              <a:t> | Añadir || </a:t>
            </a:r>
          </a:p>
          <a:p>
            <a:pPr marL="342900" indent="-342900">
              <a:buFont typeface="+mj-lt"/>
              <a:buAutoNum type="arabicPeriod"/>
            </a:pPr>
            <a:r>
              <a:rPr lang="es-ES" dirty="0"/>
              <a:t>  </a:t>
            </a:r>
            <a:r>
              <a:rPr lang="es-ES" dirty="0" err="1"/>
              <a:t>Allow</a:t>
            </a:r>
            <a:r>
              <a:rPr lang="es-ES" dirty="0"/>
              <a:t> | </a:t>
            </a:r>
            <a:r>
              <a:rPr lang="es-ES" dirty="0" err="1"/>
              <a:t>Allowed</a:t>
            </a:r>
            <a:r>
              <a:rPr lang="es-ES" dirty="0"/>
              <a:t> | Permitir </a:t>
            </a:r>
          </a:p>
          <a:p>
            <a:pPr marL="342900" indent="-342900">
              <a:buFont typeface="+mj-lt"/>
              <a:buAutoNum type="arabicPeriod"/>
            </a:pPr>
            <a:r>
              <a:rPr lang="es-ES" dirty="0"/>
              <a:t>  </a:t>
            </a:r>
            <a:r>
              <a:rPr lang="es-ES" dirty="0" err="1"/>
              <a:t>Answer</a:t>
            </a:r>
            <a:r>
              <a:rPr lang="es-ES" dirty="0"/>
              <a:t> | </a:t>
            </a:r>
            <a:r>
              <a:rPr lang="es-ES" dirty="0" err="1"/>
              <a:t>Answered</a:t>
            </a:r>
            <a:r>
              <a:rPr lang="es-ES" dirty="0"/>
              <a:t> | Responder </a:t>
            </a:r>
          </a:p>
          <a:p>
            <a:pPr marL="342900" indent="-342900">
              <a:buFont typeface="+mj-lt"/>
              <a:buAutoNum type="arabicPeriod"/>
            </a:pPr>
            <a:r>
              <a:rPr lang="es-ES" dirty="0"/>
              <a:t> </a:t>
            </a:r>
            <a:r>
              <a:rPr lang="es-ES" dirty="0" err="1"/>
              <a:t>Appear</a:t>
            </a:r>
            <a:r>
              <a:rPr lang="es-ES" dirty="0"/>
              <a:t> | </a:t>
            </a:r>
            <a:r>
              <a:rPr lang="es-ES" dirty="0" err="1"/>
              <a:t>Appeared</a:t>
            </a:r>
            <a:r>
              <a:rPr lang="es-ES" dirty="0"/>
              <a:t> | Aparecer</a:t>
            </a:r>
          </a:p>
          <a:p>
            <a:pPr marL="342900" indent="-342900">
              <a:buFont typeface="+mj-lt"/>
              <a:buAutoNum type="arabicPeriod"/>
            </a:pPr>
            <a:r>
              <a:rPr lang="es-ES" dirty="0"/>
              <a:t> </a:t>
            </a:r>
            <a:r>
              <a:rPr lang="es-ES" dirty="0" err="1"/>
              <a:t>Bake</a:t>
            </a:r>
            <a:r>
              <a:rPr lang="es-ES" dirty="0"/>
              <a:t> | </a:t>
            </a:r>
            <a:r>
              <a:rPr lang="es-ES" dirty="0" err="1"/>
              <a:t>Baked</a:t>
            </a:r>
            <a:r>
              <a:rPr lang="es-ES" dirty="0"/>
              <a:t> | Hornear </a:t>
            </a:r>
          </a:p>
          <a:p>
            <a:pPr marL="342900" indent="-342900">
              <a:buFont typeface="+mj-lt"/>
              <a:buAutoNum type="arabicPeriod"/>
            </a:pPr>
            <a:r>
              <a:rPr lang="es-ES" dirty="0"/>
              <a:t> </a:t>
            </a:r>
            <a:r>
              <a:rPr lang="es-ES" dirty="0" err="1"/>
              <a:t>Believe</a:t>
            </a:r>
            <a:r>
              <a:rPr lang="es-ES" dirty="0"/>
              <a:t> | </a:t>
            </a:r>
            <a:r>
              <a:rPr lang="es-ES" dirty="0" err="1"/>
              <a:t>Believed</a:t>
            </a:r>
            <a:r>
              <a:rPr lang="es-ES" dirty="0"/>
              <a:t> | Creer </a:t>
            </a:r>
          </a:p>
          <a:p>
            <a:pPr marL="342900" indent="-342900">
              <a:buFont typeface="+mj-lt"/>
              <a:buAutoNum type="arabicPeriod"/>
            </a:pPr>
            <a:r>
              <a:rPr lang="es-ES" dirty="0"/>
              <a:t> </a:t>
            </a:r>
            <a:r>
              <a:rPr lang="es-ES" dirty="0" err="1"/>
              <a:t>Borrow</a:t>
            </a:r>
            <a:r>
              <a:rPr lang="es-ES" dirty="0"/>
              <a:t> | </a:t>
            </a:r>
            <a:r>
              <a:rPr lang="es-ES" dirty="0" err="1"/>
              <a:t>Borrowed</a:t>
            </a:r>
            <a:r>
              <a:rPr lang="es-ES" dirty="0"/>
              <a:t> | Pedir prestado </a:t>
            </a:r>
          </a:p>
        </p:txBody>
      </p:sp>
      <p:sp>
        <p:nvSpPr>
          <p:cNvPr id="4" name="CuadroTexto 3">
            <a:extLst>
              <a:ext uri="{FF2B5EF4-FFF2-40B4-BE49-F238E27FC236}">
                <a16:creationId xmlns:a16="http://schemas.microsoft.com/office/drawing/2014/main" id="{06E04060-1E0E-35DD-2EC2-78581E09A4B2}"/>
              </a:ext>
            </a:extLst>
          </p:cNvPr>
          <p:cNvSpPr txBox="1"/>
          <p:nvPr/>
        </p:nvSpPr>
        <p:spPr>
          <a:xfrm>
            <a:off x="6096000" y="784669"/>
            <a:ext cx="4582886" cy="2862322"/>
          </a:xfrm>
          <a:prstGeom prst="rect">
            <a:avLst/>
          </a:prstGeom>
          <a:noFill/>
        </p:spPr>
        <p:txBody>
          <a:bodyPr wrap="square" rtlCol="0">
            <a:spAutoFit/>
          </a:bodyPr>
          <a:lstStyle/>
          <a:p>
            <a:pPr algn="just"/>
            <a:endParaRPr lang="es-ES" dirty="0"/>
          </a:p>
          <a:p>
            <a:pPr algn="just"/>
            <a:r>
              <a:rPr lang="es-ES" b="1" dirty="0"/>
              <a:t>Verbos irregulares</a:t>
            </a:r>
          </a:p>
          <a:p>
            <a:pPr marL="342900" indent="-342900" algn="just">
              <a:buFont typeface="+mj-lt"/>
              <a:buAutoNum type="arabicPeriod"/>
            </a:pPr>
            <a:r>
              <a:rPr lang="es-ES" dirty="0"/>
              <a:t> Begin | </a:t>
            </a:r>
            <a:r>
              <a:rPr lang="es-ES" dirty="0" err="1"/>
              <a:t>Began</a:t>
            </a:r>
            <a:r>
              <a:rPr lang="es-ES" dirty="0"/>
              <a:t> | Empezar </a:t>
            </a:r>
          </a:p>
          <a:p>
            <a:pPr marL="342900" indent="-342900" algn="just">
              <a:buFont typeface="+mj-lt"/>
              <a:buAutoNum type="arabicPeriod"/>
            </a:pPr>
            <a:r>
              <a:rPr lang="es-ES" dirty="0"/>
              <a:t> Break | </a:t>
            </a:r>
            <a:r>
              <a:rPr lang="es-ES" dirty="0" err="1"/>
              <a:t>Broke</a:t>
            </a:r>
            <a:r>
              <a:rPr lang="es-ES" dirty="0"/>
              <a:t> | Romper </a:t>
            </a:r>
          </a:p>
          <a:p>
            <a:pPr marL="342900" indent="-342900" algn="just">
              <a:buFont typeface="+mj-lt"/>
              <a:buAutoNum type="arabicPeriod"/>
            </a:pPr>
            <a:r>
              <a:rPr lang="es-ES" dirty="0"/>
              <a:t> </a:t>
            </a:r>
            <a:r>
              <a:rPr lang="es-ES" dirty="0" err="1"/>
              <a:t>Bring</a:t>
            </a:r>
            <a:r>
              <a:rPr lang="es-ES" dirty="0"/>
              <a:t> | </a:t>
            </a:r>
            <a:r>
              <a:rPr lang="es-ES" dirty="0" err="1"/>
              <a:t>Brought</a:t>
            </a:r>
            <a:r>
              <a:rPr lang="es-ES" dirty="0"/>
              <a:t> | Traer </a:t>
            </a:r>
          </a:p>
          <a:p>
            <a:pPr marL="342900" indent="-342900" algn="just">
              <a:buFont typeface="+mj-lt"/>
              <a:buAutoNum type="arabicPeriod"/>
            </a:pPr>
            <a:r>
              <a:rPr lang="es-ES" dirty="0"/>
              <a:t> </a:t>
            </a:r>
            <a:r>
              <a:rPr lang="es-ES" dirty="0" err="1"/>
              <a:t>Build</a:t>
            </a:r>
            <a:r>
              <a:rPr lang="es-ES" dirty="0"/>
              <a:t> | </a:t>
            </a:r>
            <a:r>
              <a:rPr lang="es-ES" dirty="0" err="1"/>
              <a:t>Built</a:t>
            </a:r>
            <a:r>
              <a:rPr lang="es-ES" dirty="0"/>
              <a:t> | Construir</a:t>
            </a:r>
          </a:p>
          <a:p>
            <a:pPr marL="342900" indent="-342900" algn="just">
              <a:buFont typeface="+mj-lt"/>
              <a:buAutoNum type="arabicPeriod"/>
            </a:pPr>
            <a:r>
              <a:rPr lang="es-ES" dirty="0"/>
              <a:t> </a:t>
            </a:r>
            <a:r>
              <a:rPr lang="es-ES" dirty="0" err="1"/>
              <a:t>Buy</a:t>
            </a:r>
            <a:r>
              <a:rPr lang="es-ES" dirty="0"/>
              <a:t> | </a:t>
            </a:r>
            <a:r>
              <a:rPr lang="es-ES" dirty="0" err="1"/>
              <a:t>Bought</a:t>
            </a:r>
            <a:r>
              <a:rPr lang="es-ES" dirty="0"/>
              <a:t> | Comprar</a:t>
            </a:r>
          </a:p>
          <a:p>
            <a:pPr marL="342900" indent="-342900" algn="just">
              <a:buFont typeface="+mj-lt"/>
              <a:buAutoNum type="arabicPeriod"/>
            </a:pPr>
            <a:r>
              <a:rPr lang="es-ES" dirty="0"/>
              <a:t> Come | </a:t>
            </a:r>
            <a:r>
              <a:rPr lang="es-ES" dirty="0" err="1"/>
              <a:t>Came</a:t>
            </a:r>
            <a:r>
              <a:rPr lang="es-ES" dirty="0"/>
              <a:t> | Venir </a:t>
            </a:r>
          </a:p>
          <a:p>
            <a:pPr marL="342900" indent="-342900" algn="just">
              <a:buFont typeface="+mj-lt"/>
              <a:buAutoNum type="arabicPeriod"/>
            </a:pPr>
            <a:r>
              <a:rPr lang="es-ES" dirty="0"/>
              <a:t> Do | </a:t>
            </a:r>
            <a:r>
              <a:rPr lang="es-ES" dirty="0" err="1"/>
              <a:t>Did</a:t>
            </a:r>
            <a:r>
              <a:rPr lang="es-ES" dirty="0"/>
              <a:t> | Hacer </a:t>
            </a:r>
          </a:p>
          <a:p>
            <a:pPr marL="342900" indent="-342900" algn="just">
              <a:buFont typeface="+mj-lt"/>
              <a:buAutoNum type="arabicPeriod"/>
            </a:pPr>
            <a:r>
              <a:rPr lang="es-ES" dirty="0"/>
              <a:t> </a:t>
            </a:r>
            <a:r>
              <a:rPr lang="es-ES" dirty="0" err="1"/>
              <a:t>Drink</a:t>
            </a:r>
            <a:r>
              <a:rPr lang="es-ES" dirty="0"/>
              <a:t> | </a:t>
            </a:r>
            <a:r>
              <a:rPr lang="es-ES" dirty="0" err="1"/>
              <a:t>Drank</a:t>
            </a:r>
            <a:r>
              <a:rPr lang="es-ES" dirty="0"/>
              <a:t> | Beber </a:t>
            </a:r>
          </a:p>
        </p:txBody>
      </p:sp>
    </p:spTree>
    <p:extLst>
      <p:ext uri="{BB962C8B-B14F-4D97-AF65-F5344CB8AC3E}">
        <p14:creationId xmlns:p14="http://schemas.microsoft.com/office/powerpoint/2010/main" val="112496848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par>
                                <p:cTn id="8" presetID="31"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 calcmode="lin" valueType="num">
                                      <p:cBhvr>
                                        <p:cTn id="10"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1"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12"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13" dur="1000"/>
                                        <p:tgtEl>
                                          <p:spTgt spid="3">
                                            <p:txEl>
                                              <p:pRg st="2" end="2"/>
                                            </p:txEl>
                                          </p:spTgt>
                                        </p:tgtEl>
                                      </p:cBhvr>
                                    </p:animEffect>
                                  </p:childTnLst>
                                </p:cTn>
                              </p:par>
                              <p:par>
                                <p:cTn id="14" presetID="31"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 calcmode="lin" valueType="num">
                                      <p:cBhvr>
                                        <p:cTn id="16"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17"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18"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19" dur="1000"/>
                                        <p:tgtEl>
                                          <p:spTgt spid="3">
                                            <p:txEl>
                                              <p:pRg st="3" end="3"/>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down)">
                                      <p:cBhvr>
                                        <p:cTn id="22" dur="500"/>
                                        <p:tgtEl>
                                          <p:spTgt spid="3">
                                            <p:txEl>
                                              <p:pRg st="4" end="4"/>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wipe(down)">
                                      <p:cBhvr>
                                        <p:cTn id="25" dur="500"/>
                                        <p:tgtEl>
                                          <p:spTgt spid="3">
                                            <p:txEl>
                                              <p:pRg st="5" end="5"/>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wipe(down)">
                                      <p:cBhvr>
                                        <p:cTn id="28" dur="500"/>
                                        <p:tgtEl>
                                          <p:spTgt spid="3">
                                            <p:txEl>
                                              <p:pRg st="6" end="6"/>
                                            </p:txEl>
                                          </p:spTgt>
                                        </p:tgtEl>
                                      </p:cBhvr>
                                    </p:animEffect>
                                  </p:childTnLst>
                                </p:cTn>
                              </p:par>
                              <p:par>
                                <p:cTn id="29" presetID="22" presetClass="entr" presetSubtype="4"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wipe(down)">
                                      <p:cBhvr>
                                        <p:cTn id="31" dur="500"/>
                                        <p:tgtEl>
                                          <p:spTgt spid="3">
                                            <p:txEl>
                                              <p:pRg st="7" end="7"/>
                                            </p:txEl>
                                          </p:spTgt>
                                        </p:tgtEl>
                                      </p:cBhvr>
                                    </p:animEffect>
                                  </p:childTnLst>
                                </p:cTn>
                              </p:par>
                              <p:par>
                                <p:cTn id="32" presetID="22" presetClass="entr" presetSubtype="4" fill="hold"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wipe(down)">
                                      <p:cBhvr>
                                        <p:cTn id="34" dur="500"/>
                                        <p:tgtEl>
                                          <p:spTgt spid="3">
                                            <p:txEl>
                                              <p:pRg st="8" end="8"/>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xit" presetSubtype="0" fill="hold" grpId="0" nodeType="clickEffect">
                                  <p:stCondLst>
                                    <p:cond delay="0"/>
                                  </p:stCondLst>
                                  <p:childTnLst>
                                    <p:anim calcmode="lin" valueType="num">
                                      <p:cBhvr>
                                        <p:cTn id="38" dur="1000"/>
                                        <p:tgtEl>
                                          <p:spTgt spid="4"/>
                                        </p:tgtEl>
                                        <p:attrNameLst>
                                          <p:attrName>ppt_w</p:attrName>
                                        </p:attrNameLst>
                                      </p:cBhvr>
                                      <p:tavLst>
                                        <p:tav tm="0">
                                          <p:val>
                                            <p:strVal val="ppt_w"/>
                                          </p:val>
                                        </p:tav>
                                        <p:tav tm="100000">
                                          <p:val>
                                            <p:fltVal val="0"/>
                                          </p:val>
                                        </p:tav>
                                      </p:tavLst>
                                    </p:anim>
                                    <p:anim calcmode="lin" valueType="num">
                                      <p:cBhvr>
                                        <p:cTn id="39" dur="1000"/>
                                        <p:tgtEl>
                                          <p:spTgt spid="4"/>
                                        </p:tgtEl>
                                        <p:attrNameLst>
                                          <p:attrName>ppt_h</p:attrName>
                                        </p:attrNameLst>
                                      </p:cBhvr>
                                      <p:tavLst>
                                        <p:tav tm="0">
                                          <p:val>
                                            <p:strVal val="ppt_h"/>
                                          </p:val>
                                        </p:tav>
                                        <p:tav tm="100000">
                                          <p:val>
                                            <p:fltVal val="0"/>
                                          </p:val>
                                        </p:tav>
                                      </p:tavLst>
                                    </p:anim>
                                    <p:anim calcmode="lin" valueType="num">
                                      <p:cBhvr>
                                        <p:cTn id="40" dur="1000"/>
                                        <p:tgtEl>
                                          <p:spTgt spid="4"/>
                                        </p:tgtEl>
                                        <p:attrNameLst>
                                          <p:attrName>style.rotation</p:attrName>
                                        </p:attrNameLst>
                                      </p:cBhvr>
                                      <p:tavLst>
                                        <p:tav tm="0">
                                          <p:val>
                                            <p:fltVal val="0"/>
                                          </p:val>
                                        </p:tav>
                                        <p:tav tm="100000">
                                          <p:val>
                                            <p:fltVal val="90"/>
                                          </p:val>
                                        </p:tav>
                                      </p:tavLst>
                                    </p:anim>
                                    <p:animEffect transition="out" filter="fade">
                                      <p:cBhvr>
                                        <p:cTn id="41" dur="1000"/>
                                        <p:tgtEl>
                                          <p:spTgt spid="4"/>
                                        </p:tgtEl>
                                      </p:cBhvr>
                                    </p:animEffect>
                                    <p:set>
                                      <p:cBhvr>
                                        <p:cTn id="42" dur="1" fill="hold">
                                          <p:stCondLst>
                                            <p:cond delay="9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12967-BA79-D21F-6672-FA269FE1C336}"/>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3E6C0CFB-5F1F-C3F8-4A6F-FD526362BC63}"/>
              </a:ext>
            </a:extLst>
          </p:cNvPr>
          <p:cNvSpPr txBox="1"/>
          <p:nvPr/>
        </p:nvSpPr>
        <p:spPr>
          <a:xfrm>
            <a:off x="1023257" y="1012371"/>
            <a:ext cx="10199914" cy="3693319"/>
          </a:xfrm>
          <a:prstGeom prst="rect">
            <a:avLst/>
          </a:prstGeom>
          <a:noFill/>
        </p:spPr>
        <p:txBody>
          <a:bodyPr wrap="square" rtlCol="0">
            <a:spAutoFit/>
          </a:bodyPr>
          <a:lstStyle/>
          <a:p>
            <a:pPr algn="ctr"/>
            <a:r>
              <a:rPr lang="es-CO" b="1" dirty="0"/>
              <a:t>Estructura Afirmativa Y Ejemplos</a:t>
            </a:r>
          </a:p>
          <a:p>
            <a:pPr algn="ctr"/>
            <a:r>
              <a:rPr lang="es-CO" dirty="0"/>
              <a:t> Fórmula General: </a:t>
            </a:r>
            <a:r>
              <a:rPr lang="es-ES" dirty="0"/>
              <a:t>Sujeto + Verbo en Pasado + Complemento</a:t>
            </a:r>
          </a:p>
          <a:p>
            <a:r>
              <a:rPr lang="es-ES" dirty="0"/>
              <a:t> Ejemplos:</a:t>
            </a:r>
          </a:p>
          <a:p>
            <a:pPr marL="342900" indent="-342900">
              <a:buAutoNum type="arabicPlain"/>
            </a:pPr>
            <a:r>
              <a:rPr lang="es-ES" dirty="0"/>
              <a:t>I </a:t>
            </a:r>
            <a:r>
              <a:rPr lang="es-ES" dirty="0" err="1"/>
              <a:t>watched</a:t>
            </a:r>
            <a:r>
              <a:rPr lang="es-ES" dirty="0"/>
              <a:t> a </a:t>
            </a:r>
            <a:r>
              <a:rPr lang="es-ES" dirty="0" err="1"/>
              <a:t>movie</a:t>
            </a:r>
            <a:r>
              <a:rPr lang="es-ES" dirty="0"/>
              <a:t> last night. </a:t>
            </a:r>
          </a:p>
          <a:p>
            <a:r>
              <a:rPr lang="es-ES" dirty="0"/>
              <a:t> Yo vi una película anoche. </a:t>
            </a:r>
          </a:p>
          <a:p>
            <a:r>
              <a:rPr lang="es-ES" dirty="0"/>
              <a:t>2 </a:t>
            </a:r>
            <a:r>
              <a:rPr lang="es-ES" dirty="0" err="1"/>
              <a:t>They</a:t>
            </a:r>
            <a:r>
              <a:rPr lang="es-ES" dirty="0"/>
              <a:t> </a:t>
            </a:r>
            <a:r>
              <a:rPr lang="es-ES" dirty="0" err="1"/>
              <a:t>finished</a:t>
            </a:r>
            <a:r>
              <a:rPr lang="es-ES" dirty="0"/>
              <a:t> </a:t>
            </a:r>
            <a:r>
              <a:rPr lang="es-ES" dirty="0" err="1"/>
              <a:t>the</a:t>
            </a:r>
            <a:r>
              <a:rPr lang="es-ES" dirty="0"/>
              <a:t> </a:t>
            </a:r>
            <a:r>
              <a:rPr lang="es-ES" dirty="0" err="1"/>
              <a:t>project</a:t>
            </a:r>
            <a:r>
              <a:rPr lang="es-ES" dirty="0"/>
              <a:t> </a:t>
            </a:r>
            <a:r>
              <a:rPr lang="es-ES" dirty="0" err="1"/>
              <a:t>early</a:t>
            </a:r>
            <a:r>
              <a:rPr lang="es-ES" dirty="0"/>
              <a:t>. </a:t>
            </a:r>
          </a:p>
          <a:p>
            <a:r>
              <a:rPr lang="es-ES" dirty="0"/>
              <a:t> Ellos terminaron el proyecto temprano. </a:t>
            </a:r>
          </a:p>
          <a:p>
            <a:r>
              <a:rPr lang="es-ES" dirty="0"/>
              <a:t>3 </a:t>
            </a:r>
            <a:r>
              <a:rPr lang="es-ES" dirty="0" err="1"/>
              <a:t>She</a:t>
            </a:r>
            <a:r>
              <a:rPr lang="es-ES" dirty="0"/>
              <a:t> </a:t>
            </a:r>
            <a:r>
              <a:rPr lang="es-ES" dirty="0" err="1"/>
              <a:t>went</a:t>
            </a:r>
            <a:r>
              <a:rPr lang="es-ES" dirty="0"/>
              <a:t> </a:t>
            </a:r>
            <a:r>
              <a:rPr lang="es-ES" dirty="0" err="1"/>
              <a:t>to</a:t>
            </a:r>
            <a:r>
              <a:rPr lang="es-ES" dirty="0"/>
              <a:t> </a:t>
            </a:r>
            <a:r>
              <a:rPr lang="es-ES" dirty="0" err="1"/>
              <a:t>the</a:t>
            </a:r>
            <a:r>
              <a:rPr lang="es-ES" dirty="0"/>
              <a:t> store </a:t>
            </a:r>
            <a:r>
              <a:rPr lang="es-ES" dirty="0" err="1"/>
              <a:t>yesterday</a:t>
            </a:r>
            <a:r>
              <a:rPr lang="es-ES" dirty="0"/>
              <a:t>. </a:t>
            </a:r>
          </a:p>
          <a:p>
            <a:r>
              <a:rPr lang="es-ES" dirty="0"/>
              <a:t>Ella fue a la tienda ayer. </a:t>
            </a:r>
          </a:p>
          <a:p>
            <a:r>
              <a:rPr lang="es-ES" dirty="0"/>
              <a:t>4 </a:t>
            </a:r>
            <a:r>
              <a:rPr lang="es-ES" dirty="0" err="1"/>
              <a:t>We</a:t>
            </a:r>
            <a:r>
              <a:rPr lang="es-ES" dirty="0"/>
              <a:t> </a:t>
            </a:r>
            <a:r>
              <a:rPr lang="es-ES" dirty="0" err="1"/>
              <a:t>bought</a:t>
            </a:r>
            <a:r>
              <a:rPr lang="es-ES" dirty="0"/>
              <a:t> a new car last </a:t>
            </a:r>
            <a:r>
              <a:rPr lang="es-ES" dirty="0" err="1"/>
              <a:t>month</a:t>
            </a:r>
            <a:r>
              <a:rPr lang="es-ES" dirty="0"/>
              <a:t>. </a:t>
            </a:r>
          </a:p>
          <a:p>
            <a:r>
              <a:rPr lang="es-ES" dirty="0"/>
              <a:t>Nosotros compramos un coche nuevo el mes pasado. </a:t>
            </a:r>
          </a:p>
          <a:p>
            <a:r>
              <a:rPr lang="es-ES" dirty="0"/>
              <a:t>5 He </a:t>
            </a:r>
            <a:r>
              <a:rPr lang="es-ES" dirty="0" err="1"/>
              <a:t>played</a:t>
            </a:r>
            <a:r>
              <a:rPr lang="es-ES" dirty="0"/>
              <a:t> soccer in </a:t>
            </a:r>
            <a:r>
              <a:rPr lang="es-ES" dirty="0" err="1"/>
              <a:t>the</a:t>
            </a:r>
            <a:r>
              <a:rPr lang="es-ES" dirty="0"/>
              <a:t> </a:t>
            </a:r>
            <a:r>
              <a:rPr lang="es-ES" dirty="0" err="1"/>
              <a:t>park</a:t>
            </a:r>
            <a:r>
              <a:rPr lang="es-ES" dirty="0"/>
              <a:t>. </a:t>
            </a:r>
          </a:p>
          <a:p>
            <a:r>
              <a:rPr lang="es-ES" dirty="0"/>
              <a:t> Él jugó fútbol en el parque. </a:t>
            </a:r>
          </a:p>
        </p:txBody>
      </p:sp>
    </p:spTree>
    <p:extLst>
      <p:ext uri="{BB962C8B-B14F-4D97-AF65-F5344CB8AC3E}">
        <p14:creationId xmlns:p14="http://schemas.microsoft.com/office/powerpoint/2010/main" val="301999133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2000"/>
                                        <p:tgtEl>
                                          <p:spTgt spid="3">
                                            <p:txEl>
                                              <p:pRg st="3" end="3"/>
                                            </p:txEl>
                                          </p:spTgt>
                                        </p:tgtEl>
                                      </p:cBhvr>
                                    </p:animEffect>
                                    <p:anim calcmode="lin" valueType="num">
                                      <p:cBhvr>
                                        <p:cTn id="8" dur="2000" fill="hold"/>
                                        <p:tgtEl>
                                          <p:spTgt spid="3">
                                            <p:txEl>
                                              <p:pRg st="3" end="3"/>
                                            </p:txEl>
                                          </p:spTgt>
                                        </p:tgtEl>
                                        <p:attrNameLst>
                                          <p:attrName>ppt_w</p:attrName>
                                        </p:attrNameLst>
                                      </p:cBhvr>
                                      <p:tavLst>
                                        <p:tav tm="0" fmla="#ppt_w*sin(2.5*pi*$)">
                                          <p:val>
                                            <p:fltVal val="0"/>
                                          </p:val>
                                        </p:tav>
                                        <p:tav tm="100000">
                                          <p:val>
                                            <p:fltVal val="1"/>
                                          </p:val>
                                        </p:tav>
                                      </p:tavLst>
                                    </p:anim>
                                    <p:anim calcmode="lin" valueType="num">
                                      <p:cBhvr>
                                        <p:cTn id="9" dur="2000" fill="hold"/>
                                        <p:tgtEl>
                                          <p:spTgt spid="3">
                                            <p:txEl>
                                              <p:pRg st="3" end="3"/>
                                            </p:txEl>
                                          </p:spTgt>
                                        </p:tgtEl>
                                        <p:attrNameLst>
                                          <p:attrName>ppt_h</p:attrName>
                                        </p:attrNameLst>
                                      </p:cBhvr>
                                      <p:tavLst>
                                        <p:tav tm="0">
                                          <p:val>
                                            <p:strVal val="#ppt_h"/>
                                          </p:val>
                                        </p:tav>
                                        <p:tav tm="100000">
                                          <p:val>
                                            <p:strVal val="#ppt_h"/>
                                          </p:val>
                                        </p:tav>
                                      </p:tavLst>
                                    </p:anim>
                                  </p:childTnLst>
                                </p:cTn>
                              </p:par>
                              <p:par>
                                <p:cTn id="10" presetID="45"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2000"/>
                                        <p:tgtEl>
                                          <p:spTgt spid="3">
                                            <p:txEl>
                                              <p:pRg st="4" end="4"/>
                                            </p:txEl>
                                          </p:spTgt>
                                        </p:tgtEl>
                                      </p:cBhvr>
                                    </p:animEffect>
                                    <p:anim calcmode="lin" valueType="num">
                                      <p:cBhvr>
                                        <p:cTn id="13" dur="2000" fill="hold"/>
                                        <p:tgtEl>
                                          <p:spTgt spid="3">
                                            <p:txEl>
                                              <p:pRg st="4" end="4"/>
                                            </p:txEl>
                                          </p:spTgt>
                                        </p:tgtEl>
                                        <p:attrNameLst>
                                          <p:attrName>ppt_w</p:attrName>
                                        </p:attrNameLst>
                                      </p:cBhvr>
                                      <p:tavLst>
                                        <p:tav tm="0" fmla="#ppt_w*sin(2.5*pi*$)">
                                          <p:val>
                                            <p:fltVal val="0"/>
                                          </p:val>
                                        </p:tav>
                                        <p:tav tm="100000">
                                          <p:val>
                                            <p:fltVal val="1"/>
                                          </p:val>
                                        </p:tav>
                                      </p:tavLst>
                                    </p:anim>
                                    <p:anim calcmode="lin" valueType="num">
                                      <p:cBhvr>
                                        <p:cTn id="14" dur="2000" fill="hold"/>
                                        <p:tgtEl>
                                          <p:spTgt spid="3">
                                            <p:txEl>
                                              <p:pRg st="4" end="4"/>
                                            </p:txEl>
                                          </p:spTgt>
                                        </p:tgtEl>
                                        <p:attrNameLst>
                                          <p:attrName>ppt_h</p:attrName>
                                        </p:attrNameLst>
                                      </p:cBhvr>
                                      <p:tavLst>
                                        <p:tav tm="0">
                                          <p:val>
                                            <p:strVal val="#ppt_h"/>
                                          </p:val>
                                        </p:tav>
                                        <p:tav tm="100000">
                                          <p:val>
                                            <p:strVal val="#ppt_h"/>
                                          </p:val>
                                        </p:tav>
                                      </p:tavLst>
                                    </p:anim>
                                  </p:childTnLst>
                                </p:cTn>
                              </p:par>
                              <p:par>
                                <p:cTn id="15" presetID="45"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2000"/>
                                        <p:tgtEl>
                                          <p:spTgt spid="3">
                                            <p:txEl>
                                              <p:pRg st="5" end="5"/>
                                            </p:txEl>
                                          </p:spTgt>
                                        </p:tgtEl>
                                      </p:cBhvr>
                                    </p:animEffect>
                                    <p:anim calcmode="lin" valueType="num">
                                      <p:cBhvr>
                                        <p:cTn id="18" dur="2000" fill="hold"/>
                                        <p:tgtEl>
                                          <p:spTgt spid="3">
                                            <p:txEl>
                                              <p:pRg st="5" end="5"/>
                                            </p:txEl>
                                          </p:spTgt>
                                        </p:tgtEl>
                                        <p:attrNameLst>
                                          <p:attrName>ppt_w</p:attrName>
                                        </p:attrNameLst>
                                      </p:cBhvr>
                                      <p:tavLst>
                                        <p:tav tm="0" fmla="#ppt_w*sin(2.5*pi*$)">
                                          <p:val>
                                            <p:fltVal val="0"/>
                                          </p:val>
                                        </p:tav>
                                        <p:tav tm="100000">
                                          <p:val>
                                            <p:fltVal val="1"/>
                                          </p:val>
                                        </p:tav>
                                      </p:tavLst>
                                    </p:anim>
                                    <p:anim calcmode="lin" valueType="num">
                                      <p:cBhvr>
                                        <p:cTn id="19" dur="2000" fill="hold"/>
                                        <p:tgtEl>
                                          <p:spTgt spid="3">
                                            <p:txEl>
                                              <p:pRg st="5" end="5"/>
                                            </p:txEl>
                                          </p:spTgt>
                                        </p:tgtEl>
                                        <p:attrNameLst>
                                          <p:attrName>ppt_h</p:attrName>
                                        </p:attrNameLst>
                                      </p:cBhvr>
                                      <p:tavLst>
                                        <p:tav tm="0">
                                          <p:val>
                                            <p:strVal val="#ppt_h"/>
                                          </p:val>
                                        </p:tav>
                                        <p:tav tm="100000">
                                          <p:val>
                                            <p:strVal val="#ppt_h"/>
                                          </p:val>
                                        </p:tav>
                                      </p:tavLst>
                                    </p:anim>
                                  </p:childTnLst>
                                </p:cTn>
                              </p:par>
                              <p:par>
                                <p:cTn id="20" presetID="45"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2000"/>
                                        <p:tgtEl>
                                          <p:spTgt spid="3">
                                            <p:txEl>
                                              <p:pRg st="6" end="6"/>
                                            </p:txEl>
                                          </p:spTgt>
                                        </p:tgtEl>
                                      </p:cBhvr>
                                    </p:animEffect>
                                    <p:anim calcmode="lin" valueType="num">
                                      <p:cBhvr>
                                        <p:cTn id="23" dur="2000" fill="hold"/>
                                        <p:tgtEl>
                                          <p:spTgt spid="3">
                                            <p:txEl>
                                              <p:pRg st="6" end="6"/>
                                            </p:txEl>
                                          </p:spTgt>
                                        </p:tgtEl>
                                        <p:attrNameLst>
                                          <p:attrName>ppt_w</p:attrName>
                                        </p:attrNameLst>
                                      </p:cBhvr>
                                      <p:tavLst>
                                        <p:tav tm="0" fmla="#ppt_w*sin(2.5*pi*$)">
                                          <p:val>
                                            <p:fltVal val="0"/>
                                          </p:val>
                                        </p:tav>
                                        <p:tav tm="100000">
                                          <p:val>
                                            <p:fltVal val="1"/>
                                          </p:val>
                                        </p:tav>
                                      </p:tavLst>
                                    </p:anim>
                                    <p:anim calcmode="lin" valueType="num">
                                      <p:cBhvr>
                                        <p:cTn id="24" dur="2000" fill="hold"/>
                                        <p:tgtEl>
                                          <p:spTgt spid="3">
                                            <p:txEl>
                                              <p:pRg st="6" end="6"/>
                                            </p:txEl>
                                          </p:spTgt>
                                        </p:tgtEl>
                                        <p:attrNameLst>
                                          <p:attrName>ppt_h</p:attrName>
                                        </p:attrNameLst>
                                      </p:cBhvr>
                                      <p:tavLst>
                                        <p:tav tm="0">
                                          <p:val>
                                            <p:strVal val="#ppt_h"/>
                                          </p:val>
                                        </p:tav>
                                        <p:tav tm="100000">
                                          <p:val>
                                            <p:strVal val="#ppt_h"/>
                                          </p:val>
                                        </p:tav>
                                      </p:tavLst>
                                    </p:anim>
                                  </p:childTnLst>
                                </p:cTn>
                              </p:par>
                              <p:par>
                                <p:cTn id="25" presetID="45"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2000"/>
                                        <p:tgtEl>
                                          <p:spTgt spid="3">
                                            <p:txEl>
                                              <p:pRg st="7" end="7"/>
                                            </p:txEl>
                                          </p:spTgt>
                                        </p:tgtEl>
                                      </p:cBhvr>
                                    </p:animEffect>
                                    <p:anim calcmode="lin" valueType="num">
                                      <p:cBhvr>
                                        <p:cTn id="28" dur="2000" fill="hold"/>
                                        <p:tgtEl>
                                          <p:spTgt spid="3">
                                            <p:txEl>
                                              <p:pRg st="7" end="7"/>
                                            </p:txEl>
                                          </p:spTgt>
                                        </p:tgtEl>
                                        <p:attrNameLst>
                                          <p:attrName>ppt_w</p:attrName>
                                        </p:attrNameLst>
                                      </p:cBhvr>
                                      <p:tavLst>
                                        <p:tav tm="0" fmla="#ppt_w*sin(2.5*pi*$)">
                                          <p:val>
                                            <p:fltVal val="0"/>
                                          </p:val>
                                        </p:tav>
                                        <p:tav tm="100000">
                                          <p:val>
                                            <p:fltVal val="1"/>
                                          </p:val>
                                        </p:tav>
                                      </p:tavLst>
                                    </p:anim>
                                    <p:anim calcmode="lin" valueType="num">
                                      <p:cBhvr>
                                        <p:cTn id="29" dur="2000" fill="hold"/>
                                        <p:tgtEl>
                                          <p:spTgt spid="3">
                                            <p:txEl>
                                              <p:pRg st="7" end="7"/>
                                            </p:txEl>
                                          </p:spTgt>
                                        </p:tgtEl>
                                        <p:attrNameLst>
                                          <p:attrName>ppt_h</p:attrName>
                                        </p:attrNameLst>
                                      </p:cBhvr>
                                      <p:tavLst>
                                        <p:tav tm="0">
                                          <p:val>
                                            <p:strVal val="#ppt_h"/>
                                          </p:val>
                                        </p:tav>
                                        <p:tav tm="100000">
                                          <p:val>
                                            <p:strVal val="#ppt_h"/>
                                          </p:val>
                                        </p:tav>
                                      </p:tavLst>
                                    </p:anim>
                                  </p:childTnLst>
                                </p:cTn>
                              </p:par>
                              <p:par>
                                <p:cTn id="30" presetID="45" presetClass="entr" presetSubtype="0" fill="hold" nodeType="with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2000"/>
                                        <p:tgtEl>
                                          <p:spTgt spid="3">
                                            <p:txEl>
                                              <p:pRg st="8" end="8"/>
                                            </p:txEl>
                                          </p:spTgt>
                                        </p:tgtEl>
                                      </p:cBhvr>
                                    </p:animEffect>
                                    <p:anim calcmode="lin" valueType="num">
                                      <p:cBhvr>
                                        <p:cTn id="33" dur="2000" fill="hold"/>
                                        <p:tgtEl>
                                          <p:spTgt spid="3">
                                            <p:txEl>
                                              <p:pRg st="8" end="8"/>
                                            </p:txEl>
                                          </p:spTgt>
                                        </p:tgtEl>
                                        <p:attrNameLst>
                                          <p:attrName>ppt_w</p:attrName>
                                        </p:attrNameLst>
                                      </p:cBhvr>
                                      <p:tavLst>
                                        <p:tav tm="0" fmla="#ppt_w*sin(2.5*pi*$)">
                                          <p:val>
                                            <p:fltVal val="0"/>
                                          </p:val>
                                        </p:tav>
                                        <p:tav tm="100000">
                                          <p:val>
                                            <p:fltVal val="1"/>
                                          </p:val>
                                        </p:tav>
                                      </p:tavLst>
                                    </p:anim>
                                    <p:anim calcmode="lin" valueType="num">
                                      <p:cBhvr>
                                        <p:cTn id="34" dur="2000" fill="hold"/>
                                        <p:tgtEl>
                                          <p:spTgt spid="3">
                                            <p:txEl>
                                              <p:pRg st="8" end="8"/>
                                            </p:txEl>
                                          </p:spTgt>
                                        </p:tgtEl>
                                        <p:attrNameLst>
                                          <p:attrName>ppt_h</p:attrName>
                                        </p:attrNameLst>
                                      </p:cBhvr>
                                      <p:tavLst>
                                        <p:tav tm="0">
                                          <p:val>
                                            <p:strVal val="#ppt_h"/>
                                          </p:val>
                                        </p:tav>
                                        <p:tav tm="100000">
                                          <p:val>
                                            <p:strVal val="#ppt_h"/>
                                          </p:val>
                                        </p:tav>
                                      </p:tavLst>
                                    </p:anim>
                                  </p:childTnLst>
                                </p:cTn>
                              </p:par>
                              <p:par>
                                <p:cTn id="35" presetID="45"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2000"/>
                                        <p:tgtEl>
                                          <p:spTgt spid="3">
                                            <p:txEl>
                                              <p:pRg st="9" end="9"/>
                                            </p:txEl>
                                          </p:spTgt>
                                        </p:tgtEl>
                                      </p:cBhvr>
                                    </p:animEffect>
                                    <p:anim calcmode="lin" valueType="num">
                                      <p:cBhvr>
                                        <p:cTn id="38" dur="2000" fill="hold"/>
                                        <p:tgtEl>
                                          <p:spTgt spid="3">
                                            <p:txEl>
                                              <p:pRg st="9" end="9"/>
                                            </p:txEl>
                                          </p:spTgt>
                                        </p:tgtEl>
                                        <p:attrNameLst>
                                          <p:attrName>ppt_w</p:attrName>
                                        </p:attrNameLst>
                                      </p:cBhvr>
                                      <p:tavLst>
                                        <p:tav tm="0" fmla="#ppt_w*sin(2.5*pi*$)">
                                          <p:val>
                                            <p:fltVal val="0"/>
                                          </p:val>
                                        </p:tav>
                                        <p:tav tm="100000">
                                          <p:val>
                                            <p:fltVal val="1"/>
                                          </p:val>
                                        </p:tav>
                                      </p:tavLst>
                                    </p:anim>
                                    <p:anim calcmode="lin" valueType="num">
                                      <p:cBhvr>
                                        <p:cTn id="39" dur="2000" fill="hold"/>
                                        <p:tgtEl>
                                          <p:spTgt spid="3">
                                            <p:txEl>
                                              <p:pRg st="9" end="9"/>
                                            </p:txEl>
                                          </p:spTgt>
                                        </p:tgtEl>
                                        <p:attrNameLst>
                                          <p:attrName>ppt_h</p:attrName>
                                        </p:attrNameLst>
                                      </p:cBhvr>
                                      <p:tavLst>
                                        <p:tav tm="0">
                                          <p:val>
                                            <p:strVal val="#ppt_h"/>
                                          </p:val>
                                        </p:tav>
                                        <p:tav tm="100000">
                                          <p:val>
                                            <p:strVal val="#ppt_h"/>
                                          </p:val>
                                        </p:tav>
                                      </p:tavLst>
                                    </p:anim>
                                  </p:childTnLst>
                                </p:cTn>
                              </p:par>
                              <p:par>
                                <p:cTn id="40" presetID="45" presetClass="entr" presetSubtype="0" fill="hold" nodeType="with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2000"/>
                                        <p:tgtEl>
                                          <p:spTgt spid="3">
                                            <p:txEl>
                                              <p:pRg st="10" end="10"/>
                                            </p:txEl>
                                          </p:spTgt>
                                        </p:tgtEl>
                                      </p:cBhvr>
                                    </p:animEffect>
                                    <p:anim calcmode="lin" valueType="num">
                                      <p:cBhvr>
                                        <p:cTn id="43" dur="2000" fill="hold"/>
                                        <p:tgtEl>
                                          <p:spTgt spid="3">
                                            <p:txEl>
                                              <p:pRg st="10" end="10"/>
                                            </p:txEl>
                                          </p:spTgt>
                                        </p:tgtEl>
                                        <p:attrNameLst>
                                          <p:attrName>ppt_w</p:attrName>
                                        </p:attrNameLst>
                                      </p:cBhvr>
                                      <p:tavLst>
                                        <p:tav tm="0" fmla="#ppt_w*sin(2.5*pi*$)">
                                          <p:val>
                                            <p:fltVal val="0"/>
                                          </p:val>
                                        </p:tav>
                                        <p:tav tm="100000">
                                          <p:val>
                                            <p:fltVal val="1"/>
                                          </p:val>
                                        </p:tav>
                                      </p:tavLst>
                                    </p:anim>
                                    <p:anim calcmode="lin" valueType="num">
                                      <p:cBhvr>
                                        <p:cTn id="44" dur="2000" fill="hold"/>
                                        <p:tgtEl>
                                          <p:spTgt spid="3">
                                            <p:txEl>
                                              <p:pRg st="10" end="10"/>
                                            </p:txEl>
                                          </p:spTgt>
                                        </p:tgtEl>
                                        <p:attrNameLst>
                                          <p:attrName>ppt_h</p:attrName>
                                        </p:attrNameLst>
                                      </p:cBhvr>
                                      <p:tavLst>
                                        <p:tav tm="0">
                                          <p:val>
                                            <p:strVal val="#ppt_h"/>
                                          </p:val>
                                        </p:tav>
                                        <p:tav tm="100000">
                                          <p:val>
                                            <p:strVal val="#ppt_h"/>
                                          </p:val>
                                        </p:tav>
                                      </p:tavLst>
                                    </p:anim>
                                  </p:childTnLst>
                                </p:cTn>
                              </p:par>
                              <p:par>
                                <p:cTn id="45" presetID="45" presetClass="entr" presetSubtype="0" fill="hold" nodeType="with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Effect transition="in" filter="fade">
                                      <p:cBhvr>
                                        <p:cTn id="47" dur="2000"/>
                                        <p:tgtEl>
                                          <p:spTgt spid="3">
                                            <p:txEl>
                                              <p:pRg st="11" end="11"/>
                                            </p:txEl>
                                          </p:spTgt>
                                        </p:tgtEl>
                                      </p:cBhvr>
                                    </p:animEffect>
                                    <p:anim calcmode="lin" valueType="num">
                                      <p:cBhvr>
                                        <p:cTn id="48" dur="2000" fill="hold"/>
                                        <p:tgtEl>
                                          <p:spTgt spid="3">
                                            <p:txEl>
                                              <p:pRg st="11" end="11"/>
                                            </p:txEl>
                                          </p:spTgt>
                                        </p:tgtEl>
                                        <p:attrNameLst>
                                          <p:attrName>ppt_w</p:attrName>
                                        </p:attrNameLst>
                                      </p:cBhvr>
                                      <p:tavLst>
                                        <p:tav tm="0" fmla="#ppt_w*sin(2.5*pi*$)">
                                          <p:val>
                                            <p:fltVal val="0"/>
                                          </p:val>
                                        </p:tav>
                                        <p:tav tm="100000">
                                          <p:val>
                                            <p:fltVal val="1"/>
                                          </p:val>
                                        </p:tav>
                                      </p:tavLst>
                                    </p:anim>
                                    <p:anim calcmode="lin" valueType="num">
                                      <p:cBhvr>
                                        <p:cTn id="49" dur="2000" fill="hold"/>
                                        <p:tgtEl>
                                          <p:spTgt spid="3">
                                            <p:txEl>
                                              <p:pRg st="11" end="11"/>
                                            </p:txEl>
                                          </p:spTgt>
                                        </p:tgtEl>
                                        <p:attrNameLst>
                                          <p:attrName>ppt_h</p:attrName>
                                        </p:attrNameLst>
                                      </p:cBhvr>
                                      <p:tavLst>
                                        <p:tav tm="0">
                                          <p:val>
                                            <p:strVal val="#ppt_h"/>
                                          </p:val>
                                        </p:tav>
                                        <p:tav tm="100000">
                                          <p:val>
                                            <p:strVal val="#ppt_h"/>
                                          </p:val>
                                        </p:tav>
                                      </p:tavLst>
                                    </p:anim>
                                  </p:childTnLst>
                                </p:cTn>
                              </p:par>
                              <p:par>
                                <p:cTn id="50" presetID="45" presetClass="entr" presetSubtype="0" fill="hold" nodeType="withEffect">
                                  <p:stCondLst>
                                    <p:cond delay="0"/>
                                  </p:stCondLst>
                                  <p:childTnLst>
                                    <p:set>
                                      <p:cBhvr>
                                        <p:cTn id="51" dur="1" fill="hold">
                                          <p:stCondLst>
                                            <p:cond delay="0"/>
                                          </p:stCondLst>
                                        </p:cTn>
                                        <p:tgtEl>
                                          <p:spTgt spid="3">
                                            <p:txEl>
                                              <p:pRg st="12" end="12"/>
                                            </p:txEl>
                                          </p:spTgt>
                                        </p:tgtEl>
                                        <p:attrNameLst>
                                          <p:attrName>style.visibility</p:attrName>
                                        </p:attrNameLst>
                                      </p:cBhvr>
                                      <p:to>
                                        <p:strVal val="visible"/>
                                      </p:to>
                                    </p:set>
                                    <p:animEffect transition="in" filter="fade">
                                      <p:cBhvr>
                                        <p:cTn id="52" dur="2000"/>
                                        <p:tgtEl>
                                          <p:spTgt spid="3">
                                            <p:txEl>
                                              <p:pRg st="12" end="12"/>
                                            </p:txEl>
                                          </p:spTgt>
                                        </p:tgtEl>
                                      </p:cBhvr>
                                    </p:animEffect>
                                    <p:anim calcmode="lin" valueType="num">
                                      <p:cBhvr>
                                        <p:cTn id="53" dur="2000" fill="hold"/>
                                        <p:tgtEl>
                                          <p:spTgt spid="3">
                                            <p:txEl>
                                              <p:pRg st="12" end="12"/>
                                            </p:txEl>
                                          </p:spTgt>
                                        </p:tgtEl>
                                        <p:attrNameLst>
                                          <p:attrName>ppt_w</p:attrName>
                                        </p:attrNameLst>
                                      </p:cBhvr>
                                      <p:tavLst>
                                        <p:tav tm="0" fmla="#ppt_w*sin(2.5*pi*$)">
                                          <p:val>
                                            <p:fltVal val="0"/>
                                          </p:val>
                                        </p:tav>
                                        <p:tav tm="100000">
                                          <p:val>
                                            <p:fltVal val="1"/>
                                          </p:val>
                                        </p:tav>
                                      </p:tavLst>
                                    </p:anim>
                                    <p:anim calcmode="lin" valueType="num">
                                      <p:cBhvr>
                                        <p:cTn id="54" dur="2000" fill="hold"/>
                                        <p:tgtEl>
                                          <p:spTgt spid="3">
                                            <p:txEl>
                                              <p:pRg st="12" end="12"/>
                                            </p:txEl>
                                          </p:spTgt>
                                        </p:tgtEl>
                                        <p:attrNameLst>
                                          <p:attrName>ppt_h</p:attrName>
                                        </p:attrNameLst>
                                      </p:cBhvr>
                                      <p:tavLst>
                                        <p:tav tm="0">
                                          <p:val>
                                            <p:strVal val="#ppt_h"/>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6" presetClass="entr" presetSubtype="16" fill="hold" nodeType="clickEffect">
                                  <p:stCondLst>
                                    <p:cond delay="0"/>
                                  </p:stCondLst>
                                  <p:childTnLst>
                                    <p:set>
                                      <p:cBhvr>
                                        <p:cTn id="58" dur="1" fill="hold">
                                          <p:stCondLst>
                                            <p:cond delay="0"/>
                                          </p:stCondLst>
                                        </p:cTn>
                                        <p:tgtEl>
                                          <p:spTgt spid="3">
                                            <p:txEl>
                                              <p:pRg st="0" end="0"/>
                                            </p:txEl>
                                          </p:spTgt>
                                        </p:tgtEl>
                                        <p:attrNameLst>
                                          <p:attrName>style.visibility</p:attrName>
                                        </p:attrNameLst>
                                      </p:cBhvr>
                                      <p:to>
                                        <p:strVal val="visible"/>
                                      </p:to>
                                    </p:set>
                                    <p:animEffect transition="in" filter="circle(in)">
                                      <p:cBhvr>
                                        <p:cTn id="59" dur="2000"/>
                                        <p:tgtEl>
                                          <p:spTgt spid="3">
                                            <p:txEl>
                                              <p:pRg st="0" end="0"/>
                                            </p:txEl>
                                          </p:spTgt>
                                        </p:tgtEl>
                                      </p:cBhvr>
                                    </p:animEffect>
                                  </p:childTnLst>
                                </p:cTn>
                              </p:par>
                              <p:par>
                                <p:cTn id="60" presetID="6" presetClass="entr" presetSubtype="16" fill="hold" nodeType="withEffect">
                                  <p:stCondLst>
                                    <p:cond delay="0"/>
                                  </p:stCondLst>
                                  <p:childTnLst>
                                    <p:set>
                                      <p:cBhvr>
                                        <p:cTn id="61" dur="1" fill="hold">
                                          <p:stCondLst>
                                            <p:cond delay="0"/>
                                          </p:stCondLst>
                                        </p:cTn>
                                        <p:tgtEl>
                                          <p:spTgt spid="3">
                                            <p:txEl>
                                              <p:pRg st="1" end="1"/>
                                            </p:txEl>
                                          </p:spTgt>
                                        </p:tgtEl>
                                        <p:attrNameLst>
                                          <p:attrName>style.visibility</p:attrName>
                                        </p:attrNameLst>
                                      </p:cBhvr>
                                      <p:to>
                                        <p:strVal val="visible"/>
                                      </p:to>
                                    </p:set>
                                    <p:animEffect transition="in" filter="circle(in)">
                                      <p:cBhvr>
                                        <p:cTn id="62" dur="2000"/>
                                        <p:tgtEl>
                                          <p:spTgt spid="3">
                                            <p:txEl>
                                              <p:pRg st="1" end="1"/>
                                            </p:txEl>
                                          </p:spTgt>
                                        </p:tgtEl>
                                      </p:cBhvr>
                                    </p:animEffect>
                                  </p:childTnLst>
                                </p:cTn>
                              </p:par>
                              <p:par>
                                <p:cTn id="63" presetID="6" presetClass="entr" presetSubtype="16" fill="hold" nodeType="withEffect">
                                  <p:stCondLst>
                                    <p:cond delay="0"/>
                                  </p:stCondLst>
                                  <p:childTnLst>
                                    <p:set>
                                      <p:cBhvr>
                                        <p:cTn id="64" dur="1" fill="hold">
                                          <p:stCondLst>
                                            <p:cond delay="0"/>
                                          </p:stCondLst>
                                        </p:cTn>
                                        <p:tgtEl>
                                          <p:spTgt spid="3">
                                            <p:txEl>
                                              <p:pRg st="2" end="2"/>
                                            </p:txEl>
                                          </p:spTgt>
                                        </p:tgtEl>
                                        <p:attrNameLst>
                                          <p:attrName>style.visibility</p:attrName>
                                        </p:attrNameLst>
                                      </p:cBhvr>
                                      <p:to>
                                        <p:strVal val="visible"/>
                                      </p:to>
                                    </p:set>
                                    <p:animEffect transition="in" filter="circle(in)">
                                      <p:cBhvr>
                                        <p:cTn id="65"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49CE078-2903-9935-61C5-3AF5AE317D7F}"/>
              </a:ext>
            </a:extLst>
          </p:cNvPr>
          <p:cNvSpPr txBox="1"/>
          <p:nvPr/>
        </p:nvSpPr>
        <p:spPr>
          <a:xfrm>
            <a:off x="1041400" y="1076235"/>
            <a:ext cx="10287000" cy="3693319"/>
          </a:xfrm>
          <a:prstGeom prst="rect">
            <a:avLst/>
          </a:prstGeom>
          <a:noFill/>
        </p:spPr>
        <p:txBody>
          <a:bodyPr wrap="square">
            <a:spAutoFit/>
          </a:bodyPr>
          <a:lstStyle/>
          <a:p>
            <a:pPr algn="ctr"/>
            <a:r>
              <a:rPr lang="es-ES" b="1" dirty="0"/>
              <a:t>Estructura Negativa del Pasado Simple (Simple Past):</a:t>
            </a:r>
          </a:p>
          <a:p>
            <a:pPr algn="ctr"/>
            <a:r>
              <a:rPr lang="es-ES" dirty="0"/>
              <a:t>Sujeto + </a:t>
            </a:r>
            <a:r>
              <a:rPr lang="es-ES" dirty="0" err="1"/>
              <a:t>did</a:t>
            </a:r>
            <a:r>
              <a:rPr lang="es-ES" dirty="0"/>
              <a:t> </a:t>
            </a:r>
            <a:r>
              <a:rPr lang="es-ES" dirty="0" err="1"/>
              <a:t>not</a:t>
            </a:r>
            <a:r>
              <a:rPr lang="es-ES" dirty="0"/>
              <a:t> (</a:t>
            </a:r>
            <a:r>
              <a:rPr lang="es-ES" dirty="0" err="1"/>
              <a:t>didn't</a:t>
            </a:r>
            <a:r>
              <a:rPr lang="es-ES" dirty="0"/>
              <a:t>) + Verbo en Forma Base + Complemento</a:t>
            </a:r>
          </a:p>
          <a:p>
            <a:r>
              <a:rPr lang="es-ES" dirty="0"/>
              <a:t>Ejemplos:</a:t>
            </a:r>
          </a:p>
          <a:p>
            <a:r>
              <a:rPr lang="es-ES" dirty="0"/>
              <a:t>1.I </a:t>
            </a:r>
            <a:r>
              <a:rPr lang="es-ES" dirty="0" err="1"/>
              <a:t>didn't</a:t>
            </a:r>
            <a:r>
              <a:rPr lang="es-ES" dirty="0"/>
              <a:t> </a:t>
            </a:r>
            <a:r>
              <a:rPr lang="es-ES" dirty="0" err="1"/>
              <a:t>watch</a:t>
            </a:r>
            <a:r>
              <a:rPr lang="es-ES" dirty="0"/>
              <a:t> a </a:t>
            </a:r>
            <a:r>
              <a:rPr lang="es-ES" dirty="0" err="1"/>
              <a:t>movie</a:t>
            </a:r>
            <a:r>
              <a:rPr lang="es-ES" dirty="0"/>
              <a:t> last night. </a:t>
            </a:r>
          </a:p>
          <a:p>
            <a:r>
              <a:rPr lang="es-ES" dirty="0"/>
              <a:t>Yo no vi una película anoche. / Yo no miré una película anoche.  </a:t>
            </a:r>
          </a:p>
          <a:p>
            <a:r>
              <a:rPr lang="es-ES" dirty="0"/>
              <a:t>2 </a:t>
            </a:r>
            <a:r>
              <a:rPr lang="es-ES" dirty="0" err="1"/>
              <a:t>They</a:t>
            </a:r>
            <a:r>
              <a:rPr lang="es-ES" dirty="0"/>
              <a:t> </a:t>
            </a:r>
            <a:r>
              <a:rPr lang="es-ES" dirty="0" err="1"/>
              <a:t>didn't</a:t>
            </a:r>
            <a:r>
              <a:rPr lang="es-ES" dirty="0"/>
              <a:t> </a:t>
            </a:r>
            <a:r>
              <a:rPr lang="es-ES" dirty="0" err="1"/>
              <a:t>finish</a:t>
            </a:r>
            <a:r>
              <a:rPr lang="es-ES" dirty="0"/>
              <a:t> </a:t>
            </a:r>
            <a:r>
              <a:rPr lang="es-ES" dirty="0" err="1"/>
              <a:t>the</a:t>
            </a:r>
            <a:r>
              <a:rPr lang="es-ES" dirty="0"/>
              <a:t> </a:t>
            </a:r>
            <a:r>
              <a:rPr lang="es-ES" dirty="0" err="1"/>
              <a:t>project</a:t>
            </a:r>
            <a:r>
              <a:rPr lang="es-ES" dirty="0"/>
              <a:t> </a:t>
            </a:r>
            <a:r>
              <a:rPr lang="es-ES" dirty="0" err="1"/>
              <a:t>early</a:t>
            </a:r>
            <a:r>
              <a:rPr lang="es-ES" dirty="0"/>
              <a:t>. </a:t>
            </a:r>
          </a:p>
          <a:p>
            <a:r>
              <a:rPr lang="es-ES" dirty="0"/>
              <a:t> Ellos no terminaron el proyecto temprano. </a:t>
            </a:r>
          </a:p>
          <a:p>
            <a:r>
              <a:rPr lang="es-ES" dirty="0"/>
              <a:t>3 </a:t>
            </a:r>
            <a:r>
              <a:rPr lang="es-ES" dirty="0" err="1"/>
              <a:t>She</a:t>
            </a:r>
            <a:r>
              <a:rPr lang="es-ES" dirty="0"/>
              <a:t> </a:t>
            </a:r>
            <a:r>
              <a:rPr lang="es-ES" dirty="0" err="1"/>
              <a:t>didn't</a:t>
            </a:r>
            <a:r>
              <a:rPr lang="es-ES" dirty="0"/>
              <a:t> </a:t>
            </a:r>
            <a:r>
              <a:rPr lang="es-ES" dirty="0" err="1"/>
              <a:t>go</a:t>
            </a:r>
            <a:r>
              <a:rPr lang="es-ES" dirty="0"/>
              <a:t> </a:t>
            </a:r>
            <a:r>
              <a:rPr lang="es-ES" dirty="0" err="1"/>
              <a:t>to</a:t>
            </a:r>
            <a:r>
              <a:rPr lang="es-ES" dirty="0"/>
              <a:t> </a:t>
            </a:r>
            <a:r>
              <a:rPr lang="es-ES" dirty="0" err="1"/>
              <a:t>the</a:t>
            </a:r>
            <a:r>
              <a:rPr lang="es-ES" dirty="0"/>
              <a:t> store </a:t>
            </a:r>
            <a:r>
              <a:rPr lang="es-ES" dirty="0" err="1"/>
              <a:t>yesterday</a:t>
            </a:r>
            <a:r>
              <a:rPr lang="es-ES" dirty="0"/>
              <a:t>. </a:t>
            </a:r>
          </a:p>
          <a:p>
            <a:r>
              <a:rPr lang="es-ES" dirty="0"/>
              <a:t> Ella no fue a la tienda ayer. </a:t>
            </a:r>
          </a:p>
          <a:p>
            <a:r>
              <a:rPr lang="es-ES" dirty="0"/>
              <a:t>4 </a:t>
            </a:r>
            <a:r>
              <a:rPr lang="es-ES" dirty="0" err="1"/>
              <a:t>We</a:t>
            </a:r>
            <a:r>
              <a:rPr lang="es-ES" dirty="0"/>
              <a:t> </a:t>
            </a:r>
            <a:r>
              <a:rPr lang="es-ES" dirty="0" err="1"/>
              <a:t>didn't</a:t>
            </a:r>
            <a:r>
              <a:rPr lang="es-ES" dirty="0"/>
              <a:t> </a:t>
            </a:r>
            <a:r>
              <a:rPr lang="es-ES" dirty="0" err="1"/>
              <a:t>buy</a:t>
            </a:r>
            <a:r>
              <a:rPr lang="es-ES" dirty="0"/>
              <a:t> a new car last </a:t>
            </a:r>
            <a:r>
              <a:rPr lang="es-ES" dirty="0" err="1"/>
              <a:t>month</a:t>
            </a:r>
            <a:r>
              <a:rPr lang="es-ES" dirty="0"/>
              <a:t>.</a:t>
            </a:r>
          </a:p>
          <a:p>
            <a:r>
              <a:rPr lang="es-ES" dirty="0"/>
              <a:t>  Nosotros no compramos un coche nuevo el mes pasado. </a:t>
            </a:r>
          </a:p>
          <a:p>
            <a:r>
              <a:rPr lang="es-ES" dirty="0"/>
              <a:t>  5He </a:t>
            </a:r>
            <a:r>
              <a:rPr lang="es-ES" dirty="0" err="1"/>
              <a:t>didn't</a:t>
            </a:r>
            <a:r>
              <a:rPr lang="es-ES" dirty="0"/>
              <a:t> </a:t>
            </a:r>
            <a:r>
              <a:rPr lang="es-ES" dirty="0" err="1"/>
              <a:t>play</a:t>
            </a:r>
            <a:r>
              <a:rPr lang="es-ES" dirty="0"/>
              <a:t> soccer in </a:t>
            </a:r>
            <a:r>
              <a:rPr lang="es-ES" dirty="0" err="1"/>
              <a:t>the</a:t>
            </a:r>
            <a:r>
              <a:rPr lang="es-ES" dirty="0"/>
              <a:t> </a:t>
            </a:r>
            <a:r>
              <a:rPr lang="es-ES" dirty="0" err="1"/>
              <a:t>park</a:t>
            </a:r>
            <a:r>
              <a:rPr lang="es-ES" dirty="0"/>
              <a:t>. </a:t>
            </a:r>
          </a:p>
          <a:p>
            <a:r>
              <a:rPr lang="es-ES" dirty="0"/>
              <a:t> Él no jugó fútbol en el parque. </a:t>
            </a:r>
          </a:p>
        </p:txBody>
      </p:sp>
    </p:spTree>
    <p:extLst>
      <p:ext uri="{BB962C8B-B14F-4D97-AF65-F5344CB8AC3E}">
        <p14:creationId xmlns:p14="http://schemas.microsoft.com/office/powerpoint/2010/main" val="900365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3">
                                            <p:txEl>
                                              <p:pRg st="1" end="1"/>
                                            </p:txEl>
                                          </p:spTgt>
                                        </p:tgtEl>
                                      </p:cBhvr>
                                    </p:animEffect>
                                    <p:set>
                                      <p:cBhvr>
                                        <p:cTn id="10" dur="1" fill="hold">
                                          <p:stCondLst>
                                            <p:cond delay="499"/>
                                          </p:stCondLst>
                                        </p:cTn>
                                        <p:tgtEl>
                                          <p:spTgt spid="3">
                                            <p:txEl>
                                              <p:pRg st="1" end="1"/>
                                            </p:txEl>
                                          </p:spTgt>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3">
                                            <p:txEl>
                                              <p:pRg st="2" end="2"/>
                                            </p:txEl>
                                          </p:spTgt>
                                        </p:tgtEl>
                                      </p:cBhvr>
                                    </p:animEffect>
                                    <p:set>
                                      <p:cBhvr>
                                        <p:cTn id="13" dur="1" fill="hold">
                                          <p:stCondLst>
                                            <p:cond delay="499"/>
                                          </p:stCondLst>
                                        </p:cTn>
                                        <p:tgtEl>
                                          <p:spTgt spid="3">
                                            <p:txEl>
                                              <p:pRg st="2" end="2"/>
                                            </p:txEl>
                                          </p:spTgt>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24" presetClass="emph" presetSubtype="0" fill="hold" nodeType="clickEffect">
                                  <p:stCondLst>
                                    <p:cond delay="0"/>
                                  </p:stCondLst>
                                  <p:childTnLst>
                                    <p:animClr clrSpc="hsl" dir="cw">
                                      <p:cBhvr override="childStyle">
                                        <p:cTn id="17" dur="500" fill="hold"/>
                                        <p:tgtEl>
                                          <p:spTgt spid="3">
                                            <p:txEl>
                                              <p:pRg st="3" end="3"/>
                                            </p:txEl>
                                          </p:spTgt>
                                        </p:tgtEl>
                                        <p:attrNameLst>
                                          <p:attrName>style.color</p:attrName>
                                        </p:attrNameLst>
                                      </p:cBhvr>
                                      <p:by>
                                        <p:hsl h="0" s="-12549" l="-25098"/>
                                      </p:by>
                                    </p:animClr>
                                    <p:animClr clrSpc="hsl" dir="cw">
                                      <p:cBhvr>
                                        <p:cTn id="18" dur="500" fill="hold"/>
                                        <p:tgtEl>
                                          <p:spTgt spid="3">
                                            <p:txEl>
                                              <p:pRg st="3" end="3"/>
                                            </p:txEl>
                                          </p:spTgt>
                                        </p:tgtEl>
                                        <p:attrNameLst>
                                          <p:attrName>fillcolor</p:attrName>
                                        </p:attrNameLst>
                                      </p:cBhvr>
                                      <p:by>
                                        <p:hsl h="0" s="-12549" l="-25098"/>
                                      </p:by>
                                    </p:animClr>
                                    <p:animClr clrSpc="hsl" dir="cw">
                                      <p:cBhvr>
                                        <p:cTn id="19" dur="500" fill="hold"/>
                                        <p:tgtEl>
                                          <p:spTgt spid="3">
                                            <p:txEl>
                                              <p:pRg st="3" end="3"/>
                                            </p:txEl>
                                          </p:spTgt>
                                        </p:tgtEl>
                                        <p:attrNameLst>
                                          <p:attrName>stroke.color</p:attrName>
                                        </p:attrNameLst>
                                      </p:cBhvr>
                                      <p:by>
                                        <p:hsl h="0" s="-12549" l="-25098"/>
                                      </p:by>
                                    </p:animClr>
                                    <p:set>
                                      <p:cBhvr>
                                        <p:cTn id="20" dur="500" fill="hold"/>
                                        <p:tgtEl>
                                          <p:spTgt spid="3">
                                            <p:txEl>
                                              <p:pRg st="3" end="3"/>
                                            </p:txEl>
                                          </p:spTgt>
                                        </p:tgtEl>
                                        <p:attrNameLst>
                                          <p:attrName>fill.type</p:attrName>
                                        </p:attrNameLst>
                                      </p:cBhvr>
                                      <p:to>
                                        <p:strVal val="solid"/>
                                      </p:to>
                                    </p:set>
                                  </p:childTnLst>
                                </p:cTn>
                              </p:par>
                              <p:par>
                                <p:cTn id="21" presetID="24" presetClass="emph" presetSubtype="0" fill="hold" nodeType="withEffect">
                                  <p:stCondLst>
                                    <p:cond delay="0"/>
                                  </p:stCondLst>
                                  <p:childTnLst>
                                    <p:animClr clrSpc="hsl" dir="cw">
                                      <p:cBhvr override="childStyle">
                                        <p:cTn id="22" dur="500" fill="hold"/>
                                        <p:tgtEl>
                                          <p:spTgt spid="3">
                                            <p:txEl>
                                              <p:pRg st="4" end="4"/>
                                            </p:txEl>
                                          </p:spTgt>
                                        </p:tgtEl>
                                        <p:attrNameLst>
                                          <p:attrName>style.color</p:attrName>
                                        </p:attrNameLst>
                                      </p:cBhvr>
                                      <p:by>
                                        <p:hsl h="0" s="-12549" l="-25098"/>
                                      </p:by>
                                    </p:animClr>
                                    <p:animClr clrSpc="hsl" dir="cw">
                                      <p:cBhvr>
                                        <p:cTn id="23" dur="500" fill="hold"/>
                                        <p:tgtEl>
                                          <p:spTgt spid="3">
                                            <p:txEl>
                                              <p:pRg st="4" end="4"/>
                                            </p:txEl>
                                          </p:spTgt>
                                        </p:tgtEl>
                                        <p:attrNameLst>
                                          <p:attrName>fillcolor</p:attrName>
                                        </p:attrNameLst>
                                      </p:cBhvr>
                                      <p:by>
                                        <p:hsl h="0" s="-12549" l="-25098"/>
                                      </p:by>
                                    </p:animClr>
                                    <p:animClr clrSpc="hsl" dir="cw">
                                      <p:cBhvr>
                                        <p:cTn id="24" dur="500" fill="hold"/>
                                        <p:tgtEl>
                                          <p:spTgt spid="3">
                                            <p:txEl>
                                              <p:pRg st="4" end="4"/>
                                            </p:txEl>
                                          </p:spTgt>
                                        </p:tgtEl>
                                        <p:attrNameLst>
                                          <p:attrName>stroke.color</p:attrName>
                                        </p:attrNameLst>
                                      </p:cBhvr>
                                      <p:by>
                                        <p:hsl h="0" s="-12549" l="-25098"/>
                                      </p:by>
                                    </p:animClr>
                                    <p:set>
                                      <p:cBhvr>
                                        <p:cTn id="25" dur="500" fill="hold"/>
                                        <p:tgtEl>
                                          <p:spTgt spid="3">
                                            <p:txEl>
                                              <p:pRg st="4" end="4"/>
                                            </p:txEl>
                                          </p:spTgt>
                                        </p:tgtEl>
                                        <p:attrNameLst>
                                          <p:attrName>fill.type</p:attrName>
                                        </p:attrNameLst>
                                      </p:cBhvr>
                                      <p:to>
                                        <p:strVal val="solid"/>
                                      </p:to>
                                    </p:set>
                                  </p:childTnLst>
                                </p:cTn>
                              </p:par>
                              <p:par>
                                <p:cTn id="26" presetID="24" presetClass="emph" presetSubtype="0" fill="hold" nodeType="withEffect">
                                  <p:stCondLst>
                                    <p:cond delay="0"/>
                                  </p:stCondLst>
                                  <p:childTnLst>
                                    <p:animClr clrSpc="hsl" dir="cw">
                                      <p:cBhvr override="childStyle">
                                        <p:cTn id="27" dur="500" fill="hold"/>
                                        <p:tgtEl>
                                          <p:spTgt spid="3">
                                            <p:txEl>
                                              <p:pRg st="5" end="5"/>
                                            </p:txEl>
                                          </p:spTgt>
                                        </p:tgtEl>
                                        <p:attrNameLst>
                                          <p:attrName>style.color</p:attrName>
                                        </p:attrNameLst>
                                      </p:cBhvr>
                                      <p:by>
                                        <p:hsl h="0" s="-12549" l="-25098"/>
                                      </p:by>
                                    </p:animClr>
                                    <p:animClr clrSpc="hsl" dir="cw">
                                      <p:cBhvr>
                                        <p:cTn id="28" dur="500" fill="hold"/>
                                        <p:tgtEl>
                                          <p:spTgt spid="3">
                                            <p:txEl>
                                              <p:pRg st="5" end="5"/>
                                            </p:txEl>
                                          </p:spTgt>
                                        </p:tgtEl>
                                        <p:attrNameLst>
                                          <p:attrName>fillcolor</p:attrName>
                                        </p:attrNameLst>
                                      </p:cBhvr>
                                      <p:by>
                                        <p:hsl h="0" s="-12549" l="-25098"/>
                                      </p:by>
                                    </p:animClr>
                                    <p:animClr clrSpc="hsl" dir="cw">
                                      <p:cBhvr>
                                        <p:cTn id="29" dur="500" fill="hold"/>
                                        <p:tgtEl>
                                          <p:spTgt spid="3">
                                            <p:txEl>
                                              <p:pRg st="5" end="5"/>
                                            </p:txEl>
                                          </p:spTgt>
                                        </p:tgtEl>
                                        <p:attrNameLst>
                                          <p:attrName>stroke.color</p:attrName>
                                        </p:attrNameLst>
                                      </p:cBhvr>
                                      <p:by>
                                        <p:hsl h="0" s="-12549" l="-25098"/>
                                      </p:by>
                                    </p:animClr>
                                    <p:set>
                                      <p:cBhvr>
                                        <p:cTn id="30" dur="500" fill="hold"/>
                                        <p:tgtEl>
                                          <p:spTgt spid="3">
                                            <p:txEl>
                                              <p:pRg st="5" end="5"/>
                                            </p:txEl>
                                          </p:spTgt>
                                        </p:tgtEl>
                                        <p:attrNameLst>
                                          <p:attrName>fill.type</p:attrName>
                                        </p:attrNameLst>
                                      </p:cBhvr>
                                      <p:to>
                                        <p:strVal val="solid"/>
                                      </p:to>
                                    </p:set>
                                  </p:childTnLst>
                                </p:cTn>
                              </p:par>
                              <p:par>
                                <p:cTn id="31" presetID="24" presetClass="emph" presetSubtype="0" fill="hold" nodeType="withEffect">
                                  <p:stCondLst>
                                    <p:cond delay="0"/>
                                  </p:stCondLst>
                                  <p:childTnLst>
                                    <p:animClr clrSpc="hsl" dir="cw">
                                      <p:cBhvr override="childStyle">
                                        <p:cTn id="32" dur="500" fill="hold"/>
                                        <p:tgtEl>
                                          <p:spTgt spid="3">
                                            <p:txEl>
                                              <p:pRg st="6" end="6"/>
                                            </p:txEl>
                                          </p:spTgt>
                                        </p:tgtEl>
                                        <p:attrNameLst>
                                          <p:attrName>style.color</p:attrName>
                                        </p:attrNameLst>
                                      </p:cBhvr>
                                      <p:by>
                                        <p:hsl h="0" s="-12549" l="-25098"/>
                                      </p:by>
                                    </p:animClr>
                                    <p:animClr clrSpc="hsl" dir="cw">
                                      <p:cBhvr>
                                        <p:cTn id="33" dur="500" fill="hold"/>
                                        <p:tgtEl>
                                          <p:spTgt spid="3">
                                            <p:txEl>
                                              <p:pRg st="6" end="6"/>
                                            </p:txEl>
                                          </p:spTgt>
                                        </p:tgtEl>
                                        <p:attrNameLst>
                                          <p:attrName>fillcolor</p:attrName>
                                        </p:attrNameLst>
                                      </p:cBhvr>
                                      <p:by>
                                        <p:hsl h="0" s="-12549" l="-25098"/>
                                      </p:by>
                                    </p:animClr>
                                    <p:animClr clrSpc="hsl" dir="cw">
                                      <p:cBhvr>
                                        <p:cTn id="34" dur="500" fill="hold"/>
                                        <p:tgtEl>
                                          <p:spTgt spid="3">
                                            <p:txEl>
                                              <p:pRg st="6" end="6"/>
                                            </p:txEl>
                                          </p:spTgt>
                                        </p:tgtEl>
                                        <p:attrNameLst>
                                          <p:attrName>stroke.color</p:attrName>
                                        </p:attrNameLst>
                                      </p:cBhvr>
                                      <p:by>
                                        <p:hsl h="0" s="-12549" l="-25098"/>
                                      </p:by>
                                    </p:animClr>
                                    <p:set>
                                      <p:cBhvr>
                                        <p:cTn id="35" dur="500" fill="hold"/>
                                        <p:tgtEl>
                                          <p:spTgt spid="3">
                                            <p:txEl>
                                              <p:pRg st="6" end="6"/>
                                            </p:txEl>
                                          </p:spTgt>
                                        </p:tgtEl>
                                        <p:attrNameLst>
                                          <p:attrName>fill.type</p:attrName>
                                        </p:attrNameLst>
                                      </p:cBhvr>
                                      <p:to>
                                        <p:strVal val="solid"/>
                                      </p:to>
                                    </p:set>
                                  </p:childTnLst>
                                </p:cTn>
                              </p:par>
                              <p:par>
                                <p:cTn id="36" presetID="24" presetClass="emph" presetSubtype="0" fill="hold" nodeType="withEffect">
                                  <p:stCondLst>
                                    <p:cond delay="0"/>
                                  </p:stCondLst>
                                  <p:childTnLst>
                                    <p:animClr clrSpc="hsl" dir="cw">
                                      <p:cBhvr override="childStyle">
                                        <p:cTn id="37" dur="500" fill="hold"/>
                                        <p:tgtEl>
                                          <p:spTgt spid="3">
                                            <p:txEl>
                                              <p:pRg st="7" end="7"/>
                                            </p:txEl>
                                          </p:spTgt>
                                        </p:tgtEl>
                                        <p:attrNameLst>
                                          <p:attrName>style.color</p:attrName>
                                        </p:attrNameLst>
                                      </p:cBhvr>
                                      <p:by>
                                        <p:hsl h="0" s="-12549" l="-25098"/>
                                      </p:by>
                                    </p:animClr>
                                    <p:animClr clrSpc="hsl" dir="cw">
                                      <p:cBhvr>
                                        <p:cTn id="38" dur="500" fill="hold"/>
                                        <p:tgtEl>
                                          <p:spTgt spid="3">
                                            <p:txEl>
                                              <p:pRg st="7" end="7"/>
                                            </p:txEl>
                                          </p:spTgt>
                                        </p:tgtEl>
                                        <p:attrNameLst>
                                          <p:attrName>fillcolor</p:attrName>
                                        </p:attrNameLst>
                                      </p:cBhvr>
                                      <p:by>
                                        <p:hsl h="0" s="-12549" l="-25098"/>
                                      </p:by>
                                    </p:animClr>
                                    <p:animClr clrSpc="hsl" dir="cw">
                                      <p:cBhvr>
                                        <p:cTn id="39" dur="500" fill="hold"/>
                                        <p:tgtEl>
                                          <p:spTgt spid="3">
                                            <p:txEl>
                                              <p:pRg st="7" end="7"/>
                                            </p:txEl>
                                          </p:spTgt>
                                        </p:tgtEl>
                                        <p:attrNameLst>
                                          <p:attrName>stroke.color</p:attrName>
                                        </p:attrNameLst>
                                      </p:cBhvr>
                                      <p:by>
                                        <p:hsl h="0" s="-12549" l="-25098"/>
                                      </p:by>
                                    </p:animClr>
                                    <p:set>
                                      <p:cBhvr>
                                        <p:cTn id="40" dur="500" fill="hold"/>
                                        <p:tgtEl>
                                          <p:spTgt spid="3">
                                            <p:txEl>
                                              <p:pRg st="7" end="7"/>
                                            </p:txEl>
                                          </p:spTgt>
                                        </p:tgtEl>
                                        <p:attrNameLst>
                                          <p:attrName>fill.type</p:attrName>
                                        </p:attrNameLst>
                                      </p:cBhvr>
                                      <p:to>
                                        <p:strVal val="solid"/>
                                      </p:to>
                                    </p:set>
                                  </p:childTnLst>
                                </p:cTn>
                              </p:par>
                              <p:par>
                                <p:cTn id="41" presetID="24" presetClass="emph" presetSubtype="0" fill="hold" nodeType="withEffect">
                                  <p:stCondLst>
                                    <p:cond delay="0"/>
                                  </p:stCondLst>
                                  <p:childTnLst>
                                    <p:animClr clrSpc="hsl" dir="cw">
                                      <p:cBhvr override="childStyle">
                                        <p:cTn id="42" dur="500" fill="hold"/>
                                        <p:tgtEl>
                                          <p:spTgt spid="3">
                                            <p:txEl>
                                              <p:pRg st="8" end="8"/>
                                            </p:txEl>
                                          </p:spTgt>
                                        </p:tgtEl>
                                        <p:attrNameLst>
                                          <p:attrName>style.color</p:attrName>
                                        </p:attrNameLst>
                                      </p:cBhvr>
                                      <p:by>
                                        <p:hsl h="0" s="-12549" l="-25098"/>
                                      </p:by>
                                    </p:animClr>
                                    <p:animClr clrSpc="hsl" dir="cw">
                                      <p:cBhvr>
                                        <p:cTn id="43" dur="500" fill="hold"/>
                                        <p:tgtEl>
                                          <p:spTgt spid="3">
                                            <p:txEl>
                                              <p:pRg st="8" end="8"/>
                                            </p:txEl>
                                          </p:spTgt>
                                        </p:tgtEl>
                                        <p:attrNameLst>
                                          <p:attrName>fillcolor</p:attrName>
                                        </p:attrNameLst>
                                      </p:cBhvr>
                                      <p:by>
                                        <p:hsl h="0" s="-12549" l="-25098"/>
                                      </p:by>
                                    </p:animClr>
                                    <p:animClr clrSpc="hsl" dir="cw">
                                      <p:cBhvr>
                                        <p:cTn id="44" dur="500" fill="hold"/>
                                        <p:tgtEl>
                                          <p:spTgt spid="3">
                                            <p:txEl>
                                              <p:pRg st="8" end="8"/>
                                            </p:txEl>
                                          </p:spTgt>
                                        </p:tgtEl>
                                        <p:attrNameLst>
                                          <p:attrName>stroke.color</p:attrName>
                                        </p:attrNameLst>
                                      </p:cBhvr>
                                      <p:by>
                                        <p:hsl h="0" s="-12549" l="-25098"/>
                                      </p:by>
                                    </p:animClr>
                                    <p:set>
                                      <p:cBhvr>
                                        <p:cTn id="45" dur="500" fill="hold"/>
                                        <p:tgtEl>
                                          <p:spTgt spid="3">
                                            <p:txEl>
                                              <p:pRg st="8" end="8"/>
                                            </p:txEl>
                                          </p:spTgt>
                                        </p:tgtEl>
                                        <p:attrNameLst>
                                          <p:attrName>fill.type</p:attrName>
                                        </p:attrNameLst>
                                      </p:cBhvr>
                                      <p:to>
                                        <p:strVal val="solid"/>
                                      </p:to>
                                    </p:set>
                                  </p:childTnLst>
                                </p:cTn>
                              </p:par>
                              <p:par>
                                <p:cTn id="46" presetID="24" presetClass="emph" presetSubtype="0" fill="hold" nodeType="withEffect">
                                  <p:stCondLst>
                                    <p:cond delay="0"/>
                                  </p:stCondLst>
                                  <p:childTnLst>
                                    <p:animClr clrSpc="hsl" dir="cw">
                                      <p:cBhvr override="childStyle">
                                        <p:cTn id="47" dur="500" fill="hold"/>
                                        <p:tgtEl>
                                          <p:spTgt spid="3">
                                            <p:txEl>
                                              <p:pRg st="9" end="9"/>
                                            </p:txEl>
                                          </p:spTgt>
                                        </p:tgtEl>
                                        <p:attrNameLst>
                                          <p:attrName>style.color</p:attrName>
                                        </p:attrNameLst>
                                      </p:cBhvr>
                                      <p:by>
                                        <p:hsl h="0" s="-12549" l="-25098"/>
                                      </p:by>
                                    </p:animClr>
                                    <p:animClr clrSpc="hsl" dir="cw">
                                      <p:cBhvr>
                                        <p:cTn id="48" dur="500" fill="hold"/>
                                        <p:tgtEl>
                                          <p:spTgt spid="3">
                                            <p:txEl>
                                              <p:pRg st="9" end="9"/>
                                            </p:txEl>
                                          </p:spTgt>
                                        </p:tgtEl>
                                        <p:attrNameLst>
                                          <p:attrName>fillcolor</p:attrName>
                                        </p:attrNameLst>
                                      </p:cBhvr>
                                      <p:by>
                                        <p:hsl h="0" s="-12549" l="-25098"/>
                                      </p:by>
                                    </p:animClr>
                                    <p:animClr clrSpc="hsl" dir="cw">
                                      <p:cBhvr>
                                        <p:cTn id="49" dur="500" fill="hold"/>
                                        <p:tgtEl>
                                          <p:spTgt spid="3">
                                            <p:txEl>
                                              <p:pRg st="9" end="9"/>
                                            </p:txEl>
                                          </p:spTgt>
                                        </p:tgtEl>
                                        <p:attrNameLst>
                                          <p:attrName>stroke.color</p:attrName>
                                        </p:attrNameLst>
                                      </p:cBhvr>
                                      <p:by>
                                        <p:hsl h="0" s="-12549" l="-25098"/>
                                      </p:by>
                                    </p:animClr>
                                    <p:set>
                                      <p:cBhvr>
                                        <p:cTn id="50" dur="500" fill="hold"/>
                                        <p:tgtEl>
                                          <p:spTgt spid="3">
                                            <p:txEl>
                                              <p:pRg st="9" end="9"/>
                                            </p:txEl>
                                          </p:spTgt>
                                        </p:tgtEl>
                                        <p:attrNameLst>
                                          <p:attrName>fill.type</p:attrName>
                                        </p:attrNameLst>
                                      </p:cBhvr>
                                      <p:to>
                                        <p:strVal val="solid"/>
                                      </p:to>
                                    </p:set>
                                  </p:childTnLst>
                                </p:cTn>
                              </p:par>
                              <p:par>
                                <p:cTn id="51" presetID="24" presetClass="emph" presetSubtype="0" fill="hold" nodeType="withEffect">
                                  <p:stCondLst>
                                    <p:cond delay="0"/>
                                  </p:stCondLst>
                                  <p:childTnLst>
                                    <p:animClr clrSpc="hsl" dir="cw">
                                      <p:cBhvr override="childStyle">
                                        <p:cTn id="52" dur="500" fill="hold"/>
                                        <p:tgtEl>
                                          <p:spTgt spid="3">
                                            <p:txEl>
                                              <p:pRg st="10" end="10"/>
                                            </p:txEl>
                                          </p:spTgt>
                                        </p:tgtEl>
                                        <p:attrNameLst>
                                          <p:attrName>style.color</p:attrName>
                                        </p:attrNameLst>
                                      </p:cBhvr>
                                      <p:by>
                                        <p:hsl h="0" s="-12549" l="-25098"/>
                                      </p:by>
                                    </p:animClr>
                                    <p:animClr clrSpc="hsl" dir="cw">
                                      <p:cBhvr>
                                        <p:cTn id="53" dur="500" fill="hold"/>
                                        <p:tgtEl>
                                          <p:spTgt spid="3">
                                            <p:txEl>
                                              <p:pRg st="10" end="10"/>
                                            </p:txEl>
                                          </p:spTgt>
                                        </p:tgtEl>
                                        <p:attrNameLst>
                                          <p:attrName>fillcolor</p:attrName>
                                        </p:attrNameLst>
                                      </p:cBhvr>
                                      <p:by>
                                        <p:hsl h="0" s="-12549" l="-25098"/>
                                      </p:by>
                                    </p:animClr>
                                    <p:animClr clrSpc="hsl" dir="cw">
                                      <p:cBhvr>
                                        <p:cTn id="54" dur="500" fill="hold"/>
                                        <p:tgtEl>
                                          <p:spTgt spid="3">
                                            <p:txEl>
                                              <p:pRg st="10" end="10"/>
                                            </p:txEl>
                                          </p:spTgt>
                                        </p:tgtEl>
                                        <p:attrNameLst>
                                          <p:attrName>stroke.color</p:attrName>
                                        </p:attrNameLst>
                                      </p:cBhvr>
                                      <p:by>
                                        <p:hsl h="0" s="-12549" l="-25098"/>
                                      </p:by>
                                    </p:animClr>
                                    <p:set>
                                      <p:cBhvr>
                                        <p:cTn id="55" dur="500" fill="hold"/>
                                        <p:tgtEl>
                                          <p:spTgt spid="3">
                                            <p:txEl>
                                              <p:pRg st="10" end="10"/>
                                            </p:txEl>
                                          </p:spTgt>
                                        </p:tgtEl>
                                        <p:attrNameLst>
                                          <p:attrName>fill.type</p:attrName>
                                        </p:attrNameLst>
                                      </p:cBhvr>
                                      <p:to>
                                        <p:strVal val="solid"/>
                                      </p:to>
                                    </p:set>
                                  </p:childTnLst>
                                </p:cTn>
                              </p:par>
                              <p:par>
                                <p:cTn id="56" presetID="24" presetClass="emph" presetSubtype="0" fill="hold" nodeType="withEffect">
                                  <p:stCondLst>
                                    <p:cond delay="0"/>
                                  </p:stCondLst>
                                  <p:childTnLst>
                                    <p:animClr clrSpc="hsl" dir="cw">
                                      <p:cBhvr override="childStyle">
                                        <p:cTn id="57" dur="500" fill="hold"/>
                                        <p:tgtEl>
                                          <p:spTgt spid="3">
                                            <p:txEl>
                                              <p:pRg st="11" end="11"/>
                                            </p:txEl>
                                          </p:spTgt>
                                        </p:tgtEl>
                                        <p:attrNameLst>
                                          <p:attrName>style.color</p:attrName>
                                        </p:attrNameLst>
                                      </p:cBhvr>
                                      <p:by>
                                        <p:hsl h="0" s="-12549" l="-25098"/>
                                      </p:by>
                                    </p:animClr>
                                    <p:animClr clrSpc="hsl" dir="cw">
                                      <p:cBhvr>
                                        <p:cTn id="58" dur="500" fill="hold"/>
                                        <p:tgtEl>
                                          <p:spTgt spid="3">
                                            <p:txEl>
                                              <p:pRg st="11" end="11"/>
                                            </p:txEl>
                                          </p:spTgt>
                                        </p:tgtEl>
                                        <p:attrNameLst>
                                          <p:attrName>fillcolor</p:attrName>
                                        </p:attrNameLst>
                                      </p:cBhvr>
                                      <p:by>
                                        <p:hsl h="0" s="-12549" l="-25098"/>
                                      </p:by>
                                    </p:animClr>
                                    <p:animClr clrSpc="hsl" dir="cw">
                                      <p:cBhvr>
                                        <p:cTn id="59" dur="500" fill="hold"/>
                                        <p:tgtEl>
                                          <p:spTgt spid="3">
                                            <p:txEl>
                                              <p:pRg st="11" end="11"/>
                                            </p:txEl>
                                          </p:spTgt>
                                        </p:tgtEl>
                                        <p:attrNameLst>
                                          <p:attrName>stroke.color</p:attrName>
                                        </p:attrNameLst>
                                      </p:cBhvr>
                                      <p:by>
                                        <p:hsl h="0" s="-12549" l="-25098"/>
                                      </p:by>
                                    </p:animClr>
                                    <p:set>
                                      <p:cBhvr>
                                        <p:cTn id="60" dur="500" fill="hold"/>
                                        <p:tgtEl>
                                          <p:spTgt spid="3">
                                            <p:txEl>
                                              <p:pRg st="11" end="11"/>
                                            </p:txEl>
                                          </p:spTgt>
                                        </p:tgtEl>
                                        <p:attrNameLst>
                                          <p:attrName>fill.type</p:attrName>
                                        </p:attrNameLst>
                                      </p:cBhvr>
                                      <p:to>
                                        <p:strVal val="solid"/>
                                      </p:to>
                                    </p:set>
                                  </p:childTnLst>
                                </p:cTn>
                              </p:par>
                              <p:par>
                                <p:cTn id="61" presetID="24" presetClass="emph" presetSubtype="0" fill="hold" nodeType="withEffect">
                                  <p:stCondLst>
                                    <p:cond delay="0"/>
                                  </p:stCondLst>
                                  <p:childTnLst>
                                    <p:animClr clrSpc="hsl" dir="cw">
                                      <p:cBhvr override="childStyle">
                                        <p:cTn id="62" dur="500" fill="hold"/>
                                        <p:tgtEl>
                                          <p:spTgt spid="3">
                                            <p:txEl>
                                              <p:pRg st="12" end="12"/>
                                            </p:txEl>
                                          </p:spTgt>
                                        </p:tgtEl>
                                        <p:attrNameLst>
                                          <p:attrName>style.color</p:attrName>
                                        </p:attrNameLst>
                                      </p:cBhvr>
                                      <p:by>
                                        <p:hsl h="0" s="-12549" l="-25098"/>
                                      </p:by>
                                    </p:animClr>
                                    <p:animClr clrSpc="hsl" dir="cw">
                                      <p:cBhvr>
                                        <p:cTn id="63" dur="500" fill="hold"/>
                                        <p:tgtEl>
                                          <p:spTgt spid="3">
                                            <p:txEl>
                                              <p:pRg st="12" end="12"/>
                                            </p:txEl>
                                          </p:spTgt>
                                        </p:tgtEl>
                                        <p:attrNameLst>
                                          <p:attrName>fillcolor</p:attrName>
                                        </p:attrNameLst>
                                      </p:cBhvr>
                                      <p:by>
                                        <p:hsl h="0" s="-12549" l="-25098"/>
                                      </p:by>
                                    </p:animClr>
                                    <p:animClr clrSpc="hsl" dir="cw">
                                      <p:cBhvr>
                                        <p:cTn id="64" dur="500" fill="hold"/>
                                        <p:tgtEl>
                                          <p:spTgt spid="3">
                                            <p:txEl>
                                              <p:pRg st="12" end="12"/>
                                            </p:txEl>
                                          </p:spTgt>
                                        </p:tgtEl>
                                        <p:attrNameLst>
                                          <p:attrName>stroke.color</p:attrName>
                                        </p:attrNameLst>
                                      </p:cBhvr>
                                      <p:by>
                                        <p:hsl h="0" s="-12549" l="-25098"/>
                                      </p:by>
                                    </p:animClr>
                                    <p:set>
                                      <p:cBhvr>
                                        <p:cTn id="65" dur="500" fill="hold"/>
                                        <p:tgtEl>
                                          <p:spTgt spid="3">
                                            <p:txEl>
                                              <p:pRg st="12" end="1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96507F5D-EBB3-1A7B-65B1-EE19853C30C6}"/>
              </a:ext>
            </a:extLst>
          </p:cNvPr>
          <p:cNvSpPr txBox="1"/>
          <p:nvPr/>
        </p:nvSpPr>
        <p:spPr>
          <a:xfrm>
            <a:off x="821266" y="1099235"/>
            <a:ext cx="9999133" cy="2585323"/>
          </a:xfrm>
          <a:prstGeom prst="rect">
            <a:avLst/>
          </a:prstGeom>
          <a:noFill/>
        </p:spPr>
        <p:txBody>
          <a:bodyPr wrap="square">
            <a:spAutoFit/>
          </a:bodyPr>
          <a:lstStyle/>
          <a:p>
            <a:pPr algn="ctr"/>
            <a:r>
              <a:rPr lang="es-ES" b="1" dirty="0"/>
              <a:t>Estructura interrogativa  del Pasado Simple (Simple Past):</a:t>
            </a:r>
          </a:p>
          <a:p>
            <a:pPr algn="ctr"/>
            <a:r>
              <a:rPr lang="en-US" dirty="0"/>
              <a:t>Did + Subject + Base Form Verb + Complement?</a:t>
            </a:r>
          </a:p>
          <a:p>
            <a:pPr algn="ctr"/>
            <a:r>
              <a:rPr lang="es-ES" dirty="0"/>
              <a:t>¿ + Verbo en Pasado Simple + Sujeto + Complemento + ?</a:t>
            </a:r>
          </a:p>
          <a:p>
            <a:r>
              <a:rPr lang="es-ES" dirty="0"/>
              <a:t>Ejemplos </a:t>
            </a:r>
          </a:p>
          <a:p>
            <a:pPr marL="342900" indent="-342900">
              <a:buFont typeface="+mj-lt"/>
              <a:buAutoNum type="arabicPeriod"/>
            </a:pPr>
            <a:r>
              <a:rPr lang="es-ES" dirty="0" err="1"/>
              <a:t>Did</a:t>
            </a:r>
            <a:r>
              <a:rPr lang="es-ES" dirty="0"/>
              <a:t> </a:t>
            </a:r>
            <a:r>
              <a:rPr lang="es-ES" dirty="0" err="1"/>
              <a:t>you</a:t>
            </a:r>
            <a:r>
              <a:rPr lang="es-ES" dirty="0"/>
              <a:t> </a:t>
            </a:r>
            <a:r>
              <a:rPr lang="es-ES" dirty="0" err="1"/>
              <a:t>study</a:t>
            </a:r>
            <a:r>
              <a:rPr lang="es-ES" dirty="0"/>
              <a:t> </a:t>
            </a:r>
            <a:r>
              <a:rPr lang="es-ES" dirty="0" err="1"/>
              <a:t>Chemistry</a:t>
            </a:r>
            <a:r>
              <a:rPr lang="es-ES" dirty="0"/>
              <a:t> </a:t>
            </a:r>
            <a:r>
              <a:rPr lang="es-ES" dirty="0" err="1"/>
              <a:t>yesterday</a:t>
            </a:r>
            <a:r>
              <a:rPr lang="es-ES" dirty="0"/>
              <a:t>? | ¿Estudiaste Química ayer? </a:t>
            </a:r>
          </a:p>
          <a:p>
            <a:pPr marL="342900" indent="-342900">
              <a:buFont typeface="+mj-lt"/>
              <a:buAutoNum type="arabicPeriod"/>
            </a:pPr>
            <a:r>
              <a:rPr lang="es-ES" dirty="0"/>
              <a:t> | </a:t>
            </a:r>
            <a:r>
              <a:rPr lang="es-ES" dirty="0" err="1"/>
              <a:t>Did</a:t>
            </a:r>
            <a:r>
              <a:rPr lang="es-ES" dirty="0"/>
              <a:t> </a:t>
            </a:r>
            <a:r>
              <a:rPr lang="es-ES" dirty="0" err="1"/>
              <a:t>they</a:t>
            </a:r>
            <a:r>
              <a:rPr lang="es-ES" dirty="0"/>
              <a:t> </a:t>
            </a:r>
            <a:r>
              <a:rPr lang="es-ES" dirty="0" err="1"/>
              <a:t>finish</a:t>
            </a:r>
            <a:r>
              <a:rPr lang="es-ES" dirty="0"/>
              <a:t> </a:t>
            </a:r>
            <a:r>
              <a:rPr lang="es-ES" dirty="0" err="1"/>
              <a:t>the</a:t>
            </a:r>
            <a:r>
              <a:rPr lang="es-ES" dirty="0"/>
              <a:t> </a:t>
            </a:r>
            <a:r>
              <a:rPr lang="es-ES" dirty="0" err="1"/>
              <a:t>project</a:t>
            </a:r>
            <a:r>
              <a:rPr lang="es-ES" dirty="0"/>
              <a:t> </a:t>
            </a:r>
            <a:r>
              <a:rPr lang="es-ES" dirty="0" err="1"/>
              <a:t>early</a:t>
            </a:r>
            <a:r>
              <a:rPr lang="es-ES" dirty="0"/>
              <a:t>? | ¿Terminaron ellos el proyecto temprano? </a:t>
            </a:r>
          </a:p>
          <a:p>
            <a:pPr marL="342900" indent="-342900">
              <a:buFont typeface="+mj-lt"/>
              <a:buAutoNum type="arabicPeriod"/>
            </a:pPr>
            <a:r>
              <a:rPr lang="es-ES" dirty="0"/>
              <a:t> |  | </a:t>
            </a:r>
            <a:r>
              <a:rPr lang="es-ES" dirty="0" err="1"/>
              <a:t>Did</a:t>
            </a:r>
            <a:r>
              <a:rPr lang="es-ES" dirty="0"/>
              <a:t> </a:t>
            </a:r>
            <a:r>
              <a:rPr lang="es-ES" dirty="0" err="1"/>
              <a:t>she</a:t>
            </a:r>
            <a:r>
              <a:rPr lang="es-ES" dirty="0"/>
              <a:t> </a:t>
            </a:r>
            <a:r>
              <a:rPr lang="es-ES" dirty="0" err="1"/>
              <a:t>go</a:t>
            </a:r>
            <a:r>
              <a:rPr lang="es-ES" dirty="0"/>
              <a:t> </a:t>
            </a:r>
            <a:r>
              <a:rPr lang="es-ES" dirty="0" err="1"/>
              <a:t>to</a:t>
            </a:r>
            <a:r>
              <a:rPr lang="es-ES" dirty="0"/>
              <a:t> </a:t>
            </a:r>
            <a:r>
              <a:rPr lang="es-ES" dirty="0" err="1"/>
              <a:t>the</a:t>
            </a:r>
            <a:r>
              <a:rPr lang="es-ES" dirty="0"/>
              <a:t> store </a:t>
            </a:r>
            <a:r>
              <a:rPr lang="es-ES" dirty="0" err="1"/>
              <a:t>yesterday</a:t>
            </a:r>
            <a:r>
              <a:rPr lang="es-ES" dirty="0"/>
              <a:t>? | ¿Fue ella a la tienda ayer?</a:t>
            </a:r>
          </a:p>
          <a:p>
            <a:pPr marL="342900" indent="-342900">
              <a:buFont typeface="+mj-lt"/>
              <a:buAutoNum type="arabicPeriod"/>
            </a:pPr>
            <a:r>
              <a:rPr lang="es-ES" dirty="0"/>
              <a:t>| </a:t>
            </a:r>
            <a:r>
              <a:rPr lang="es-ES" dirty="0" err="1"/>
              <a:t>Did</a:t>
            </a:r>
            <a:r>
              <a:rPr lang="es-ES" dirty="0"/>
              <a:t> </a:t>
            </a:r>
            <a:r>
              <a:rPr lang="es-ES" dirty="0" err="1"/>
              <a:t>we</a:t>
            </a:r>
            <a:r>
              <a:rPr lang="es-ES" dirty="0"/>
              <a:t> </a:t>
            </a:r>
            <a:r>
              <a:rPr lang="es-ES" dirty="0" err="1"/>
              <a:t>buy</a:t>
            </a:r>
            <a:r>
              <a:rPr lang="es-ES" dirty="0"/>
              <a:t> a new car last </a:t>
            </a:r>
            <a:r>
              <a:rPr lang="es-ES" dirty="0" err="1"/>
              <a:t>month</a:t>
            </a:r>
            <a:r>
              <a:rPr lang="es-ES" dirty="0"/>
              <a:t>? | ¿Compramos nosotros un coche nuevo el mes pasado? </a:t>
            </a:r>
          </a:p>
          <a:p>
            <a:pPr marL="342900" indent="-342900">
              <a:buFont typeface="+mj-lt"/>
              <a:buAutoNum type="arabicPeriod"/>
            </a:pPr>
            <a:r>
              <a:rPr lang="es-ES" dirty="0"/>
              <a:t>|  | </a:t>
            </a:r>
            <a:r>
              <a:rPr lang="es-ES" dirty="0" err="1"/>
              <a:t>Did</a:t>
            </a:r>
            <a:r>
              <a:rPr lang="es-ES" dirty="0"/>
              <a:t> he </a:t>
            </a:r>
            <a:r>
              <a:rPr lang="es-ES" dirty="0" err="1"/>
              <a:t>play</a:t>
            </a:r>
            <a:r>
              <a:rPr lang="es-ES" dirty="0"/>
              <a:t> soccer in </a:t>
            </a:r>
            <a:r>
              <a:rPr lang="es-ES" dirty="0" err="1"/>
              <a:t>the</a:t>
            </a:r>
            <a:r>
              <a:rPr lang="es-ES" dirty="0"/>
              <a:t> </a:t>
            </a:r>
            <a:r>
              <a:rPr lang="es-ES" dirty="0" err="1"/>
              <a:t>park</a:t>
            </a:r>
            <a:r>
              <a:rPr lang="es-ES" dirty="0"/>
              <a:t>? | ¿Jugó él fútbol en el parque? </a:t>
            </a:r>
          </a:p>
        </p:txBody>
      </p:sp>
    </p:spTree>
    <p:extLst>
      <p:ext uri="{BB962C8B-B14F-4D97-AF65-F5344CB8AC3E}">
        <p14:creationId xmlns:p14="http://schemas.microsoft.com/office/powerpoint/2010/main" val="396793537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grpId="0" nodeType="clickEffect">
                                  <p:stCondLst>
                                    <p:cond delay="0"/>
                                  </p:stCondLst>
                                  <p:iterate type="lt">
                                    <p:tmAbs val="25"/>
                                  </p:iterate>
                                  <p:childTnLst>
                                    <p:set>
                                      <p:cBhvr override="childStyle">
                                        <p:cTn id="6" dur="indefinite"/>
                                        <p:tgtEl>
                                          <p:spTgt spid="5"/>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0C82601-7AAA-E732-B74C-2353B9BA2F63}"/>
              </a:ext>
            </a:extLst>
          </p:cNvPr>
          <p:cNvSpPr/>
          <p:nvPr/>
        </p:nvSpPr>
        <p:spPr>
          <a:xfrm>
            <a:off x="1542599" y="1959802"/>
            <a:ext cx="9801080" cy="1754326"/>
          </a:xfrm>
          <a:prstGeom prst="rect">
            <a:avLst/>
          </a:prstGeom>
          <a:noFill/>
        </p:spPr>
        <p:txBody>
          <a:bodyPr wrap="none" lIns="91440" tIns="45720" rIns="91440" bIns="45720">
            <a:spAutoFit/>
          </a:bodyPr>
          <a:lstStyle/>
          <a:p>
            <a:pPr algn="ctr"/>
            <a:r>
              <a:rPr lang="es-ES" sz="5400" b="1" cap="none" spc="0" dirty="0">
                <a:ln w="22225">
                  <a:solidFill>
                    <a:schemeClr val="accent2"/>
                  </a:solidFill>
                  <a:prstDash val="solid"/>
                </a:ln>
                <a:solidFill>
                  <a:schemeClr val="accent2">
                    <a:lumMod val="40000"/>
                    <a:lumOff val="60000"/>
                  </a:schemeClr>
                </a:solidFill>
                <a:effectLst/>
              </a:rPr>
              <a:t>MUCHAS GRACIAS POR VER </a:t>
            </a:r>
          </a:p>
          <a:p>
            <a:pPr algn="ctr"/>
            <a:r>
              <a:rPr lang="es-ES" sz="5400" b="1" dirty="0">
                <a:ln w="22225">
                  <a:solidFill>
                    <a:schemeClr val="accent2"/>
                  </a:solidFill>
                  <a:prstDash val="solid"/>
                </a:ln>
                <a:solidFill>
                  <a:schemeClr val="accent2">
                    <a:lumMod val="40000"/>
                    <a:lumOff val="60000"/>
                  </a:schemeClr>
                </a:solidFill>
                <a:sym typeface="Wingdings" panose="05000000000000000000" pitchFamily="2" charset="2"/>
              </a:rPr>
              <a:t> </a:t>
            </a:r>
            <a:endParaRPr lang="es-ES" sz="5400"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2472420290"/>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ánico">
  <a:themeElements>
    <a:clrScheme name="Azul">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rgánico">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ánico">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183</TotalTime>
  <Words>1028</Words>
  <Application>Microsoft Office PowerPoint</Application>
  <PresentationFormat>Panorámica</PresentationFormat>
  <Paragraphs>123</Paragraphs>
  <Slides>13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Garamond</vt:lpstr>
      <vt:lpstr>Wingdings</vt:lpstr>
      <vt:lpstr>Orgánico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marientamaraseguracarvajal@gmail.com</dc:creator>
  <cp:lastModifiedBy>marientamaraseguracarvajal@gmail.com</cp:lastModifiedBy>
  <cp:revision>2</cp:revision>
  <dcterms:created xsi:type="dcterms:W3CDTF">2025-11-06T22:57:57Z</dcterms:created>
  <dcterms:modified xsi:type="dcterms:W3CDTF">2025-11-08T21:31:39Z</dcterms:modified>
</cp:coreProperties>
</file>