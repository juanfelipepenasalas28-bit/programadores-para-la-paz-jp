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Geist" panose="020B0604020202020204" charset="0"/>
      <p:regular r:id="rId13"/>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3" d="100"/>
          <a:sy n="53" d="100"/>
        </p:scale>
        <p:origin x="74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3030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01620">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793790" y="2731413"/>
            <a:ext cx="7556421" cy="1474232"/>
          </a:xfrm>
          <a:prstGeom prst="rect">
            <a:avLst/>
          </a:prstGeom>
          <a:noFill/>
          <a:ln/>
        </p:spPr>
        <p:txBody>
          <a:bodyPr wrap="square" lIns="0" tIns="0" rIns="0" bIns="0" rtlCol="0" anchor="t"/>
          <a:lstStyle/>
          <a:p>
            <a:pPr marL="0" indent="0" algn="l">
              <a:lnSpc>
                <a:spcPts val="5800"/>
              </a:lnSpc>
              <a:buNone/>
            </a:pPr>
            <a:r>
              <a:rPr lang="en-US" sz="4450" b="1" dirty="0">
                <a:solidFill>
                  <a:srgbClr val="F2F5FA"/>
                </a:solidFill>
                <a:latin typeface="Geist Bold" pitchFamily="34" charset="0"/>
                <a:ea typeface="Geist Bold" pitchFamily="34" charset="-122"/>
                <a:cs typeface="Geist Bold" pitchFamily="34" charset="-120"/>
              </a:rPr>
              <a:t>Las Venas Abiertas de América Latina</a:t>
            </a:r>
            <a:endParaRPr lang="en-US" sz="4450" dirty="0"/>
          </a:p>
        </p:txBody>
      </p:sp>
      <p:sp>
        <p:nvSpPr>
          <p:cNvPr id="4" name="Text 1"/>
          <p:cNvSpPr/>
          <p:nvPr/>
        </p:nvSpPr>
        <p:spPr>
          <a:xfrm>
            <a:off x="793790" y="4545806"/>
            <a:ext cx="7556421" cy="294799"/>
          </a:xfrm>
          <a:prstGeom prst="rect">
            <a:avLst/>
          </a:prstGeom>
          <a:noFill/>
          <a:ln/>
        </p:spPr>
        <p:txBody>
          <a:bodyPr wrap="none" lIns="0" tIns="0" rIns="0" bIns="0" rtlCol="0" anchor="t"/>
          <a:lstStyle/>
          <a:p>
            <a:pPr marL="0" indent="0" algn="l">
              <a:lnSpc>
                <a:spcPts val="2300"/>
              </a:lnSpc>
              <a:buNone/>
            </a:pPr>
            <a:r>
              <a:rPr lang="en-US" sz="1750" i="1" dirty="0">
                <a:solidFill>
                  <a:srgbClr val="EBEDF0"/>
                </a:solidFill>
                <a:latin typeface="Geist" pitchFamily="34" charset="0"/>
                <a:ea typeface="Geist" pitchFamily="34" charset="-122"/>
                <a:cs typeface="Geist" pitchFamily="34" charset="-120"/>
              </a:rPr>
              <a:t>Por Eduardo Galeano</a:t>
            </a:r>
            <a:endParaRPr lang="en-US" sz="1750" dirty="0"/>
          </a:p>
        </p:txBody>
      </p:sp>
      <p:sp>
        <p:nvSpPr>
          <p:cNvPr id="5" name="Shape 2"/>
          <p:cNvSpPr/>
          <p:nvPr/>
        </p:nvSpPr>
        <p:spPr>
          <a:xfrm>
            <a:off x="793790" y="5110996"/>
            <a:ext cx="1942505" cy="371832"/>
          </a:xfrm>
          <a:prstGeom prst="roundRect">
            <a:avLst>
              <a:gd name="adj" fmla="val 20497"/>
            </a:avLst>
          </a:prstGeom>
          <a:solidFill>
            <a:srgbClr val="00194D"/>
          </a:solidFill>
          <a:ln/>
        </p:spPr>
      </p:sp>
      <p:sp>
        <p:nvSpPr>
          <p:cNvPr id="6" name="Text 3"/>
          <p:cNvSpPr/>
          <p:nvPr/>
        </p:nvSpPr>
        <p:spPr>
          <a:xfrm>
            <a:off x="929878" y="5178981"/>
            <a:ext cx="1670328" cy="235863"/>
          </a:xfrm>
          <a:prstGeom prst="rect">
            <a:avLst/>
          </a:prstGeom>
          <a:noFill/>
          <a:ln/>
        </p:spPr>
        <p:txBody>
          <a:bodyPr wrap="none" lIns="0" tIns="0" rIns="0" bIns="0" rtlCol="0" anchor="t"/>
          <a:lstStyle/>
          <a:p>
            <a:pPr marL="0" indent="0" algn="l">
              <a:lnSpc>
                <a:spcPts val="1850"/>
              </a:lnSpc>
              <a:buNone/>
            </a:pPr>
            <a:r>
              <a:rPr lang="en-US" sz="1400" dirty="0">
                <a:solidFill>
                  <a:srgbClr val="EBEDF0"/>
                </a:solidFill>
                <a:latin typeface="Geist" pitchFamily="34" charset="0"/>
                <a:ea typeface="Geist" pitchFamily="34" charset="-122"/>
                <a:cs typeface="Geist" pitchFamily="34" charset="-120"/>
              </a:rPr>
              <a:t>ENSAYO HISTÓRICO</a:t>
            </a:r>
            <a:endParaRPr lang="en-US" sz="1400" dirty="0"/>
          </a:p>
        </p:txBody>
      </p:sp>
      <p:sp>
        <p:nvSpPr>
          <p:cNvPr id="7" name="Shape 4"/>
          <p:cNvSpPr/>
          <p:nvPr/>
        </p:nvSpPr>
        <p:spPr>
          <a:xfrm>
            <a:off x="2849642" y="5095756"/>
            <a:ext cx="644723" cy="402312"/>
          </a:xfrm>
          <a:prstGeom prst="roundRect">
            <a:avLst>
              <a:gd name="adj" fmla="val 18944"/>
            </a:avLst>
          </a:prstGeom>
          <a:noFill/>
          <a:ln w="15240">
            <a:solidFill>
              <a:srgbClr val="6296FF"/>
            </a:solidFill>
            <a:prstDash val="solid"/>
          </a:ln>
        </p:spPr>
      </p:sp>
      <p:sp>
        <p:nvSpPr>
          <p:cNvPr id="8" name="Text 5"/>
          <p:cNvSpPr/>
          <p:nvPr/>
        </p:nvSpPr>
        <p:spPr>
          <a:xfrm>
            <a:off x="3000970" y="5178981"/>
            <a:ext cx="342067" cy="235863"/>
          </a:xfrm>
          <a:prstGeom prst="rect">
            <a:avLst/>
          </a:prstGeom>
          <a:noFill/>
          <a:ln/>
        </p:spPr>
        <p:txBody>
          <a:bodyPr wrap="none" lIns="0" tIns="0" rIns="0" bIns="0" rtlCol="0" anchor="t"/>
          <a:lstStyle/>
          <a:p>
            <a:pPr marL="0" indent="0" algn="l">
              <a:lnSpc>
                <a:spcPts val="1850"/>
              </a:lnSpc>
              <a:buNone/>
            </a:pPr>
            <a:r>
              <a:rPr lang="en-US" sz="1400" dirty="0">
                <a:solidFill>
                  <a:srgbClr val="6296FF"/>
                </a:solidFill>
                <a:latin typeface="Geist" pitchFamily="34" charset="0"/>
                <a:ea typeface="Geist" pitchFamily="34" charset="-122"/>
                <a:cs typeface="Geist" pitchFamily="34" charset="-120"/>
              </a:rPr>
              <a:t>1971</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heel(1)">
                                      <p:cBhvr>
                                        <p:cTn id="14" dur="2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inVertical)">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fade">
                                      <p:cBhvr>
                                        <p:cTn id="28" dur="1000"/>
                                        <p:tgtEl>
                                          <p:spTgt spid="2"/>
                                        </p:tgtEl>
                                      </p:cBhvr>
                                    </p:animEffect>
                                    <p:anim calcmode="lin" valueType="num">
                                      <p:cBhvr>
                                        <p:cTn id="29" dur="1000" fill="hold"/>
                                        <p:tgtEl>
                                          <p:spTgt spid="2"/>
                                        </p:tgtEl>
                                        <p:attrNameLst>
                                          <p:attrName>ppt_x</p:attrName>
                                        </p:attrNameLst>
                                      </p:cBhvr>
                                      <p:tavLst>
                                        <p:tav tm="0">
                                          <p:val>
                                            <p:strVal val="#ppt_x"/>
                                          </p:val>
                                        </p:tav>
                                        <p:tav tm="100000">
                                          <p:val>
                                            <p:strVal val="#ppt_x"/>
                                          </p:val>
                                        </p:tav>
                                      </p:tavLst>
                                    </p:anim>
                                    <p:anim calcmode="lin" valueType="num">
                                      <p:cBhvr>
                                        <p:cTn id="3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869680" y="0"/>
            <a:ext cx="5760720" cy="8229600"/>
          </a:xfrm>
          <a:prstGeom prst="rect">
            <a:avLst/>
          </a:prstGeom>
          <a:solidFill>
            <a:srgbClr val="101620"/>
          </a:solidFill>
          <a:ln/>
        </p:spPr>
      </p:sp>
      <p:pic>
        <p:nvPicPr>
          <p:cNvPr id="3" name="Image 0" descr="preencoded.png"/>
          <p:cNvPicPr>
            <a:picLocks noChangeAspect="1"/>
          </p:cNvPicPr>
          <p:nvPr/>
        </p:nvPicPr>
        <p:blipFill>
          <a:blip r:embed="rId3"/>
          <a:stretch>
            <a:fillRect/>
          </a:stretch>
        </p:blipFill>
        <p:spPr>
          <a:xfrm>
            <a:off x="10309265" y="1309688"/>
            <a:ext cx="4207669" cy="5610225"/>
          </a:xfrm>
          <a:prstGeom prst="rect">
            <a:avLst/>
          </a:prstGeom>
        </p:spPr>
      </p:pic>
      <p:sp>
        <p:nvSpPr>
          <p:cNvPr id="4" name="Text 1"/>
          <p:cNvSpPr/>
          <p:nvPr/>
        </p:nvSpPr>
        <p:spPr>
          <a:xfrm>
            <a:off x="793790" y="956786"/>
            <a:ext cx="7556421" cy="2211348"/>
          </a:xfrm>
          <a:prstGeom prst="rect">
            <a:avLst/>
          </a:prstGeom>
          <a:noFill/>
          <a:ln/>
        </p:spPr>
        <p:txBody>
          <a:bodyPr wrap="square" lIns="0" tIns="0" rIns="0" bIns="0" rtlCol="0" anchor="t"/>
          <a:lstStyle/>
          <a:p>
            <a:pPr marL="0" indent="0" algn="l">
              <a:lnSpc>
                <a:spcPts val="5800"/>
              </a:lnSpc>
              <a:buNone/>
            </a:pPr>
            <a:r>
              <a:rPr lang="en-US" sz="4450" b="1" dirty="0">
                <a:solidFill>
                  <a:srgbClr val="F2F5FA"/>
                </a:solidFill>
                <a:latin typeface="Geist Bold" pitchFamily="34" charset="0"/>
                <a:ea typeface="Geist Bold" pitchFamily="34" charset="-122"/>
                <a:cs typeface="Geist Bold" pitchFamily="34" charset="-120"/>
              </a:rPr>
              <a:t>Ciento Veinte Millones de Niños en el Centro de la Tormenta</a:t>
            </a:r>
            <a:endParaRPr lang="en-US" sz="4450" dirty="0"/>
          </a:p>
        </p:txBody>
      </p:sp>
      <p:sp>
        <p:nvSpPr>
          <p:cNvPr id="5" name="Text 2"/>
          <p:cNvSpPr/>
          <p:nvPr/>
        </p:nvSpPr>
        <p:spPr>
          <a:xfrm>
            <a:off x="793790" y="3508296"/>
            <a:ext cx="7556421" cy="589598"/>
          </a:xfrm>
          <a:prstGeom prst="rect">
            <a:avLst/>
          </a:prstGeom>
          <a:noFill/>
          <a:ln/>
        </p:spPr>
        <p:txBody>
          <a:bodyPr wrap="square" lIns="0" tIns="0" rIns="0" bIns="0" rtlCol="0" anchor="t"/>
          <a:lstStyle/>
          <a:p>
            <a:pPr marL="0" indent="0" algn="l">
              <a:lnSpc>
                <a:spcPts val="2300"/>
              </a:lnSpc>
              <a:buNone/>
            </a:pPr>
            <a:r>
              <a:rPr lang="en-US" sz="1750" b="1" dirty="0">
                <a:solidFill>
                  <a:srgbClr val="EBEDF0"/>
                </a:solidFill>
                <a:latin typeface="Geist" pitchFamily="34" charset="0"/>
                <a:ea typeface="Geist" pitchFamily="34" charset="-122"/>
                <a:cs typeface="Geist" pitchFamily="34" charset="-120"/>
              </a:rPr>
              <a:t>"Hemos guardado un silencio bastante parecido a la estupidez."</a:t>
            </a:r>
            <a:r>
              <a:rPr lang="en-US" sz="1750" dirty="0">
                <a:solidFill>
                  <a:srgbClr val="EBEDF0"/>
                </a:solidFill>
                <a:latin typeface="Geist" pitchFamily="34" charset="0"/>
                <a:ea typeface="Geist" pitchFamily="34" charset="-122"/>
                <a:cs typeface="Geist" pitchFamily="34" charset="-120"/>
              </a:rPr>
              <a:t> — Junta Tuitiva, La Paz, 1809</a:t>
            </a:r>
            <a:endParaRPr lang="en-US" sz="1750" dirty="0"/>
          </a:p>
        </p:txBody>
      </p:sp>
      <p:sp>
        <p:nvSpPr>
          <p:cNvPr id="6" name="Text 3"/>
          <p:cNvSpPr/>
          <p:nvPr/>
        </p:nvSpPr>
        <p:spPr>
          <a:xfrm>
            <a:off x="793790" y="4353044"/>
            <a:ext cx="7556421" cy="1473994"/>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La división internacional del trabajo: unos países se especializan en ganar, otros en perder. América Latina fue precoz —se especializó en perder desde el Renacimiento. Continúa existiendo como sirvienta: fuente de petróleo, hierro, cobre, carne, café y materias primas para los países ricos.</a:t>
            </a:r>
            <a:endParaRPr lang="en-US" sz="1750" dirty="0"/>
          </a:p>
        </p:txBody>
      </p:sp>
      <p:sp>
        <p:nvSpPr>
          <p:cNvPr id="7" name="Shape 4"/>
          <p:cNvSpPr/>
          <p:nvPr/>
        </p:nvSpPr>
        <p:spPr>
          <a:xfrm>
            <a:off x="793790" y="6082189"/>
            <a:ext cx="7556421" cy="1190506"/>
          </a:xfrm>
          <a:prstGeom prst="roundRect">
            <a:avLst>
              <a:gd name="adj" fmla="val 8002"/>
            </a:avLst>
          </a:prstGeom>
          <a:solidFill>
            <a:srgbClr val="00194D"/>
          </a:solidFill>
          <a:ln/>
        </p:spPr>
      </p:sp>
      <p:pic>
        <p:nvPicPr>
          <p:cNvPr id="8" name="Image 1" descr="preencoded.png"/>
          <p:cNvPicPr>
            <a:picLocks noChangeAspect="1"/>
          </p:cNvPicPr>
          <p:nvPr/>
        </p:nvPicPr>
        <p:blipFill>
          <a:blip r:embed="rId4"/>
          <a:stretch>
            <a:fillRect/>
          </a:stretch>
        </p:blipFill>
        <p:spPr>
          <a:xfrm>
            <a:off x="1020604" y="6388179"/>
            <a:ext cx="283488" cy="226814"/>
          </a:xfrm>
          <a:prstGeom prst="rect">
            <a:avLst/>
          </a:prstGeom>
        </p:spPr>
      </p:pic>
      <p:sp>
        <p:nvSpPr>
          <p:cNvPr id="9" name="Text 5"/>
          <p:cNvSpPr/>
          <p:nvPr/>
        </p:nvSpPr>
        <p:spPr>
          <a:xfrm>
            <a:off x="1530906" y="6365677"/>
            <a:ext cx="6592491" cy="589598"/>
          </a:xfrm>
          <a:prstGeom prst="rect">
            <a:avLst/>
          </a:prstGeom>
          <a:noFill/>
          <a:ln/>
        </p:spPr>
        <p:txBody>
          <a:bodyPr wrap="square" lIns="0" tIns="0" rIns="0" bIns="0" rtlCol="0" anchor="t"/>
          <a:lstStyle/>
          <a:p>
            <a:pPr marL="0" indent="0" algn="l">
              <a:lnSpc>
                <a:spcPts val="2300"/>
              </a:lnSpc>
              <a:buNone/>
            </a:pPr>
            <a:r>
              <a:rPr lang="en-US" sz="1750" b="1" dirty="0">
                <a:solidFill>
                  <a:srgbClr val="FFFFFF"/>
                </a:solidFill>
                <a:latin typeface="Geist" pitchFamily="34" charset="0"/>
                <a:ea typeface="Geist" pitchFamily="34" charset="-122"/>
                <a:cs typeface="Geist" pitchFamily="34" charset="-120"/>
              </a:rPr>
              <a:t>"Hablar de precios justos en la actualidad es un concepto medieval."</a:t>
            </a:r>
            <a:r>
              <a:rPr lang="en-US" sz="1750" dirty="0">
                <a:solidFill>
                  <a:srgbClr val="FFFFFF"/>
                </a:solidFill>
                <a:latin typeface="Geist" pitchFamily="34" charset="0"/>
                <a:ea typeface="Geist" pitchFamily="34" charset="-122"/>
                <a:cs typeface="Geist" pitchFamily="34" charset="-120"/>
              </a:rPr>
              <a:t> — Covey T. Oliver, Alianza para el Progreso, 1968</a:t>
            </a:r>
            <a:endParaRPr lang="en-US" sz="175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4"/>
                                        </p:tgtEl>
                                        <p:attrNameLst>
                                          <p:attrName>ppt_x</p:attrName>
                                          <p:attrName>ppt_y</p:attrName>
                                        </p:attrNameLst>
                                      </p:cBhvr>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
                                          </p:val>
                                        </p:tav>
                                        <p:tav tm="100000">
                                          <p:val>
                                            <p:strVal val="#ppt_x"/>
                                          </p:val>
                                        </p:tav>
                                      </p:tavLst>
                                    </p:anim>
                                    <p:anim calcmode="lin" valueType="num">
                                      <p:cBhvr>
                                        <p:cTn id="1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2" presetClass="emph" presetSubtype="0" fill="hold" nodeType="clickEffect">
                                  <p:stCondLst>
                                    <p:cond delay="0"/>
                                  </p:stCondLst>
                                  <p:childTnLst>
                                    <p:animRot by="120000">
                                      <p:cBhvr>
                                        <p:cTn id="21" dur="100" fill="hold">
                                          <p:stCondLst>
                                            <p:cond delay="0"/>
                                          </p:stCondLst>
                                        </p:cTn>
                                        <p:tgtEl>
                                          <p:spTgt spid="6">
                                            <p:txEl>
                                              <p:pRg st="0" end="0"/>
                                            </p:txEl>
                                          </p:spTgt>
                                        </p:tgtEl>
                                        <p:attrNameLst>
                                          <p:attrName>r</p:attrName>
                                        </p:attrNameLst>
                                      </p:cBhvr>
                                    </p:animRot>
                                    <p:animRot by="-240000">
                                      <p:cBhvr>
                                        <p:cTn id="22" dur="200" fill="hold">
                                          <p:stCondLst>
                                            <p:cond delay="200"/>
                                          </p:stCondLst>
                                        </p:cTn>
                                        <p:tgtEl>
                                          <p:spTgt spid="6">
                                            <p:txEl>
                                              <p:pRg st="0" end="0"/>
                                            </p:txEl>
                                          </p:spTgt>
                                        </p:tgtEl>
                                        <p:attrNameLst>
                                          <p:attrName>r</p:attrName>
                                        </p:attrNameLst>
                                      </p:cBhvr>
                                    </p:animRot>
                                    <p:animRot by="240000">
                                      <p:cBhvr>
                                        <p:cTn id="23" dur="200" fill="hold">
                                          <p:stCondLst>
                                            <p:cond delay="400"/>
                                          </p:stCondLst>
                                        </p:cTn>
                                        <p:tgtEl>
                                          <p:spTgt spid="6">
                                            <p:txEl>
                                              <p:pRg st="0" end="0"/>
                                            </p:txEl>
                                          </p:spTgt>
                                        </p:tgtEl>
                                        <p:attrNameLst>
                                          <p:attrName>r</p:attrName>
                                        </p:attrNameLst>
                                      </p:cBhvr>
                                    </p:animRot>
                                    <p:animRot by="-240000">
                                      <p:cBhvr>
                                        <p:cTn id="24" dur="200" fill="hold">
                                          <p:stCondLst>
                                            <p:cond delay="600"/>
                                          </p:stCondLst>
                                        </p:cTn>
                                        <p:tgtEl>
                                          <p:spTgt spid="6">
                                            <p:txEl>
                                              <p:pRg st="0" end="0"/>
                                            </p:txEl>
                                          </p:spTgt>
                                        </p:tgtEl>
                                        <p:attrNameLst>
                                          <p:attrName>r</p:attrName>
                                        </p:attrNameLst>
                                      </p:cBhvr>
                                    </p:animRot>
                                    <p:animRot by="120000">
                                      <p:cBhvr>
                                        <p:cTn id="25" dur="200" fill="hold">
                                          <p:stCondLst>
                                            <p:cond delay="800"/>
                                          </p:stCondLst>
                                        </p:cTn>
                                        <p:tgtEl>
                                          <p:spTgt spid="6">
                                            <p:txEl>
                                              <p:pRg st="0" end="0"/>
                                            </p:txEl>
                                          </p:spTgt>
                                        </p:tgtEl>
                                        <p:attrNameLst>
                                          <p:attrName>r</p:attrName>
                                        </p:attrNameLst>
                                      </p:cBhvr>
                                    </p:animRo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32" presetClass="emph" presetSubtype="0" fill="hold" nodeType="clickEffect">
                                  <p:stCondLst>
                                    <p:cond delay="0"/>
                                  </p:stCondLst>
                                  <p:childTnLst>
                                    <p:animRot by="120000">
                                      <p:cBhvr>
                                        <p:cTn id="35" dur="100" fill="hold">
                                          <p:stCondLst>
                                            <p:cond delay="0"/>
                                          </p:stCondLst>
                                        </p:cTn>
                                        <p:tgtEl>
                                          <p:spTgt spid="7"/>
                                        </p:tgtEl>
                                        <p:attrNameLst>
                                          <p:attrName>r</p:attrName>
                                        </p:attrNameLst>
                                      </p:cBhvr>
                                    </p:animRot>
                                    <p:animRot by="-240000">
                                      <p:cBhvr>
                                        <p:cTn id="36" dur="200" fill="hold">
                                          <p:stCondLst>
                                            <p:cond delay="200"/>
                                          </p:stCondLst>
                                        </p:cTn>
                                        <p:tgtEl>
                                          <p:spTgt spid="7"/>
                                        </p:tgtEl>
                                        <p:attrNameLst>
                                          <p:attrName>r</p:attrName>
                                        </p:attrNameLst>
                                      </p:cBhvr>
                                    </p:animRot>
                                    <p:animRot by="240000">
                                      <p:cBhvr>
                                        <p:cTn id="37" dur="200" fill="hold">
                                          <p:stCondLst>
                                            <p:cond delay="400"/>
                                          </p:stCondLst>
                                        </p:cTn>
                                        <p:tgtEl>
                                          <p:spTgt spid="7"/>
                                        </p:tgtEl>
                                        <p:attrNameLst>
                                          <p:attrName>r</p:attrName>
                                        </p:attrNameLst>
                                      </p:cBhvr>
                                    </p:animRot>
                                    <p:animRot by="-240000">
                                      <p:cBhvr>
                                        <p:cTn id="38" dur="200" fill="hold">
                                          <p:stCondLst>
                                            <p:cond delay="600"/>
                                          </p:stCondLst>
                                        </p:cTn>
                                        <p:tgtEl>
                                          <p:spTgt spid="7"/>
                                        </p:tgtEl>
                                        <p:attrNameLst>
                                          <p:attrName>r</p:attrName>
                                        </p:attrNameLst>
                                      </p:cBhvr>
                                    </p:animRot>
                                    <p:animRot by="120000">
                                      <p:cBhvr>
                                        <p:cTn id="39" dur="200" fill="hold">
                                          <p:stCondLst>
                                            <p:cond delay="800"/>
                                          </p:stCondLst>
                                        </p:cTn>
                                        <p:tgtEl>
                                          <p:spTgt spid="7"/>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anim calcmode="lin" valueType="num">
                                      <p:cBhvr>
                                        <p:cTn id="45" dur="1000" fill="hold"/>
                                        <p:tgtEl>
                                          <p:spTgt spid="3"/>
                                        </p:tgtEl>
                                        <p:attrNameLst>
                                          <p:attrName>ppt_x</p:attrName>
                                        </p:attrNameLst>
                                      </p:cBhvr>
                                      <p:tavLst>
                                        <p:tav tm="0">
                                          <p:val>
                                            <p:strVal val="#ppt_x"/>
                                          </p:val>
                                        </p:tav>
                                        <p:tav tm="100000">
                                          <p:val>
                                            <p:strVal val="#ppt_x"/>
                                          </p:val>
                                        </p:tav>
                                      </p:tavLst>
                                    </p:anim>
                                    <p:anim calcmode="lin" valueType="num">
                                      <p:cBhvr>
                                        <p:cTn id="4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46836" y="601182"/>
            <a:ext cx="8740973" cy="587335"/>
          </a:xfrm>
          <a:prstGeom prst="rect">
            <a:avLst/>
          </a:prstGeom>
          <a:noFill/>
          <a:ln/>
        </p:spPr>
        <p:txBody>
          <a:bodyPr wrap="none" lIns="0" tIns="0" rIns="0" bIns="0" rtlCol="0" anchor="t"/>
          <a:lstStyle/>
          <a:p>
            <a:pPr marL="0" indent="0" algn="l">
              <a:lnSpc>
                <a:spcPts val="4600"/>
              </a:lnSpc>
              <a:buNone/>
            </a:pPr>
            <a:r>
              <a:rPr lang="en-US" sz="3550" b="1" dirty="0">
                <a:solidFill>
                  <a:srgbClr val="F2F5FA"/>
                </a:solidFill>
                <a:latin typeface="Geist Bold" pitchFamily="34" charset="0"/>
                <a:ea typeface="Geist Bold" pitchFamily="34" charset="-122"/>
                <a:cs typeface="Geist Bold" pitchFamily="34" charset="-120"/>
              </a:rPr>
              <a:t>La Derrota Implícita en la Victoria Ajena</a:t>
            </a:r>
            <a:endParaRPr lang="en-US" sz="3550" dirty="0"/>
          </a:p>
        </p:txBody>
      </p:sp>
      <p:sp>
        <p:nvSpPr>
          <p:cNvPr id="3" name="Text 1"/>
          <p:cNvSpPr/>
          <p:nvPr/>
        </p:nvSpPr>
        <p:spPr>
          <a:xfrm>
            <a:off x="1079183" y="3729173"/>
            <a:ext cx="6015395" cy="843915"/>
          </a:xfrm>
          <a:prstGeom prst="rect">
            <a:avLst/>
          </a:prstGeom>
          <a:noFill/>
          <a:ln/>
        </p:spPr>
        <p:txBody>
          <a:bodyPr wrap="square" lIns="0" tIns="0" rIns="0" bIns="0" rtlCol="0" anchor="t"/>
          <a:lstStyle/>
          <a:p>
            <a:pPr marL="0" indent="0" algn="l">
              <a:lnSpc>
                <a:spcPts val="1650"/>
              </a:lnSpc>
              <a:buNone/>
            </a:pPr>
            <a:r>
              <a:rPr lang="en-US" sz="1400" dirty="0">
                <a:solidFill>
                  <a:srgbClr val="EBEDF0"/>
                </a:solidFill>
                <a:latin typeface="Geist" pitchFamily="34" charset="0"/>
                <a:ea typeface="Geist" pitchFamily="34" charset="-122"/>
                <a:cs typeface="Geist" pitchFamily="34" charset="-120"/>
              </a:rPr>
              <a:t>Desde el descubrimiento, todo se ha trasmutado en capital europeo o norteamericano: la tierra, sus frutos, sus minerales, los hombres y su trabajo. </a:t>
            </a:r>
            <a:r>
              <a:rPr lang="en-US" sz="1400" b="1" dirty="0">
                <a:solidFill>
                  <a:srgbClr val="EBEDF0"/>
                </a:solidFill>
                <a:latin typeface="Geist" pitchFamily="34" charset="0"/>
                <a:ea typeface="Geist" pitchFamily="34" charset="-122"/>
                <a:cs typeface="Geist" pitchFamily="34" charset="-120"/>
              </a:rPr>
              <a:t>Nuestra riqueza ha generado siempre nuestra pobreza para alimentar la prosperidad de otros.</a:t>
            </a:r>
            <a:endParaRPr lang="en-US" sz="1400" dirty="0"/>
          </a:p>
        </p:txBody>
      </p:sp>
      <p:sp>
        <p:nvSpPr>
          <p:cNvPr id="4" name="Text 2"/>
          <p:cNvSpPr/>
          <p:nvPr/>
        </p:nvSpPr>
        <p:spPr>
          <a:xfrm>
            <a:off x="1079183" y="4686657"/>
            <a:ext cx="6015395" cy="632936"/>
          </a:xfrm>
          <a:prstGeom prst="rect">
            <a:avLst/>
          </a:prstGeom>
          <a:noFill/>
          <a:ln/>
        </p:spPr>
        <p:txBody>
          <a:bodyPr wrap="square" lIns="0" tIns="0" rIns="0" bIns="0" rtlCol="0" anchor="t"/>
          <a:lstStyle/>
          <a:p>
            <a:pPr marL="0" indent="0" algn="l">
              <a:lnSpc>
                <a:spcPts val="1650"/>
              </a:lnSpc>
              <a:buNone/>
            </a:pPr>
            <a:r>
              <a:rPr lang="en-US" sz="1400" dirty="0">
                <a:solidFill>
                  <a:srgbClr val="EBEDF0"/>
                </a:solidFill>
                <a:latin typeface="Geist" pitchFamily="34" charset="0"/>
                <a:ea typeface="Geist" pitchFamily="34" charset="-122"/>
                <a:cs typeface="Geist" pitchFamily="34" charset="-120"/>
              </a:rPr>
              <a:t>El ingreso de un norteamericano es </a:t>
            </a:r>
            <a:r>
              <a:rPr lang="en-US" sz="1400" b="1" dirty="0">
                <a:solidFill>
                  <a:srgbClr val="EBEDF0"/>
                </a:solidFill>
                <a:latin typeface="Geist" pitchFamily="34" charset="0"/>
                <a:ea typeface="Geist" pitchFamily="34" charset="-122"/>
                <a:cs typeface="Geist" pitchFamily="34" charset="-120"/>
              </a:rPr>
              <a:t>siete veces mayor</a:t>
            </a:r>
            <a:r>
              <a:rPr lang="en-US" sz="1400" dirty="0">
                <a:solidFill>
                  <a:srgbClr val="EBEDF0"/>
                </a:solidFill>
                <a:latin typeface="Geist" pitchFamily="34" charset="0"/>
                <a:ea typeface="Geist" pitchFamily="34" charset="-122"/>
                <a:cs typeface="Geist" pitchFamily="34" charset="-120"/>
              </a:rPr>
              <a:t> que el de un latinoamericano. Seis millones de latinoamericanos acaparan el mismo ingreso que ciento cuarenta millones en la base de la pirámide.</a:t>
            </a:r>
            <a:endParaRPr lang="en-US" sz="1400" dirty="0"/>
          </a:p>
        </p:txBody>
      </p:sp>
      <p:pic>
        <p:nvPicPr>
          <p:cNvPr id="5" name="Image 0" descr="preencoded.png"/>
          <p:cNvPicPr>
            <a:picLocks noChangeAspect="1"/>
          </p:cNvPicPr>
          <p:nvPr/>
        </p:nvPicPr>
        <p:blipFill>
          <a:blip r:embed="rId3"/>
          <a:stretch>
            <a:fillRect/>
          </a:stretch>
        </p:blipFill>
        <p:spPr>
          <a:xfrm>
            <a:off x="7543205" y="1508760"/>
            <a:ext cx="6015395" cy="6015395"/>
          </a:xfrm>
          <a:prstGeom prst="rect">
            <a:avLst/>
          </a:prstGeom>
        </p:spPr>
      </p:pic>
      <p:pic>
        <p:nvPicPr>
          <p:cNvPr id="6" name="Image 1" descr="preencoded.png"/>
          <p:cNvPicPr>
            <a:picLocks noChangeAspect="1"/>
          </p:cNvPicPr>
          <p:nvPr/>
        </p:nvPicPr>
        <p:blipFill>
          <a:blip r:embed="rId4"/>
          <a:stretch>
            <a:fillRect/>
          </a:stretch>
        </p:blipFill>
        <p:spPr>
          <a:xfrm>
            <a:off x="7543205" y="1508760"/>
            <a:ext cx="6015395" cy="6015395"/>
          </a:xfrm>
          <a:prstGeom prst="rect">
            <a:avLst/>
          </a:prstGeom>
        </p:spPr>
      </p:pic>
      <p:pic>
        <p:nvPicPr>
          <p:cNvPr id="12" name="Imagen 11">
            <a:extLst>
              <a:ext uri="{FF2B5EF4-FFF2-40B4-BE49-F238E27FC236}">
                <a16:creationId xmlns:a16="http://schemas.microsoft.com/office/drawing/2014/main" id="{855282C4-D8A1-B156-1CF5-7FE8276BFEA4}"/>
              </a:ext>
            </a:extLst>
          </p:cNvPr>
          <p:cNvPicPr>
            <a:picLocks noChangeAspect="1"/>
          </p:cNvPicPr>
          <p:nvPr/>
        </p:nvPicPr>
        <p:blipFill>
          <a:blip r:embed="rId5"/>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80">
                                          <p:stCondLst>
                                            <p:cond delay="0"/>
                                          </p:stCondLst>
                                        </p:cTn>
                                        <p:tgtEl>
                                          <p:spTgt spid="6"/>
                                        </p:tgtEl>
                                      </p:cBhvr>
                                    </p:animEffect>
                                    <p:anim calcmode="lin" valueType="num">
                                      <p:cBhvr>
                                        <p:cTn id="22"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7" dur="26">
                                          <p:stCondLst>
                                            <p:cond delay="650"/>
                                          </p:stCondLst>
                                        </p:cTn>
                                        <p:tgtEl>
                                          <p:spTgt spid="6"/>
                                        </p:tgtEl>
                                      </p:cBhvr>
                                      <p:to x="100000" y="60000"/>
                                    </p:animScale>
                                    <p:animScale>
                                      <p:cBhvr>
                                        <p:cTn id="28" dur="166" decel="50000">
                                          <p:stCondLst>
                                            <p:cond delay="676"/>
                                          </p:stCondLst>
                                        </p:cTn>
                                        <p:tgtEl>
                                          <p:spTgt spid="6"/>
                                        </p:tgtEl>
                                      </p:cBhvr>
                                      <p:to x="100000" y="100000"/>
                                    </p:animScale>
                                    <p:animScale>
                                      <p:cBhvr>
                                        <p:cTn id="29" dur="26">
                                          <p:stCondLst>
                                            <p:cond delay="1312"/>
                                          </p:stCondLst>
                                        </p:cTn>
                                        <p:tgtEl>
                                          <p:spTgt spid="6"/>
                                        </p:tgtEl>
                                      </p:cBhvr>
                                      <p:to x="100000" y="80000"/>
                                    </p:animScale>
                                    <p:animScale>
                                      <p:cBhvr>
                                        <p:cTn id="30" dur="166" decel="50000">
                                          <p:stCondLst>
                                            <p:cond delay="1338"/>
                                          </p:stCondLst>
                                        </p:cTn>
                                        <p:tgtEl>
                                          <p:spTgt spid="6"/>
                                        </p:tgtEl>
                                      </p:cBhvr>
                                      <p:to x="100000" y="100000"/>
                                    </p:animScale>
                                    <p:animScale>
                                      <p:cBhvr>
                                        <p:cTn id="31" dur="26">
                                          <p:stCondLst>
                                            <p:cond delay="1642"/>
                                          </p:stCondLst>
                                        </p:cTn>
                                        <p:tgtEl>
                                          <p:spTgt spid="6"/>
                                        </p:tgtEl>
                                      </p:cBhvr>
                                      <p:to x="100000" y="90000"/>
                                    </p:animScale>
                                    <p:animScale>
                                      <p:cBhvr>
                                        <p:cTn id="32" dur="166" decel="50000">
                                          <p:stCondLst>
                                            <p:cond delay="1668"/>
                                          </p:stCondLst>
                                        </p:cTn>
                                        <p:tgtEl>
                                          <p:spTgt spid="6"/>
                                        </p:tgtEl>
                                      </p:cBhvr>
                                      <p:to x="100000" y="100000"/>
                                    </p:animScale>
                                    <p:animScale>
                                      <p:cBhvr>
                                        <p:cTn id="33" dur="26">
                                          <p:stCondLst>
                                            <p:cond delay="1808"/>
                                          </p:stCondLst>
                                        </p:cTn>
                                        <p:tgtEl>
                                          <p:spTgt spid="6"/>
                                        </p:tgtEl>
                                      </p:cBhvr>
                                      <p:to x="100000" y="95000"/>
                                    </p:animScale>
                                    <p:animScale>
                                      <p:cBhvr>
                                        <p:cTn id="34"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869680" y="0"/>
            <a:ext cx="5760720" cy="8229600"/>
          </a:xfrm>
          <a:prstGeom prst="rect">
            <a:avLst/>
          </a:prstGeom>
          <a:solidFill>
            <a:srgbClr val="101620"/>
          </a:solidFill>
          <a:ln/>
        </p:spPr>
      </p:sp>
      <p:pic>
        <p:nvPicPr>
          <p:cNvPr id="3" name="Image 0" descr="preencoded.png"/>
          <p:cNvPicPr>
            <a:picLocks noChangeAspect="1"/>
          </p:cNvPicPr>
          <p:nvPr/>
        </p:nvPicPr>
        <p:blipFill>
          <a:blip r:embed="rId3"/>
          <a:stretch>
            <a:fillRect/>
          </a:stretch>
        </p:blipFill>
        <p:spPr>
          <a:xfrm>
            <a:off x="9954972" y="1302187"/>
            <a:ext cx="4568988" cy="6092070"/>
          </a:xfrm>
          <a:prstGeom prst="rect">
            <a:avLst/>
          </a:prstGeom>
        </p:spPr>
      </p:pic>
      <p:sp>
        <p:nvSpPr>
          <p:cNvPr id="4" name="Text 1"/>
          <p:cNvSpPr/>
          <p:nvPr/>
        </p:nvSpPr>
        <p:spPr>
          <a:xfrm>
            <a:off x="744260" y="599718"/>
            <a:ext cx="7655481" cy="1382078"/>
          </a:xfrm>
          <a:prstGeom prst="rect">
            <a:avLst/>
          </a:prstGeom>
          <a:noFill/>
          <a:ln/>
        </p:spPr>
        <p:txBody>
          <a:bodyPr wrap="square" lIns="0" tIns="0" rIns="0" bIns="0" rtlCol="0" anchor="t"/>
          <a:lstStyle/>
          <a:p>
            <a:pPr marL="0" indent="0" algn="l">
              <a:lnSpc>
                <a:spcPts val="5400"/>
              </a:lnSpc>
              <a:buNone/>
            </a:pPr>
            <a:r>
              <a:rPr lang="en-US" sz="4150" b="1" dirty="0">
                <a:solidFill>
                  <a:srgbClr val="F2F5FA"/>
                </a:solidFill>
                <a:latin typeface="Geist Bold" pitchFamily="34" charset="0"/>
                <a:ea typeface="Geist Bold" pitchFamily="34" charset="-122"/>
                <a:cs typeface="Geist Bold" pitchFamily="34" charset="-120"/>
              </a:rPr>
              <a:t>Diez Años que Desangraron a Colombia</a:t>
            </a:r>
            <a:endParaRPr lang="en-US" sz="4150" dirty="0"/>
          </a:p>
        </p:txBody>
      </p:sp>
      <p:sp>
        <p:nvSpPr>
          <p:cNvPr id="5" name="Shape 2"/>
          <p:cNvSpPr/>
          <p:nvPr/>
        </p:nvSpPr>
        <p:spPr>
          <a:xfrm>
            <a:off x="744260" y="2280761"/>
            <a:ext cx="7655481" cy="1739384"/>
          </a:xfrm>
          <a:prstGeom prst="roundRect">
            <a:avLst>
              <a:gd name="adj" fmla="val 6308"/>
            </a:avLst>
          </a:prstGeom>
          <a:solidFill>
            <a:srgbClr val="101620">
              <a:alpha val="95000"/>
            </a:srgbClr>
          </a:solidFill>
          <a:ln w="22860">
            <a:solidFill>
              <a:srgbClr val="002A80"/>
            </a:solidFill>
            <a:prstDash val="solid"/>
          </a:ln>
        </p:spPr>
      </p:sp>
      <p:pic>
        <p:nvPicPr>
          <p:cNvPr id="6" name="Image 1" descr="preencoded.png"/>
          <p:cNvPicPr>
            <a:picLocks noChangeAspect="1"/>
          </p:cNvPicPr>
          <p:nvPr/>
        </p:nvPicPr>
        <p:blipFill>
          <a:blip r:embed="rId4"/>
          <a:stretch>
            <a:fillRect/>
          </a:stretch>
        </p:blipFill>
        <p:spPr>
          <a:xfrm>
            <a:off x="721400" y="2280761"/>
            <a:ext cx="91440" cy="1739384"/>
          </a:xfrm>
          <a:prstGeom prst="rect">
            <a:avLst/>
          </a:prstGeom>
        </p:spPr>
      </p:pic>
      <p:sp>
        <p:nvSpPr>
          <p:cNvPr id="7" name="Text 3"/>
          <p:cNvSpPr/>
          <p:nvPr/>
        </p:nvSpPr>
        <p:spPr>
          <a:xfrm>
            <a:off x="1048345" y="2516267"/>
            <a:ext cx="3132653" cy="345519"/>
          </a:xfrm>
          <a:prstGeom prst="rect">
            <a:avLst/>
          </a:prstGeom>
          <a:noFill/>
          <a:ln/>
        </p:spPr>
        <p:txBody>
          <a:bodyPr wrap="none" lIns="0" tIns="0" rIns="0" bIns="0" rtlCol="0" anchor="t"/>
          <a:lstStyle/>
          <a:p>
            <a:pPr marL="0" indent="0" algn="l">
              <a:lnSpc>
                <a:spcPts val="2700"/>
              </a:lnSpc>
              <a:buNone/>
            </a:pPr>
            <a:r>
              <a:rPr lang="en-US" sz="2050" b="1" dirty="0">
                <a:solidFill>
                  <a:srgbClr val="EBEDF0"/>
                </a:solidFill>
                <a:latin typeface="Geist Bold" pitchFamily="34" charset="0"/>
                <a:ea typeface="Geist Bold" pitchFamily="34" charset="-122"/>
                <a:cs typeface="Geist Bold" pitchFamily="34" charset="-120"/>
              </a:rPr>
              <a:t>1948–1957: La Violencia</a:t>
            </a:r>
            <a:endParaRPr lang="en-US" sz="2050" dirty="0"/>
          </a:p>
        </p:txBody>
      </p:sp>
      <p:sp>
        <p:nvSpPr>
          <p:cNvPr id="8" name="Text 4"/>
          <p:cNvSpPr/>
          <p:nvPr/>
        </p:nvSpPr>
        <p:spPr>
          <a:xfrm>
            <a:off x="1048345" y="2981325"/>
            <a:ext cx="7115889" cy="803315"/>
          </a:xfrm>
          <a:prstGeom prst="rect">
            <a:avLst/>
          </a:prstGeom>
          <a:noFill/>
          <a:ln/>
        </p:spPr>
        <p:txBody>
          <a:bodyPr wrap="square" lIns="0" tIns="0" rIns="0" bIns="0" rtlCol="0" anchor="t"/>
          <a:lstStyle/>
          <a:p>
            <a:pPr marL="0" indent="0" algn="l">
              <a:lnSpc>
                <a:spcPts val="2100"/>
              </a:lnSpc>
              <a:buNone/>
            </a:pPr>
            <a:r>
              <a:rPr lang="en-US" sz="1650" dirty="0">
                <a:solidFill>
                  <a:srgbClr val="EBEDF0"/>
                </a:solidFill>
                <a:latin typeface="Geist" pitchFamily="34" charset="0"/>
                <a:ea typeface="Geist" pitchFamily="34" charset="-122"/>
                <a:cs typeface="Geist" pitchFamily="34" charset="-120"/>
              </a:rPr>
              <a:t>La guerra campesina dejó </a:t>
            </a:r>
            <a:r>
              <a:rPr lang="en-US" sz="1650" b="1" dirty="0">
                <a:solidFill>
                  <a:srgbClr val="EBEDF0"/>
                </a:solidFill>
                <a:latin typeface="Geist" pitchFamily="34" charset="0"/>
                <a:ea typeface="Geist" pitchFamily="34" charset="-122"/>
                <a:cs typeface="Geist" pitchFamily="34" charset="-120"/>
              </a:rPr>
              <a:t>180,000 muertos</a:t>
            </a:r>
            <a:r>
              <a:rPr lang="en-US" sz="1650" dirty="0">
                <a:solidFill>
                  <a:srgbClr val="EBEDF0"/>
                </a:solidFill>
                <a:latin typeface="Geist" pitchFamily="34" charset="0"/>
                <a:ea typeface="Geist" pitchFamily="34" charset="-122"/>
                <a:cs typeface="Geist" pitchFamily="34" charset="-120"/>
              </a:rPr>
              <a:t>. Comenzó como enfrentamiento liberal-conservador, pero derivó en lucha de clases tras el asesinato de Jorge Eliécer Gaitán.</a:t>
            </a:r>
            <a:endParaRPr lang="en-US" sz="1650" dirty="0"/>
          </a:p>
        </p:txBody>
      </p:sp>
      <p:sp>
        <p:nvSpPr>
          <p:cNvPr id="9" name="Shape 5"/>
          <p:cNvSpPr/>
          <p:nvPr/>
        </p:nvSpPr>
        <p:spPr>
          <a:xfrm>
            <a:off x="744260" y="4219456"/>
            <a:ext cx="7655481" cy="1739384"/>
          </a:xfrm>
          <a:prstGeom prst="roundRect">
            <a:avLst>
              <a:gd name="adj" fmla="val 6308"/>
            </a:avLst>
          </a:prstGeom>
          <a:solidFill>
            <a:srgbClr val="101620">
              <a:alpha val="95000"/>
            </a:srgbClr>
          </a:solidFill>
          <a:ln w="22860">
            <a:solidFill>
              <a:srgbClr val="002A80"/>
            </a:solidFill>
            <a:prstDash val="solid"/>
          </a:ln>
        </p:spPr>
      </p:sp>
      <p:pic>
        <p:nvPicPr>
          <p:cNvPr id="10" name="Image 2" descr="preencoded.png"/>
          <p:cNvPicPr>
            <a:picLocks noChangeAspect="1"/>
          </p:cNvPicPr>
          <p:nvPr/>
        </p:nvPicPr>
        <p:blipFill>
          <a:blip r:embed="rId4"/>
          <a:stretch>
            <a:fillRect/>
          </a:stretch>
        </p:blipFill>
        <p:spPr>
          <a:xfrm>
            <a:off x="721400" y="4219456"/>
            <a:ext cx="91440" cy="1739384"/>
          </a:xfrm>
          <a:prstGeom prst="rect">
            <a:avLst/>
          </a:prstGeom>
        </p:spPr>
      </p:pic>
      <p:sp>
        <p:nvSpPr>
          <p:cNvPr id="11" name="Text 6"/>
          <p:cNvSpPr/>
          <p:nvPr/>
        </p:nvSpPr>
        <p:spPr>
          <a:xfrm>
            <a:off x="1048345" y="4454962"/>
            <a:ext cx="2658070" cy="345519"/>
          </a:xfrm>
          <a:prstGeom prst="rect">
            <a:avLst/>
          </a:prstGeom>
          <a:noFill/>
          <a:ln/>
        </p:spPr>
        <p:txBody>
          <a:bodyPr wrap="none" lIns="0" tIns="0" rIns="0" bIns="0" rtlCol="0" anchor="t"/>
          <a:lstStyle/>
          <a:p>
            <a:pPr marL="0" indent="0" algn="l">
              <a:lnSpc>
                <a:spcPts val="2700"/>
              </a:lnSpc>
              <a:buNone/>
            </a:pPr>
            <a:r>
              <a:rPr lang="en-US" sz="2050" b="1" dirty="0">
                <a:solidFill>
                  <a:srgbClr val="EBEDF0"/>
                </a:solidFill>
                <a:latin typeface="Geist Bold" pitchFamily="34" charset="0"/>
                <a:ea typeface="Geist Bold" pitchFamily="34" charset="-122"/>
                <a:cs typeface="Geist Bold" pitchFamily="34" charset="-120"/>
              </a:rPr>
              <a:t>El Café y la Miseria</a:t>
            </a:r>
            <a:endParaRPr lang="en-US" sz="2050" dirty="0"/>
          </a:p>
        </p:txBody>
      </p:sp>
      <p:sp>
        <p:nvSpPr>
          <p:cNvPr id="12" name="Text 7"/>
          <p:cNvSpPr/>
          <p:nvPr/>
        </p:nvSpPr>
        <p:spPr>
          <a:xfrm>
            <a:off x="1048345" y="4920020"/>
            <a:ext cx="7115889" cy="803315"/>
          </a:xfrm>
          <a:prstGeom prst="rect">
            <a:avLst/>
          </a:prstGeom>
          <a:noFill/>
          <a:ln/>
        </p:spPr>
        <p:txBody>
          <a:bodyPr wrap="square" lIns="0" tIns="0" rIns="0" bIns="0" rtlCol="0" anchor="t"/>
          <a:lstStyle/>
          <a:p>
            <a:pPr marL="0" indent="0" algn="l">
              <a:lnSpc>
                <a:spcPts val="2100"/>
              </a:lnSpc>
              <a:buNone/>
            </a:pPr>
            <a:r>
              <a:rPr lang="en-US" sz="1650" dirty="0">
                <a:solidFill>
                  <a:srgbClr val="EBEDF0"/>
                </a:solidFill>
                <a:latin typeface="Geist" pitchFamily="34" charset="0"/>
                <a:ea typeface="Geist" pitchFamily="34" charset="-122"/>
                <a:cs typeface="Geist" pitchFamily="34" charset="-120"/>
              </a:rPr>
              <a:t>El café activó la economía, pero no mejoró la vida del pueblo: el </a:t>
            </a:r>
            <a:r>
              <a:rPr lang="en-US" sz="1650" b="1" dirty="0">
                <a:solidFill>
                  <a:srgbClr val="EBEDF0"/>
                </a:solidFill>
                <a:latin typeface="Geist" pitchFamily="34" charset="0"/>
                <a:ea typeface="Geist" pitchFamily="34" charset="-122"/>
                <a:cs typeface="Geist" pitchFamily="34" charset="-120"/>
              </a:rPr>
              <a:t>88% de los escolares de Bogotá</a:t>
            </a:r>
            <a:r>
              <a:rPr lang="en-US" sz="1650" dirty="0">
                <a:solidFill>
                  <a:srgbClr val="EBEDF0"/>
                </a:solidFill>
                <a:latin typeface="Geist" pitchFamily="34" charset="0"/>
                <a:ea typeface="Geist" pitchFamily="34" charset="-122"/>
                <a:cs typeface="Geist" pitchFamily="34" charset="-120"/>
              </a:rPr>
              <a:t> padecía avitaminosis. Colombia ostenta un índice de homicidios siete veces mayor que el de EE.UU.</a:t>
            </a:r>
            <a:endParaRPr lang="en-US" sz="1650" dirty="0"/>
          </a:p>
        </p:txBody>
      </p:sp>
      <p:sp>
        <p:nvSpPr>
          <p:cNvPr id="13" name="Shape 8"/>
          <p:cNvSpPr/>
          <p:nvPr/>
        </p:nvSpPr>
        <p:spPr>
          <a:xfrm>
            <a:off x="744260" y="6158151"/>
            <a:ext cx="7655481" cy="1471612"/>
          </a:xfrm>
          <a:prstGeom prst="roundRect">
            <a:avLst>
              <a:gd name="adj" fmla="val 7456"/>
            </a:avLst>
          </a:prstGeom>
          <a:solidFill>
            <a:srgbClr val="101620">
              <a:alpha val="95000"/>
            </a:srgbClr>
          </a:solidFill>
          <a:ln w="22860">
            <a:solidFill>
              <a:srgbClr val="002A80"/>
            </a:solidFill>
            <a:prstDash val="solid"/>
          </a:ln>
        </p:spPr>
      </p:sp>
      <p:pic>
        <p:nvPicPr>
          <p:cNvPr id="14" name="Image 3" descr="preencoded.png"/>
          <p:cNvPicPr>
            <a:picLocks noChangeAspect="1"/>
          </p:cNvPicPr>
          <p:nvPr/>
        </p:nvPicPr>
        <p:blipFill>
          <a:blip r:embed="rId5"/>
          <a:stretch>
            <a:fillRect/>
          </a:stretch>
        </p:blipFill>
        <p:spPr>
          <a:xfrm>
            <a:off x="721400" y="6158151"/>
            <a:ext cx="91440" cy="1471612"/>
          </a:xfrm>
          <a:prstGeom prst="rect">
            <a:avLst/>
          </a:prstGeom>
        </p:spPr>
      </p:pic>
      <p:sp>
        <p:nvSpPr>
          <p:cNvPr id="15" name="Text 9"/>
          <p:cNvSpPr/>
          <p:nvPr/>
        </p:nvSpPr>
        <p:spPr>
          <a:xfrm>
            <a:off x="1048345" y="6393656"/>
            <a:ext cx="4123373" cy="345519"/>
          </a:xfrm>
          <a:prstGeom prst="rect">
            <a:avLst/>
          </a:prstGeom>
          <a:noFill/>
          <a:ln/>
        </p:spPr>
        <p:txBody>
          <a:bodyPr wrap="none" lIns="0" tIns="0" rIns="0" bIns="0" rtlCol="0" anchor="t"/>
          <a:lstStyle/>
          <a:p>
            <a:pPr marL="0" indent="0" algn="l">
              <a:lnSpc>
                <a:spcPts val="2700"/>
              </a:lnSpc>
              <a:buNone/>
            </a:pPr>
            <a:r>
              <a:rPr lang="en-US" sz="2050" b="1" dirty="0">
                <a:solidFill>
                  <a:srgbClr val="EBEDF0"/>
                </a:solidFill>
                <a:latin typeface="Geist Bold" pitchFamily="34" charset="0"/>
                <a:ea typeface="Geist Bold" pitchFamily="34" charset="-122"/>
                <a:cs typeface="Geist Bold" pitchFamily="34" charset="-120"/>
              </a:rPr>
              <a:t>El Sistema que Vomita Hombres</a:t>
            </a:r>
            <a:endParaRPr lang="en-US" sz="2050" dirty="0"/>
          </a:p>
        </p:txBody>
      </p:sp>
      <p:sp>
        <p:nvSpPr>
          <p:cNvPr id="16" name="Text 10"/>
          <p:cNvSpPr/>
          <p:nvPr/>
        </p:nvSpPr>
        <p:spPr>
          <a:xfrm>
            <a:off x="1048345" y="6858714"/>
            <a:ext cx="7115889" cy="535543"/>
          </a:xfrm>
          <a:prstGeom prst="rect">
            <a:avLst/>
          </a:prstGeom>
          <a:noFill/>
          <a:ln/>
        </p:spPr>
        <p:txBody>
          <a:bodyPr wrap="square" lIns="0" tIns="0" rIns="0" bIns="0" rtlCol="0" anchor="t"/>
          <a:lstStyle/>
          <a:p>
            <a:pPr marL="0" indent="0" algn="l">
              <a:lnSpc>
                <a:spcPts val="2100"/>
              </a:lnSpc>
              <a:buNone/>
            </a:pPr>
            <a:r>
              <a:rPr lang="en-US" sz="1650" dirty="0">
                <a:solidFill>
                  <a:srgbClr val="EBEDF0"/>
                </a:solidFill>
                <a:latin typeface="Geist" pitchFamily="34" charset="0"/>
                <a:ea typeface="Geist" pitchFamily="34" charset="-122"/>
                <a:cs typeface="Geist" pitchFamily="34" charset="-120"/>
              </a:rPr>
              <a:t>250,000 personas se suman cada año al mercado laboral; la industria no genera empleo y el latifundio expulsa desocupados hacia los suburbios.</a:t>
            </a:r>
            <a:endParaRPr lang="en-US" sz="1650" dirty="0"/>
          </a:p>
        </p:txBody>
      </p:sp>
      <p:pic>
        <p:nvPicPr>
          <p:cNvPr id="17" name="Imagen 16">
            <a:extLst>
              <a:ext uri="{FF2B5EF4-FFF2-40B4-BE49-F238E27FC236}">
                <a16:creationId xmlns:a16="http://schemas.microsoft.com/office/drawing/2014/main" id="{1448DC99-A545-1A8E-D513-832AAAED8D59}"/>
              </a:ext>
            </a:extLst>
          </p:cNvPr>
          <p:cNvPicPr>
            <a:picLocks noChangeAspect="1"/>
          </p:cNvPicPr>
          <p:nvPr/>
        </p:nvPicPr>
        <p:blipFill>
          <a:blip r:embed="rId6"/>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5"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2000"/>
                                        <p:tgtEl>
                                          <p:spTgt spid="6"/>
                                        </p:tgtEl>
                                      </p:cBhvr>
                                    </p:animEffect>
                                    <p:anim calcmode="lin" valueType="num">
                                      <p:cBhvr>
                                        <p:cTn id="27" dur="2000" fill="hold"/>
                                        <p:tgtEl>
                                          <p:spTgt spid="6"/>
                                        </p:tgtEl>
                                        <p:attrNameLst>
                                          <p:attrName>ppt_w</p:attrName>
                                        </p:attrNameLst>
                                      </p:cBhvr>
                                      <p:tavLst>
                                        <p:tav tm="0" fmla="#ppt_w*sin(2.5*pi*$)">
                                          <p:val>
                                            <p:fltVal val="0"/>
                                          </p:val>
                                        </p:tav>
                                        <p:tav tm="100000">
                                          <p:val>
                                            <p:fltVal val="1"/>
                                          </p:val>
                                        </p:tav>
                                      </p:tavLst>
                                    </p:anim>
                                    <p:anim calcmode="lin" valueType="num">
                                      <p:cBhvr>
                                        <p:cTn id="28"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2000"/>
                                        <p:tgtEl>
                                          <p:spTgt spid="10"/>
                                        </p:tgtEl>
                                      </p:cBhvr>
                                    </p:animEffect>
                                    <p:anim calcmode="lin" valueType="num">
                                      <p:cBhvr>
                                        <p:cTn id="34" dur="2000" fill="hold"/>
                                        <p:tgtEl>
                                          <p:spTgt spid="10"/>
                                        </p:tgtEl>
                                        <p:attrNameLst>
                                          <p:attrName>ppt_w</p:attrName>
                                        </p:attrNameLst>
                                      </p:cBhvr>
                                      <p:tavLst>
                                        <p:tav tm="0" fmla="#ppt_w*sin(2.5*pi*$)">
                                          <p:val>
                                            <p:fltVal val="0"/>
                                          </p:val>
                                        </p:tav>
                                        <p:tav tm="100000">
                                          <p:val>
                                            <p:fltVal val="1"/>
                                          </p:val>
                                        </p:tav>
                                      </p:tavLst>
                                    </p:anim>
                                    <p:anim calcmode="lin" valueType="num">
                                      <p:cBhvr>
                                        <p:cTn id="35"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45"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2000"/>
                                        <p:tgtEl>
                                          <p:spTgt spid="14"/>
                                        </p:tgtEl>
                                      </p:cBhvr>
                                    </p:animEffect>
                                    <p:anim calcmode="lin" valueType="num">
                                      <p:cBhvr>
                                        <p:cTn id="41" dur="2000" fill="hold"/>
                                        <p:tgtEl>
                                          <p:spTgt spid="14"/>
                                        </p:tgtEl>
                                        <p:attrNameLst>
                                          <p:attrName>ppt_w</p:attrName>
                                        </p:attrNameLst>
                                      </p:cBhvr>
                                      <p:tavLst>
                                        <p:tav tm="0" fmla="#ppt_w*sin(2.5*pi*$)">
                                          <p:val>
                                            <p:fltVal val="0"/>
                                          </p:val>
                                        </p:tav>
                                        <p:tav tm="100000">
                                          <p:val>
                                            <p:fltVal val="1"/>
                                          </p:val>
                                        </p:tav>
                                      </p:tavLst>
                                    </p:anim>
                                    <p:anim calcmode="lin" valueType="num">
                                      <p:cBhvr>
                                        <p:cTn id="42" dur="2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arn(inVertical)">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31" presetClass="entr" presetSubtype="0" fill="hold" grpId="0" nodeType="clickEffect">
                                  <p:stCondLst>
                                    <p:cond delay="0"/>
                                  </p:stCondLst>
                                  <p:childTnLst>
                                    <p:set>
                                      <p:cBhvr>
                                        <p:cTn id="51" dur="1" fill="hold">
                                          <p:stCondLst>
                                            <p:cond delay="0"/>
                                          </p:stCondLst>
                                        </p:cTn>
                                        <p:tgtEl>
                                          <p:spTgt spid="8"/>
                                        </p:tgtEl>
                                        <p:attrNameLst>
                                          <p:attrName>style.visibility</p:attrName>
                                        </p:attrNameLst>
                                      </p:cBhvr>
                                      <p:to>
                                        <p:strVal val="visible"/>
                                      </p:to>
                                    </p:set>
                                    <p:anim calcmode="lin" valueType="num">
                                      <p:cBhvr>
                                        <p:cTn id="52" dur="1000" fill="hold"/>
                                        <p:tgtEl>
                                          <p:spTgt spid="8"/>
                                        </p:tgtEl>
                                        <p:attrNameLst>
                                          <p:attrName>ppt_w</p:attrName>
                                        </p:attrNameLst>
                                      </p:cBhvr>
                                      <p:tavLst>
                                        <p:tav tm="0">
                                          <p:val>
                                            <p:fltVal val="0"/>
                                          </p:val>
                                        </p:tav>
                                        <p:tav tm="100000">
                                          <p:val>
                                            <p:strVal val="#ppt_w"/>
                                          </p:val>
                                        </p:tav>
                                      </p:tavLst>
                                    </p:anim>
                                    <p:anim calcmode="lin" valueType="num">
                                      <p:cBhvr>
                                        <p:cTn id="53" dur="1000" fill="hold"/>
                                        <p:tgtEl>
                                          <p:spTgt spid="8"/>
                                        </p:tgtEl>
                                        <p:attrNameLst>
                                          <p:attrName>ppt_h</p:attrName>
                                        </p:attrNameLst>
                                      </p:cBhvr>
                                      <p:tavLst>
                                        <p:tav tm="0">
                                          <p:val>
                                            <p:fltVal val="0"/>
                                          </p:val>
                                        </p:tav>
                                        <p:tav tm="100000">
                                          <p:val>
                                            <p:strVal val="#ppt_h"/>
                                          </p:val>
                                        </p:tav>
                                      </p:tavLst>
                                    </p:anim>
                                    <p:anim calcmode="lin" valueType="num">
                                      <p:cBhvr>
                                        <p:cTn id="54" dur="1000" fill="hold"/>
                                        <p:tgtEl>
                                          <p:spTgt spid="8"/>
                                        </p:tgtEl>
                                        <p:attrNameLst>
                                          <p:attrName>style.rotation</p:attrName>
                                        </p:attrNameLst>
                                      </p:cBhvr>
                                      <p:tavLst>
                                        <p:tav tm="0">
                                          <p:val>
                                            <p:fltVal val="90"/>
                                          </p:val>
                                        </p:tav>
                                        <p:tav tm="100000">
                                          <p:val>
                                            <p:fltVal val="0"/>
                                          </p:val>
                                        </p:tav>
                                      </p:tavLst>
                                    </p:anim>
                                    <p:animEffect transition="in" filter="fade">
                                      <p:cBhvr>
                                        <p:cTn id="55" dur="100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27" presetClass="emph" presetSubtype="0" fill="remove" grpId="0" nodeType="clickEffect">
                                  <p:stCondLst>
                                    <p:cond delay="0"/>
                                  </p:stCondLst>
                                  <p:childTnLst>
                                    <p:animClr clrSpc="rgb" dir="cw">
                                      <p:cBhvr override="childStyle">
                                        <p:cTn id="59" dur="250" autoRev="1" fill="remove"/>
                                        <p:tgtEl>
                                          <p:spTgt spid="11"/>
                                        </p:tgtEl>
                                        <p:attrNameLst>
                                          <p:attrName>style.color</p:attrName>
                                        </p:attrNameLst>
                                      </p:cBhvr>
                                      <p:to>
                                        <a:schemeClr val="bg1"/>
                                      </p:to>
                                    </p:animClr>
                                    <p:animClr clrSpc="rgb" dir="cw">
                                      <p:cBhvr>
                                        <p:cTn id="60" dur="250" autoRev="1" fill="remove"/>
                                        <p:tgtEl>
                                          <p:spTgt spid="11"/>
                                        </p:tgtEl>
                                        <p:attrNameLst>
                                          <p:attrName>fillcolor</p:attrName>
                                        </p:attrNameLst>
                                      </p:cBhvr>
                                      <p:to>
                                        <a:schemeClr val="bg1"/>
                                      </p:to>
                                    </p:animClr>
                                    <p:set>
                                      <p:cBhvr>
                                        <p:cTn id="61" dur="250" autoRev="1" fill="remove"/>
                                        <p:tgtEl>
                                          <p:spTgt spid="11"/>
                                        </p:tgtEl>
                                        <p:attrNameLst>
                                          <p:attrName>fill.type</p:attrName>
                                        </p:attrNameLst>
                                      </p:cBhvr>
                                      <p:to>
                                        <p:strVal val="solid"/>
                                      </p:to>
                                    </p:set>
                                    <p:set>
                                      <p:cBhvr>
                                        <p:cTn id="62" dur="250" autoRev="1" fill="remove"/>
                                        <p:tgtEl>
                                          <p:spTgt spid="11"/>
                                        </p:tgtEl>
                                        <p:attrNameLst>
                                          <p:attrName>fill.on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12">
                                            <p:txEl>
                                              <p:pRg st="0" end="0"/>
                                            </p:txEl>
                                          </p:spTgt>
                                        </p:tgtEl>
                                        <p:attrNameLst>
                                          <p:attrName>style.visibility</p:attrName>
                                        </p:attrNameLst>
                                      </p:cBhvr>
                                      <p:to>
                                        <p:strVal val="visible"/>
                                      </p:to>
                                    </p:set>
                                    <p:animEffect transition="in" filter="fade">
                                      <p:cBhvr>
                                        <p:cTn id="67" dur="500"/>
                                        <p:tgtEl>
                                          <p:spTgt spid="12">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randombar(horizontal)">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8" presetClass="emph" presetSubtype="0" fill="hold" nodeType="clickEffect">
                                  <p:stCondLst>
                                    <p:cond delay="0"/>
                                  </p:stCondLst>
                                  <p:childTnLst>
                                    <p:animRot by="21600000">
                                      <p:cBhvr>
                                        <p:cTn id="83" dur="2000" fill="hold"/>
                                        <p:tgtEl>
                                          <p:spTgt spid="3"/>
                                        </p:tgtEl>
                                        <p:attrNameLst>
                                          <p:attrName>r</p:attrName>
                                        </p:attrNameLst>
                                      </p:cBhvr>
                                    </p:animRo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grpId="0" nodeType="clickEffect">
                                  <p:stCondLst>
                                    <p:cond delay="0"/>
                                  </p:stCondLst>
                                  <p:childTnLst>
                                    <p:set>
                                      <p:cBhvr>
                                        <p:cTn id="87" dur="1" fill="hold">
                                          <p:stCondLst>
                                            <p:cond delay="0"/>
                                          </p:stCondLst>
                                        </p:cTn>
                                        <p:tgtEl>
                                          <p:spTgt spid="4"/>
                                        </p:tgtEl>
                                        <p:attrNameLst>
                                          <p:attrName>style.visibility</p:attrName>
                                        </p:attrNameLst>
                                      </p:cBhvr>
                                      <p:to>
                                        <p:strVal val="visible"/>
                                      </p:to>
                                    </p:set>
                                    <p:anim calcmode="lin" valueType="num">
                                      <p:cBhvr additive="base">
                                        <p:cTn id="88" dur="500" fill="hold"/>
                                        <p:tgtEl>
                                          <p:spTgt spid="4"/>
                                        </p:tgtEl>
                                        <p:attrNameLst>
                                          <p:attrName>ppt_x</p:attrName>
                                        </p:attrNameLst>
                                      </p:cBhvr>
                                      <p:tavLst>
                                        <p:tav tm="0">
                                          <p:val>
                                            <p:strVal val="#ppt_x"/>
                                          </p:val>
                                        </p:tav>
                                        <p:tav tm="100000">
                                          <p:val>
                                            <p:strVal val="#ppt_x"/>
                                          </p:val>
                                        </p:tav>
                                      </p:tavLst>
                                    </p:anim>
                                    <p:anim calcmode="lin" valueType="num">
                                      <p:cBhvr additive="base">
                                        <p:cTn id="8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1" grpId="0" animBg="1"/>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49868"/>
            <a:ext cx="13042821" cy="1474232"/>
          </a:xfrm>
          <a:prstGeom prst="rect">
            <a:avLst/>
          </a:prstGeom>
          <a:noFill/>
          <a:ln/>
        </p:spPr>
        <p:txBody>
          <a:bodyPr wrap="square" lIns="0" tIns="0" rIns="0" bIns="0" rtlCol="0" anchor="t"/>
          <a:lstStyle/>
          <a:p>
            <a:pPr marL="0" indent="0" algn="l">
              <a:lnSpc>
                <a:spcPts val="5800"/>
              </a:lnSpc>
              <a:buNone/>
            </a:pPr>
            <a:r>
              <a:rPr lang="en-US" sz="4450" b="1" dirty="0">
                <a:solidFill>
                  <a:srgbClr val="F2F5FA"/>
                </a:solidFill>
                <a:latin typeface="Geist Bold" pitchFamily="34" charset="0"/>
                <a:ea typeface="Geist Bold" pitchFamily="34" charset="-122"/>
                <a:cs typeface="Geist Bold" pitchFamily="34" charset="-120"/>
              </a:rPr>
              <a:t>La Varita Mágica del Mercado Mundial: Centroamérica</a:t>
            </a:r>
            <a:endParaRPr lang="en-US" sz="4450" dirty="0"/>
          </a:p>
        </p:txBody>
      </p:sp>
      <p:pic>
        <p:nvPicPr>
          <p:cNvPr id="3" name="Image 0" descr="preencoded.png"/>
          <p:cNvPicPr>
            <a:picLocks noChangeAspect="1"/>
          </p:cNvPicPr>
          <p:nvPr/>
        </p:nvPicPr>
        <p:blipFill>
          <a:blip r:embed="rId3"/>
          <a:stretch>
            <a:fillRect/>
          </a:stretch>
        </p:blipFill>
        <p:spPr>
          <a:xfrm>
            <a:off x="793790" y="2919413"/>
            <a:ext cx="4205168" cy="4205168"/>
          </a:xfrm>
          <a:prstGeom prst="rect">
            <a:avLst/>
          </a:prstGeom>
        </p:spPr>
      </p:pic>
      <p:sp>
        <p:nvSpPr>
          <p:cNvPr id="4" name="Text 1"/>
          <p:cNvSpPr/>
          <p:nvPr/>
        </p:nvSpPr>
        <p:spPr>
          <a:xfrm>
            <a:off x="5559981" y="3148251"/>
            <a:ext cx="2835235" cy="368498"/>
          </a:xfrm>
          <a:prstGeom prst="rect">
            <a:avLst/>
          </a:prstGeom>
          <a:noFill/>
          <a:ln/>
        </p:spPr>
        <p:txBody>
          <a:bodyPr wrap="none" lIns="0" tIns="0" rIns="0" bIns="0" rtlCol="0" anchor="t"/>
          <a:lstStyle/>
          <a:p>
            <a:pPr marL="0" indent="0" algn="l">
              <a:lnSpc>
                <a:spcPts val="2900"/>
              </a:lnSpc>
              <a:buNone/>
            </a:pPr>
            <a:r>
              <a:rPr lang="en-US" sz="2200" b="1" dirty="0">
                <a:solidFill>
                  <a:srgbClr val="F2F5FA"/>
                </a:solidFill>
                <a:latin typeface="Geist Bold" pitchFamily="34" charset="0"/>
                <a:ea typeface="Geist Bold" pitchFamily="34" charset="-122"/>
                <a:cs typeface="Geist Bold" pitchFamily="34" charset="-120"/>
              </a:rPr>
              <a:t>El Imperio Bananero</a:t>
            </a:r>
            <a:endParaRPr lang="en-US" sz="2200" dirty="0"/>
          </a:p>
        </p:txBody>
      </p:sp>
      <p:sp>
        <p:nvSpPr>
          <p:cNvPr id="5" name="Text 2"/>
          <p:cNvSpPr/>
          <p:nvPr/>
        </p:nvSpPr>
        <p:spPr>
          <a:xfrm>
            <a:off x="5559981" y="3743563"/>
            <a:ext cx="8284131" cy="884396"/>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La United Fruit Co. se transformó en la principal latifundista de Centroamérica: dueña de puertos, ferrocarriles, aduana y policía propias. </a:t>
            </a:r>
            <a:r>
              <a:rPr lang="en-US" sz="1750" b="1" dirty="0">
                <a:solidFill>
                  <a:srgbClr val="EBEDF0"/>
                </a:solidFill>
                <a:latin typeface="Geist" pitchFamily="34" charset="0"/>
                <a:ea typeface="Geist" pitchFamily="34" charset="-122"/>
                <a:cs typeface="Geist" pitchFamily="34" charset="-120"/>
              </a:rPr>
              <a:t>«Una mula cuesta más que un diputado»</a:t>
            </a:r>
            <a:r>
              <a:rPr lang="en-US" sz="1750" dirty="0">
                <a:solidFill>
                  <a:srgbClr val="EBEDF0"/>
                </a:solidFill>
                <a:latin typeface="Geist" pitchFamily="34" charset="0"/>
                <a:ea typeface="Geist" pitchFamily="34" charset="-122"/>
                <a:cs typeface="Geist" pitchFamily="34" charset="-120"/>
              </a:rPr>
              <a:t> en Honduras.</a:t>
            </a:r>
            <a:endParaRPr lang="en-US" sz="1750" dirty="0"/>
          </a:p>
        </p:txBody>
      </p:sp>
      <p:sp>
        <p:nvSpPr>
          <p:cNvPr id="6" name="Text 3"/>
          <p:cNvSpPr/>
          <p:nvPr/>
        </p:nvSpPr>
        <p:spPr>
          <a:xfrm>
            <a:off x="5559981" y="4832033"/>
            <a:ext cx="8284131" cy="589598"/>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En 1930, Centroamérica exportaba </a:t>
            </a:r>
            <a:r>
              <a:rPr lang="en-US" sz="1750" b="1" dirty="0">
                <a:solidFill>
                  <a:srgbClr val="EBEDF0"/>
                </a:solidFill>
                <a:latin typeface="Geist" pitchFamily="34" charset="0"/>
                <a:ea typeface="Geist" pitchFamily="34" charset="-122"/>
                <a:cs typeface="Geist" pitchFamily="34" charset="-120"/>
              </a:rPr>
              <a:t>38 millones de racimos anuales</a:t>
            </a:r>
            <a:r>
              <a:rPr lang="en-US" sz="1750" dirty="0">
                <a:solidFill>
                  <a:srgbClr val="EBEDF0"/>
                </a:solidFill>
                <a:latin typeface="Geist" pitchFamily="34" charset="0"/>
                <a:ea typeface="Geist" pitchFamily="34" charset="-122"/>
                <a:cs typeface="Geist" pitchFamily="34" charset="-120"/>
              </a:rPr>
              <a:t>; la United Fruit pagaba a Honduras </a:t>
            </a:r>
            <a:r>
              <a:rPr lang="en-US" sz="1750" b="1" dirty="0">
                <a:solidFill>
                  <a:srgbClr val="EBEDF0"/>
                </a:solidFill>
                <a:latin typeface="Geist" pitchFamily="34" charset="0"/>
                <a:ea typeface="Geist" pitchFamily="34" charset="-122"/>
                <a:cs typeface="Geist" pitchFamily="34" charset="-120"/>
              </a:rPr>
              <a:t>un centavo de impuesto por racimo</a:t>
            </a:r>
            <a:r>
              <a:rPr lang="en-US" sz="1750" dirty="0">
                <a:solidFill>
                  <a:srgbClr val="EBEDF0"/>
                </a:solidFill>
                <a:latin typeface="Geist" pitchFamily="34" charset="0"/>
                <a:ea typeface="Geist" pitchFamily="34" charset="-122"/>
                <a:cs typeface="Geist" pitchFamily="34" charset="-120"/>
              </a:rPr>
              <a:t>.</a:t>
            </a:r>
            <a:endParaRPr lang="en-US" sz="1750" dirty="0"/>
          </a:p>
        </p:txBody>
      </p:sp>
      <p:sp>
        <p:nvSpPr>
          <p:cNvPr id="7" name="Shape 4"/>
          <p:cNvSpPr/>
          <p:nvPr/>
        </p:nvSpPr>
        <p:spPr>
          <a:xfrm>
            <a:off x="5559981" y="5676781"/>
            <a:ext cx="8284131" cy="1190506"/>
          </a:xfrm>
          <a:prstGeom prst="roundRect">
            <a:avLst>
              <a:gd name="adj" fmla="val 8002"/>
            </a:avLst>
          </a:prstGeom>
          <a:solidFill>
            <a:srgbClr val="4B3F02"/>
          </a:solidFill>
          <a:ln/>
        </p:spPr>
      </p:sp>
      <p:pic>
        <p:nvPicPr>
          <p:cNvPr id="8" name="Image 1" descr="preencoded.png"/>
          <p:cNvPicPr>
            <a:picLocks noChangeAspect="1"/>
          </p:cNvPicPr>
          <p:nvPr/>
        </p:nvPicPr>
        <p:blipFill>
          <a:blip r:embed="rId4"/>
          <a:stretch>
            <a:fillRect/>
          </a:stretch>
        </p:blipFill>
        <p:spPr>
          <a:xfrm>
            <a:off x="5786795" y="5982772"/>
            <a:ext cx="283488" cy="226814"/>
          </a:xfrm>
          <a:prstGeom prst="rect">
            <a:avLst/>
          </a:prstGeom>
        </p:spPr>
      </p:pic>
      <p:sp>
        <p:nvSpPr>
          <p:cNvPr id="9" name="Text 5"/>
          <p:cNvSpPr/>
          <p:nvPr/>
        </p:nvSpPr>
        <p:spPr>
          <a:xfrm>
            <a:off x="6297097" y="5960269"/>
            <a:ext cx="7320201" cy="589598"/>
          </a:xfrm>
          <a:prstGeom prst="rect">
            <a:avLst/>
          </a:prstGeom>
          <a:noFill/>
          <a:ln/>
        </p:spPr>
        <p:txBody>
          <a:bodyPr wrap="square" lIns="0" tIns="0" rIns="0" bIns="0" rtlCol="0" anchor="t"/>
          <a:lstStyle/>
          <a:p>
            <a:pPr marL="0" indent="0" algn="l">
              <a:lnSpc>
                <a:spcPts val="2300"/>
              </a:lnSpc>
              <a:buNone/>
            </a:pPr>
            <a:r>
              <a:rPr lang="en-US" sz="1750" dirty="0">
                <a:solidFill>
                  <a:srgbClr val="FFFFFF"/>
                </a:solidFill>
                <a:latin typeface="Geist" pitchFamily="34" charset="0"/>
                <a:ea typeface="Geist" pitchFamily="34" charset="-122"/>
                <a:cs typeface="Geist" pitchFamily="34" charset="-120"/>
              </a:rPr>
              <a:t>Los embajadores de EE.UU. presiden más que los presidentes centroamericanos.</a:t>
            </a:r>
            <a:endParaRPr lang="en-US" sz="1750" dirty="0"/>
          </a:p>
        </p:txBody>
      </p:sp>
      <p:pic>
        <p:nvPicPr>
          <p:cNvPr id="10" name="Imagen 9">
            <a:extLst>
              <a:ext uri="{FF2B5EF4-FFF2-40B4-BE49-F238E27FC236}">
                <a16:creationId xmlns:a16="http://schemas.microsoft.com/office/drawing/2014/main" id="{4DDC01D8-22C5-94C1-8B71-531E85F054B3}"/>
              </a:ext>
            </a:extLst>
          </p:cNvPr>
          <p:cNvPicPr>
            <a:picLocks noChangeAspect="1"/>
          </p:cNvPicPr>
          <p:nvPr/>
        </p:nvPicPr>
        <p:blipFill>
          <a:blip r:embed="rId5"/>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barn(inVertical)">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760720" cy="8229600"/>
          </a:xfrm>
          <a:prstGeom prst="rect">
            <a:avLst/>
          </a:prstGeom>
          <a:solidFill>
            <a:srgbClr val="101620"/>
          </a:solidFill>
          <a:ln/>
        </p:spPr>
      </p:sp>
      <p:pic>
        <p:nvPicPr>
          <p:cNvPr id="3" name="Image 0" descr="preencoded.png"/>
          <p:cNvPicPr>
            <a:picLocks noChangeAspect="1"/>
          </p:cNvPicPr>
          <p:nvPr/>
        </p:nvPicPr>
        <p:blipFill>
          <a:blip r:embed="rId3"/>
          <a:stretch>
            <a:fillRect/>
          </a:stretch>
        </p:blipFill>
        <p:spPr>
          <a:xfrm>
            <a:off x="107990" y="1303973"/>
            <a:ext cx="4216241" cy="5621655"/>
          </a:xfrm>
          <a:prstGeom prst="rect">
            <a:avLst/>
          </a:prstGeom>
        </p:spPr>
      </p:pic>
      <p:sp>
        <p:nvSpPr>
          <p:cNvPr id="4" name="Text 1"/>
          <p:cNvSpPr/>
          <p:nvPr/>
        </p:nvSpPr>
        <p:spPr>
          <a:xfrm>
            <a:off x="6243042" y="670917"/>
            <a:ext cx="7336869" cy="702707"/>
          </a:xfrm>
          <a:prstGeom prst="rect">
            <a:avLst/>
          </a:prstGeom>
          <a:noFill/>
          <a:ln/>
        </p:spPr>
        <p:txBody>
          <a:bodyPr wrap="none" lIns="0" tIns="0" rIns="0" bIns="0" rtlCol="0" anchor="t"/>
          <a:lstStyle/>
          <a:p>
            <a:pPr marL="0" indent="0" algn="l">
              <a:lnSpc>
                <a:spcPts val="5500"/>
              </a:lnSpc>
              <a:buNone/>
            </a:pPr>
            <a:r>
              <a:rPr lang="en-US" sz="4250" b="1" dirty="0">
                <a:solidFill>
                  <a:srgbClr val="F2F5FA"/>
                </a:solidFill>
                <a:latin typeface="Geist Bold" pitchFamily="34" charset="0"/>
                <a:ea typeface="Geist Bold" pitchFamily="34" charset="-122"/>
                <a:cs typeface="Geist Bold" pitchFamily="34" charset="-120"/>
              </a:rPr>
              <a:t>Los Filibusteros al Abordaje</a:t>
            </a:r>
            <a:endParaRPr lang="en-US" sz="4250" dirty="0"/>
          </a:p>
        </p:txBody>
      </p:sp>
      <p:sp>
        <p:nvSpPr>
          <p:cNvPr id="5" name="Shape 2"/>
          <p:cNvSpPr/>
          <p:nvPr/>
        </p:nvSpPr>
        <p:spPr>
          <a:xfrm>
            <a:off x="6486168" y="1682710"/>
            <a:ext cx="30480" cy="5875973"/>
          </a:xfrm>
          <a:prstGeom prst="roundRect">
            <a:avLst>
              <a:gd name="adj" fmla="val 297907"/>
            </a:avLst>
          </a:prstGeom>
          <a:solidFill>
            <a:srgbClr val="002A80"/>
          </a:solidFill>
          <a:ln/>
        </p:spPr>
      </p:sp>
      <p:sp>
        <p:nvSpPr>
          <p:cNvPr id="6" name="Shape 3"/>
          <p:cNvSpPr/>
          <p:nvPr/>
        </p:nvSpPr>
        <p:spPr>
          <a:xfrm>
            <a:off x="6698873" y="1910596"/>
            <a:ext cx="648533" cy="30480"/>
          </a:xfrm>
          <a:prstGeom prst="roundRect">
            <a:avLst>
              <a:gd name="adj" fmla="val 297907"/>
            </a:avLst>
          </a:prstGeom>
          <a:solidFill>
            <a:srgbClr val="002A80"/>
          </a:solidFill>
          <a:ln/>
        </p:spPr>
      </p:sp>
      <p:sp>
        <p:nvSpPr>
          <p:cNvPr id="7" name="Shape 4"/>
          <p:cNvSpPr/>
          <p:nvPr/>
        </p:nvSpPr>
        <p:spPr>
          <a:xfrm>
            <a:off x="6242983" y="1682710"/>
            <a:ext cx="486370" cy="486370"/>
          </a:xfrm>
          <a:prstGeom prst="roundRect">
            <a:avLst>
              <a:gd name="adj" fmla="val 18669"/>
            </a:avLst>
          </a:prstGeom>
          <a:solidFill>
            <a:srgbClr val="101620"/>
          </a:solidFill>
          <a:ln w="22860">
            <a:solidFill>
              <a:srgbClr val="002A80"/>
            </a:solidFill>
            <a:prstDash val="solid"/>
          </a:ln>
        </p:spPr>
      </p:sp>
      <p:sp>
        <p:nvSpPr>
          <p:cNvPr id="8" name="Text 5"/>
          <p:cNvSpPr/>
          <p:nvPr/>
        </p:nvSpPr>
        <p:spPr>
          <a:xfrm>
            <a:off x="6324005" y="1715095"/>
            <a:ext cx="324207" cy="421481"/>
          </a:xfrm>
          <a:prstGeom prst="rect">
            <a:avLst/>
          </a:prstGeom>
          <a:noFill/>
          <a:ln/>
        </p:spPr>
        <p:txBody>
          <a:bodyPr wrap="none" lIns="0" tIns="0" rIns="0" bIns="0" rtlCol="0" anchor="t"/>
          <a:lstStyle/>
          <a:p>
            <a:pPr marL="0" indent="0" algn="ctr">
              <a:lnSpc>
                <a:spcPts val="2550"/>
              </a:lnSpc>
              <a:buNone/>
            </a:pPr>
            <a:r>
              <a:rPr lang="en-US" sz="2550" b="1" dirty="0">
                <a:solidFill>
                  <a:srgbClr val="EBEDF0"/>
                </a:solidFill>
                <a:latin typeface="Geist Bold" pitchFamily="34" charset="0"/>
                <a:ea typeface="Geist Bold" pitchFamily="34" charset="-122"/>
                <a:cs typeface="Geist Bold" pitchFamily="34" charset="-120"/>
              </a:rPr>
              <a:t>1</a:t>
            </a:r>
            <a:endParaRPr lang="en-US" sz="2550" dirty="0"/>
          </a:p>
        </p:txBody>
      </p:sp>
      <p:sp>
        <p:nvSpPr>
          <p:cNvPr id="9" name="Text 6"/>
          <p:cNvSpPr/>
          <p:nvPr/>
        </p:nvSpPr>
        <p:spPr>
          <a:xfrm>
            <a:off x="7567136" y="1750219"/>
            <a:ext cx="3031927" cy="351353"/>
          </a:xfrm>
          <a:prstGeom prst="rect">
            <a:avLst/>
          </a:prstGeom>
          <a:noFill/>
          <a:ln/>
        </p:spPr>
        <p:txBody>
          <a:bodyPr wrap="none" lIns="0" tIns="0" rIns="0" bIns="0" rtlCol="0" anchor="t"/>
          <a:lstStyle/>
          <a:p>
            <a:pPr marL="0" indent="0" algn="l">
              <a:lnSpc>
                <a:spcPts val="2750"/>
              </a:lnSpc>
              <a:buNone/>
            </a:pPr>
            <a:r>
              <a:rPr lang="en-US" sz="2100" b="1" dirty="0">
                <a:solidFill>
                  <a:srgbClr val="EBEDF0"/>
                </a:solidFill>
                <a:latin typeface="Geist Bold" pitchFamily="34" charset="0"/>
                <a:ea typeface="Geist Bold" pitchFamily="34" charset="-122"/>
                <a:cs typeface="Geist Bold" pitchFamily="34" charset="-120"/>
              </a:rPr>
              <a:t>William Walker (1850s)</a:t>
            </a:r>
            <a:endParaRPr lang="en-US" sz="2100" dirty="0"/>
          </a:p>
        </p:txBody>
      </p:sp>
      <p:sp>
        <p:nvSpPr>
          <p:cNvPr id="10" name="Text 7"/>
          <p:cNvSpPr/>
          <p:nvPr/>
        </p:nvSpPr>
        <p:spPr>
          <a:xfrm>
            <a:off x="7567136" y="2225159"/>
            <a:ext cx="6306622" cy="548878"/>
          </a:xfrm>
          <a:prstGeom prst="rect">
            <a:avLst/>
          </a:prstGeom>
          <a:noFill/>
          <a:ln/>
        </p:spPr>
        <p:txBody>
          <a:bodyPr wrap="square" lIns="0" tIns="0" rIns="0" bIns="0" rtlCol="0" anchor="t"/>
          <a:lstStyle/>
          <a:p>
            <a:pPr marL="0" indent="0" algn="l">
              <a:lnSpc>
                <a:spcPts val="2150"/>
              </a:lnSpc>
              <a:buNone/>
            </a:pPr>
            <a:r>
              <a:rPr lang="en-US" sz="1700" dirty="0">
                <a:solidFill>
                  <a:srgbClr val="EBEDF0"/>
                </a:solidFill>
                <a:latin typeface="Geist" pitchFamily="34" charset="0"/>
                <a:ea typeface="Geist" pitchFamily="34" charset="-122"/>
                <a:cs typeface="Geist" pitchFamily="34" charset="-120"/>
              </a:rPr>
              <a:t>Invadió Nicaragua, El Salvador y Honduras, reimplantó la esclavitud. Regresó a EE.UU. como héroe nacional.</a:t>
            </a:r>
            <a:endParaRPr lang="en-US" sz="1700" dirty="0"/>
          </a:p>
        </p:txBody>
      </p:sp>
      <p:sp>
        <p:nvSpPr>
          <p:cNvPr id="11" name="Shape 8"/>
          <p:cNvSpPr/>
          <p:nvPr/>
        </p:nvSpPr>
        <p:spPr>
          <a:xfrm>
            <a:off x="6698873" y="3413998"/>
            <a:ext cx="648533" cy="30480"/>
          </a:xfrm>
          <a:prstGeom prst="roundRect">
            <a:avLst>
              <a:gd name="adj" fmla="val 297907"/>
            </a:avLst>
          </a:prstGeom>
          <a:solidFill>
            <a:srgbClr val="002A80"/>
          </a:solidFill>
          <a:ln/>
        </p:spPr>
      </p:sp>
      <p:sp>
        <p:nvSpPr>
          <p:cNvPr id="12" name="Shape 9"/>
          <p:cNvSpPr/>
          <p:nvPr/>
        </p:nvSpPr>
        <p:spPr>
          <a:xfrm>
            <a:off x="6242983" y="3186113"/>
            <a:ext cx="486370" cy="486370"/>
          </a:xfrm>
          <a:prstGeom prst="roundRect">
            <a:avLst>
              <a:gd name="adj" fmla="val 18669"/>
            </a:avLst>
          </a:prstGeom>
          <a:solidFill>
            <a:srgbClr val="101620"/>
          </a:solidFill>
          <a:ln w="22860">
            <a:solidFill>
              <a:srgbClr val="002A80"/>
            </a:solidFill>
            <a:prstDash val="solid"/>
          </a:ln>
        </p:spPr>
      </p:sp>
      <p:sp>
        <p:nvSpPr>
          <p:cNvPr id="13" name="Text 10"/>
          <p:cNvSpPr/>
          <p:nvPr/>
        </p:nvSpPr>
        <p:spPr>
          <a:xfrm>
            <a:off x="6324005" y="3218498"/>
            <a:ext cx="324207" cy="421481"/>
          </a:xfrm>
          <a:prstGeom prst="rect">
            <a:avLst/>
          </a:prstGeom>
          <a:noFill/>
          <a:ln/>
        </p:spPr>
        <p:txBody>
          <a:bodyPr wrap="none" lIns="0" tIns="0" rIns="0" bIns="0" rtlCol="0" anchor="t"/>
          <a:lstStyle/>
          <a:p>
            <a:pPr marL="0" indent="0" algn="ctr">
              <a:lnSpc>
                <a:spcPts val="2550"/>
              </a:lnSpc>
              <a:buNone/>
            </a:pPr>
            <a:r>
              <a:rPr lang="en-US" sz="2550" b="1" dirty="0">
                <a:solidFill>
                  <a:srgbClr val="EBEDF0"/>
                </a:solidFill>
                <a:latin typeface="Geist Bold" pitchFamily="34" charset="0"/>
                <a:ea typeface="Geist Bold" pitchFamily="34" charset="-122"/>
                <a:cs typeface="Geist Bold" pitchFamily="34" charset="-120"/>
              </a:rPr>
              <a:t>2</a:t>
            </a:r>
            <a:endParaRPr lang="en-US" sz="2550" dirty="0"/>
          </a:p>
        </p:txBody>
      </p:sp>
      <p:sp>
        <p:nvSpPr>
          <p:cNvPr id="14" name="Text 11"/>
          <p:cNvSpPr/>
          <p:nvPr/>
        </p:nvSpPr>
        <p:spPr>
          <a:xfrm>
            <a:off x="7567136" y="3253621"/>
            <a:ext cx="2702362" cy="351353"/>
          </a:xfrm>
          <a:prstGeom prst="rect">
            <a:avLst/>
          </a:prstGeom>
          <a:noFill/>
          <a:ln/>
        </p:spPr>
        <p:txBody>
          <a:bodyPr wrap="none" lIns="0" tIns="0" rIns="0" bIns="0" rtlCol="0" anchor="t"/>
          <a:lstStyle/>
          <a:p>
            <a:pPr marL="0" indent="0" algn="l">
              <a:lnSpc>
                <a:spcPts val="2750"/>
              </a:lnSpc>
              <a:buNone/>
            </a:pPr>
            <a:r>
              <a:rPr lang="en-US" sz="2100" b="1" dirty="0">
                <a:solidFill>
                  <a:srgbClr val="EBEDF0"/>
                </a:solidFill>
                <a:latin typeface="Geist Bold" pitchFamily="34" charset="0"/>
                <a:ea typeface="Geist Bold" pitchFamily="34" charset="-122"/>
                <a:cs typeface="Geist Bold" pitchFamily="34" charset="-120"/>
              </a:rPr>
              <a:t>Teodoro Roosevelt</a:t>
            </a:r>
            <a:endParaRPr lang="en-US" sz="2100" dirty="0"/>
          </a:p>
        </p:txBody>
      </p:sp>
      <p:sp>
        <p:nvSpPr>
          <p:cNvPr id="15" name="Text 12"/>
          <p:cNvSpPr/>
          <p:nvPr/>
        </p:nvSpPr>
        <p:spPr>
          <a:xfrm>
            <a:off x="7567136" y="3728561"/>
            <a:ext cx="6306622" cy="548878"/>
          </a:xfrm>
          <a:prstGeom prst="rect">
            <a:avLst/>
          </a:prstGeom>
          <a:noFill/>
          <a:ln/>
        </p:spPr>
        <p:txBody>
          <a:bodyPr wrap="square" lIns="0" tIns="0" rIns="0" bIns="0" rtlCol="0" anchor="t"/>
          <a:lstStyle/>
          <a:p>
            <a:pPr marL="0" indent="0" algn="l">
              <a:lnSpc>
                <a:spcPts val="2150"/>
              </a:lnSpc>
              <a:buNone/>
            </a:pPr>
            <a:r>
              <a:rPr lang="en-US" sz="1700" dirty="0">
                <a:solidFill>
                  <a:srgbClr val="EBEDF0"/>
                </a:solidFill>
                <a:latin typeface="Geist" pitchFamily="34" charset="0"/>
                <a:ea typeface="Geist" pitchFamily="34" charset="-122"/>
                <a:cs typeface="Geist" pitchFamily="34" charset="-120"/>
              </a:rPr>
              <a:t>«I took the Canals» — separó Panamá de Colombia. Premio Nobel de la Paz.</a:t>
            </a:r>
            <a:endParaRPr lang="en-US" sz="1700" dirty="0"/>
          </a:p>
        </p:txBody>
      </p:sp>
      <p:sp>
        <p:nvSpPr>
          <p:cNvPr id="16" name="Shape 13"/>
          <p:cNvSpPr/>
          <p:nvPr/>
        </p:nvSpPr>
        <p:spPr>
          <a:xfrm>
            <a:off x="6698873" y="4917400"/>
            <a:ext cx="648533" cy="30480"/>
          </a:xfrm>
          <a:prstGeom prst="roundRect">
            <a:avLst>
              <a:gd name="adj" fmla="val 297907"/>
            </a:avLst>
          </a:prstGeom>
          <a:solidFill>
            <a:srgbClr val="002A80"/>
          </a:solidFill>
          <a:ln/>
        </p:spPr>
      </p:sp>
      <p:sp>
        <p:nvSpPr>
          <p:cNvPr id="17" name="Shape 14"/>
          <p:cNvSpPr/>
          <p:nvPr/>
        </p:nvSpPr>
        <p:spPr>
          <a:xfrm>
            <a:off x="6242983" y="4689515"/>
            <a:ext cx="486370" cy="486370"/>
          </a:xfrm>
          <a:prstGeom prst="roundRect">
            <a:avLst>
              <a:gd name="adj" fmla="val 18669"/>
            </a:avLst>
          </a:prstGeom>
          <a:solidFill>
            <a:srgbClr val="101620"/>
          </a:solidFill>
          <a:ln w="22860">
            <a:solidFill>
              <a:srgbClr val="002A80"/>
            </a:solidFill>
            <a:prstDash val="solid"/>
          </a:ln>
        </p:spPr>
      </p:sp>
      <p:sp>
        <p:nvSpPr>
          <p:cNvPr id="18" name="Text 15"/>
          <p:cNvSpPr/>
          <p:nvPr/>
        </p:nvSpPr>
        <p:spPr>
          <a:xfrm>
            <a:off x="6324005" y="4721900"/>
            <a:ext cx="324207" cy="421481"/>
          </a:xfrm>
          <a:prstGeom prst="rect">
            <a:avLst/>
          </a:prstGeom>
          <a:noFill/>
          <a:ln/>
        </p:spPr>
        <p:txBody>
          <a:bodyPr wrap="none" lIns="0" tIns="0" rIns="0" bIns="0" rtlCol="0" anchor="t"/>
          <a:lstStyle/>
          <a:p>
            <a:pPr marL="0" indent="0" algn="ctr">
              <a:lnSpc>
                <a:spcPts val="2550"/>
              </a:lnSpc>
              <a:buNone/>
            </a:pPr>
            <a:r>
              <a:rPr lang="en-US" sz="2550" b="1" dirty="0">
                <a:solidFill>
                  <a:srgbClr val="EBEDF0"/>
                </a:solidFill>
                <a:latin typeface="Geist Bold" pitchFamily="34" charset="0"/>
                <a:ea typeface="Geist Bold" pitchFamily="34" charset="-122"/>
                <a:cs typeface="Geist Bold" pitchFamily="34" charset="-120"/>
              </a:rPr>
              <a:t>3</a:t>
            </a:r>
            <a:endParaRPr lang="en-US" sz="2550" dirty="0"/>
          </a:p>
        </p:txBody>
      </p:sp>
      <p:sp>
        <p:nvSpPr>
          <p:cNvPr id="19" name="Text 16"/>
          <p:cNvSpPr/>
          <p:nvPr/>
        </p:nvSpPr>
        <p:spPr>
          <a:xfrm>
            <a:off x="7567136" y="4757023"/>
            <a:ext cx="3239453" cy="351353"/>
          </a:xfrm>
          <a:prstGeom prst="rect">
            <a:avLst/>
          </a:prstGeom>
          <a:noFill/>
          <a:ln/>
        </p:spPr>
        <p:txBody>
          <a:bodyPr wrap="none" lIns="0" tIns="0" rIns="0" bIns="0" rtlCol="0" anchor="t"/>
          <a:lstStyle/>
          <a:p>
            <a:pPr marL="0" indent="0" algn="l">
              <a:lnSpc>
                <a:spcPts val="2750"/>
              </a:lnSpc>
              <a:buNone/>
            </a:pPr>
            <a:r>
              <a:rPr lang="en-US" sz="2100" b="1" dirty="0">
                <a:solidFill>
                  <a:srgbClr val="EBEDF0"/>
                </a:solidFill>
                <a:latin typeface="Geist Bold" pitchFamily="34" charset="0"/>
                <a:ea typeface="Geist Bold" pitchFamily="34" charset="-122"/>
                <a:cs typeface="Geist Bold" pitchFamily="34" charset="-120"/>
              </a:rPr>
              <a:t>Smedley D. Butler (1935)</a:t>
            </a:r>
            <a:endParaRPr lang="en-US" sz="2100" dirty="0"/>
          </a:p>
        </p:txBody>
      </p:sp>
      <p:sp>
        <p:nvSpPr>
          <p:cNvPr id="20" name="Text 17"/>
          <p:cNvSpPr/>
          <p:nvPr/>
        </p:nvSpPr>
        <p:spPr>
          <a:xfrm>
            <a:off x="7567136" y="5231963"/>
            <a:ext cx="6306622" cy="548878"/>
          </a:xfrm>
          <a:prstGeom prst="rect">
            <a:avLst/>
          </a:prstGeom>
          <a:noFill/>
          <a:ln/>
        </p:spPr>
        <p:txBody>
          <a:bodyPr wrap="square" lIns="0" tIns="0" rIns="0" bIns="0" rtlCol="0" anchor="t"/>
          <a:lstStyle/>
          <a:p>
            <a:pPr marL="0" indent="0" algn="l">
              <a:lnSpc>
                <a:spcPts val="2150"/>
              </a:lnSpc>
              <a:buNone/>
            </a:pPr>
            <a:r>
              <a:rPr lang="en-US" sz="1700" dirty="0">
                <a:solidFill>
                  <a:srgbClr val="EBEDF0"/>
                </a:solidFill>
                <a:latin typeface="Geist" pitchFamily="34" charset="0"/>
                <a:ea typeface="Geist" pitchFamily="34" charset="-122"/>
                <a:cs typeface="Geist" pitchFamily="34" charset="-120"/>
              </a:rPr>
              <a:t>«Fui un pistolero de primera clase para los Grandes Negocios, para Wall Street y los banqueros.»</a:t>
            </a:r>
            <a:endParaRPr lang="en-US" sz="1700" dirty="0"/>
          </a:p>
        </p:txBody>
      </p:sp>
      <p:sp>
        <p:nvSpPr>
          <p:cNvPr id="21" name="Shape 18"/>
          <p:cNvSpPr/>
          <p:nvPr/>
        </p:nvSpPr>
        <p:spPr>
          <a:xfrm>
            <a:off x="6698873" y="6420803"/>
            <a:ext cx="648533" cy="30480"/>
          </a:xfrm>
          <a:prstGeom prst="roundRect">
            <a:avLst>
              <a:gd name="adj" fmla="val 297907"/>
            </a:avLst>
          </a:prstGeom>
          <a:solidFill>
            <a:srgbClr val="002A80"/>
          </a:solidFill>
          <a:ln/>
        </p:spPr>
      </p:sp>
      <p:sp>
        <p:nvSpPr>
          <p:cNvPr id="22" name="Shape 19"/>
          <p:cNvSpPr/>
          <p:nvPr/>
        </p:nvSpPr>
        <p:spPr>
          <a:xfrm>
            <a:off x="6242983" y="6192917"/>
            <a:ext cx="486370" cy="486370"/>
          </a:xfrm>
          <a:prstGeom prst="roundRect">
            <a:avLst>
              <a:gd name="adj" fmla="val 18669"/>
            </a:avLst>
          </a:prstGeom>
          <a:solidFill>
            <a:srgbClr val="101620"/>
          </a:solidFill>
          <a:ln w="22860">
            <a:solidFill>
              <a:srgbClr val="002A80"/>
            </a:solidFill>
            <a:prstDash val="solid"/>
          </a:ln>
        </p:spPr>
      </p:sp>
      <p:sp>
        <p:nvSpPr>
          <p:cNvPr id="23" name="Text 20"/>
          <p:cNvSpPr/>
          <p:nvPr/>
        </p:nvSpPr>
        <p:spPr>
          <a:xfrm>
            <a:off x="6324005" y="6225302"/>
            <a:ext cx="324207" cy="421481"/>
          </a:xfrm>
          <a:prstGeom prst="rect">
            <a:avLst/>
          </a:prstGeom>
          <a:noFill/>
          <a:ln/>
        </p:spPr>
        <p:txBody>
          <a:bodyPr wrap="none" lIns="0" tIns="0" rIns="0" bIns="0" rtlCol="0" anchor="t"/>
          <a:lstStyle/>
          <a:p>
            <a:pPr marL="0" indent="0" algn="ctr">
              <a:lnSpc>
                <a:spcPts val="2550"/>
              </a:lnSpc>
              <a:buNone/>
            </a:pPr>
            <a:r>
              <a:rPr lang="en-US" sz="2550" b="1" dirty="0">
                <a:solidFill>
                  <a:srgbClr val="EBEDF0"/>
                </a:solidFill>
                <a:latin typeface="Geist Bold" pitchFamily="34" charset="0"/>
                <a:ea typeface="Geist Bold" pitchFamily="34" charset="-122"/>
                <a:cs typeface="Geist Bold" pitchFamily="34" charset="-120"/>
              </a:rPr>
              <a:t>4</a:t>
            </a:r>
            <a:endParaRPr lang="en-US" sz="2550" dirty="0"/>
          </a:p>
        </p:txBody>
      </p:sp>
      <p:sp>
        <p:nvSpPr>
          <p:cNvPr id="24" name="Text 21"/>
          <p:cNvSpPr/>
          <p:nvPr/>
        </p:nvSpPr>
        <p:spPr>
          <a:xfrm>
            <a:off x="7567136" y="6260425"/>
            <a:ext cx="2702362" cy="351353"/>
          </a:xfrm>
          <a:prstGeom prst="rect">
            <a:avLst/>
          </a:prstGeom>
          <a:noFill/>
          <a:ln/>
        </p:spPr>
        <p:txBody>
          <a:bodyPr wrap="none" lIns="0" tIns="0" rIns="0" bIns="0" rtlCol="0" anchor="t"/>
          <a:lstStyle/>
          <a:p>
            <a:pPr marL="0" indent="0" algn="l">
              <a:lnSpc>
                <a:spcPts val="2750"/>
              </a:lnSpc>
              <a:buNone/>
            </a:pPr>
            <a:r>
              <a:rPr lang="en-US" sz="2100" b="1" dirty="0">
                <a:solidFill>
                  <a:srgbClr val="EBEDF0"/>
                </a:solidFill>
                <a:latin typeface="Geist Bold" pitchFamily="34" charset="0"/>
                <a:ea typeface="Geist Bold" pitchFamily="34" charset="-122"/>
                <a:cs typeface="Geist Bold" pitchFamily="34" charset="-120"/>
              </a:rPr>
              <a:t>La Doctrina Monroe</a:t>
            </a:r>
            <a:endParaRPr lang="en-US" sz="2100" dirty="0"/>
          </a:p>
        </p:txBody>
      </p:sp>
      <p:sp>
        <p:nvSpPr>
          <p:cNvPr id="25" name="Text 22"/>
          <p:cNvSpPr/>
          <p:nvPr/>
        </p:nvSpPr>
        <p:spPr>
          <a:xfrm>
            <a:off x="7567136" y="6735366"/>
            <a:ext cx="6306622" cy="823317"/>
          </a:xfrm>
          <a:prstGeom prst="rect">
            <a:avLst/>
          </a:prstGeom>
          <a:noFill/>
          <a:ln/>
        </p:spPr>
        <p:txBody>
          <a:bodyPr wrap="square" lIns="0" tIns="0" rIns="0" bIns="0" rtlCol="0" anchor="t"/>
          <a:lstStyle/>
          <a:p>
            <a:pPr marL="0" indent="0" algn="l">
              <a:lnSpc>
                <a:spcPts val="2150"/>
              </a:lnSpc>
              <a:buNone/>
            </a:pPr>
            <a:r>
              <a:rPr lang="en-US" sz="1700" dirty="0">
                <a:solidFill>
                  <a:srgbClr val="EBEDF0"/>
                </a:solidFill>
                <a:latin typeface="Geist" pitchFamily="34" charset="0"/>
                <a:ea typeface="Geist" pitchFamily="34" charset="-122"/>
                <a:cs typeface="Geist" pitchFamily="34" charset="-120"/>
              </a:rPr>
              <a:t>Todo el hemisferio sería nuestro, «de hecho, como ya es nuestro moralmente en virtud de nuestra superioridad racial» — Taft, 1912.</a:t>
            </a:r>
            <a:endParaRPr lang="en-US" sz="1700" dirty="0"/>
          </a:p>
        </p:txBody>
      </p:sp>
      <p:pic>
        <p:nvPicPr>
          <p:cNvPr id="26" name="Imagen 25">
            <a:extLst>
              <a:ext uri="{FF2B5EF4-FFF2-40B4-BE49-F238E27FC236}">
                <a16:creationId xmlns:a16="http://schemas.microsoft.com/office/drawing/2014/main" id="{02F6DDB3-D3A1-18B7-30E2-A76402807FCE}"/>
              </a:ext>
            </a:extLst>
          </p:cNvPr>
          <p:cNvPicPr>
            <a:picLocks noChangeAspect="1"/>
          </p:cNvPicPr>
          <p:nvPr/>
        </p:nvPicPr>
        <p:blipFill>
          <a:blip r:embed="rId4"/>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barn(inVertical)">
                                      <p:cBhvr>
                                        <p:cTn id="21" dur="500"/>
                                        <p:tgtEl>
                                          <p:spTgt spid="9">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4">
                                            <p:txEl>
                                              <p:pRg st="0" end="0"/>
                                            </p:txEl>
                                          </p:spTgt>
                                        </p:tgtEl>
                                        <p:attrNameLst>
                                          <p:attrName>style.visibility</p:attrName>
                                        </p:attrNameLst>
                                      </p:cBhvr>
                                      <p:to>
                                        <p:strVal val="visible"/>
                                      </p:to>
                                    </p:set>
                                    <p:animEffect transition="in" filter="fade">
                                      <p:cBhvr>
                                        <p:cTn id="33" dur="1000"/>
                                        <p:tgtEl>
                                          <p:spTgt spid="14">
                                            <p:txEl>
                                              <p:pRg st="0" end="0"/>
                                            </p:txEl>
                                          </p:spTgt>
                                        </p:tgtEl>
                                      </p:cBhvr>
                                    </p:animEffect>
                                    <p:anim calcmode="lin" valueType="num">
                                      <p:cBhvr>
                                        <p:cTn id="34"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1000"/>
                                        <p:tgtEl>
                                          <p:spTgt spid="19"/>
                                        </p:tgtEl>
                                      </p:cBhvr>
                                    </p:animEffect>
                                    <p:anim calcmode="lin" valueType="num">
                                      <p:cBhvr>
                                        <p:cTn id="48" dur="1000" fill="hold"/>
                                        <p:tgtEl>
                                          <p:spTgt spid="19"/>
                                        </p:tgtEl>
                                        <p:attrNameLst>
                                          <p:attrName>ppt_x</p:attrName>
                                        </p:attrNameLst>
                                      </p:cBhvr>
                                      <p:tavLst>
                                        <p:tav tm="0">
                                          <p:val>
                                            <p:strVal val="#ppt_x"/>
                                          </p:val>
                                        </p:tav>
                                        <p:tav tm="100000">
                                          <p:val>
                                            <p:strVal val="#ppt_x"/>
                                          </p:val>
                                        </p:tav>
                                      </p:tavLst>
                                    </p:anim>
                                    <p:anim calcmode="lin" valueType="num">
                                      <p:cBhvr>
                                        <p:cTn id="4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6" presetClass="entr" presetSubtype="21" fill="hold" grpId="0" nodeType="click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barn(inVertical)">
                                      <p:cBhvr>
                                        <p:cTn id="54" dur="500"/>
                                        <p:tgtEl>
                                          <p:spTgt spid="20"/>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6" presetClass="entr" presetSubtype="21"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barn(inVertical)">
                                      <p:cBhvr>
                                        <p:cTn id="6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5" grpId="0" animBg="1"/>
      <p:bldP spid="19"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44260" y="615434"/>
            <a:ext cx="10921722" cy="691039"/>
          </a:xfrm>
          <a:prstGeom prst="rect">
            <a:avLst/>
          </a:prstGeom>
          <a:noFill/>
          <a:ln/>
        </p:spPr>
        <p:txBody>
          <a:bodyPr wrap="none" lIns="0" tIns="0" rIns="0" bIns="0" rtlCol="0" anchor="t"/>
          <a:lstStyle/>
          <a:p>
            <a:pPr marL="0" indent="0" algn="l">
              <a:lnSpc>
                <a:spcPts val="5400"/>
              </a:lnSpc>
              <a:buNone/>
            </a:pPr>
            <a:r>
              <a:rPr lang="en-US" sz="4150" b="1" dirty="0">
                <a:solidFill>
                  <a:srgbClr val="F2F5FA"/>
                </a:solidFill>
                <a:latin typeface="Geist Bold" pitchFamily="34" charset="0"/>
                <a:ea typeface="Geist Bold" pitchFamily="34" charset="-122"/>
                <a:cs typeface="Geist Bold" pitchFamily="34" charset="-120"/>
              </a:rPr>
              <a:t>¿Quién Desató la Violencia en Guatemala?</a:t>
            </a:r>
            <a:endParaRPr lang="en-US" sz="4150" dirty="0"/>
          </a:p>
        </p:txBody>
      </p:sp>
      <p:sp>
        <p:nvSpPr>
          <p:cNvPr id="3" name="Text 1"/>
          <p:cNvSpPr/>
          <p:nvPr/>
        </p:nvSpPr>
        <p:spPr>
          <a:xfrm>
            <a:off x="744260" y="2656880"/>
            <a:ext cx="4755594" cy="345519"/>
          </a:xfrm>
          <a:prstGeom prst="rect">
            <a:avLst/>
          </a:prstGeom>
          <a:noFill/>
          <a:ln/>
        </p:spPr>
        <p:txBody>
          <a:bodyPr wrap="none" lIns="0" tIns="0" rIns="0" bIns="0" rtlCol="0" anchor="t"/>
          <a:lstStyle/>
          <a:p>
            <a:pPr marL="0" indent="0" algn="l">
              <a:lnSpc>
                <a:spcPts val="2700"/>
              </a:lnSpc>
              <a:buNone/>
            </a:pPr>
            <a:r>
              <a:rPr lang="en-US" sz="2050" b="1" dirty="0">
                <a:solidFill>
                  <a:srgbClr val="F2F5FA"/>
                </a:solidFill>
                <a:latin typeface="Geist Bold" pitchFamily="34" charset="0"/>
                <a:ea typeface="Geist Bold" pitchFamily="34" charset="-122"/>
                <a:cs typeface="Geist Bold" pitchFamily="34" charset="-120"/>
              </a:rPr>
              <a:t>La Reforma Agraria de Arbenz (1952)</a:t>
            </a:r>
            <a:endParaRPr lang="en-US" sz="2050" dirty="0"/>
          </a:p>
        </p:txBody>
      </p:sp>
      <p:sp>
        <p:nvSpPr>
          <p:cNvPr id="4" name="Text 2"/>
          <p:cNvSpPr/>
          <p:nvPr/>
        </p:nvSpPr>
        <p:spPr>
          <a:xfrm>
            <a:off x="744260" y="3201710"/>
            <a:ext cx="8360688" cy="535543"/>
          </a:xfrm>
          <a:prstGeom prst="rect">
            <a:avLst/>
          </a:prstGeom>
          <a:noFill/>
          <a:ln/>
        </p:spPr>
        <p:txBody>
          <a:bodyPr wrap="square" lIns="0" tIns="0" rIns="0" bIns="0" rtlCol="0" anchor="t"/>
          <a:lstStyle/>
          <a:p>
            <a:pPr marL="0" indent="0" algn="l">
              <a:lnSpc>
                <a:spcPts val="2100"/>
              </a:lnSpc>
              <a:buNone/>
            </a:pPr>
            <a:r>
              <a:rPr lang="en-US" sz="1650" dirty="0">
                <a:solidFill>
                  <a:srgbClr val="EBEDF0"/>
                </a:solidFill>
                <a:latin typeface="Geist" pitchFamily="34" charset="0"/>
                <a:ea typeface="Geist" pitchFamily="34" charset="-122"/>
                <a:cs typeface="Geist" pitchFamily="34" charset="-120"/>
              </a:rPr>
              <a:t>Benefició a más de </a:t>
            </a:r>
            <a:r>
              <a:rPr lang="en-US" sz="1650" b="1" dirty="0">
                <a:solidFill>
                  <a:srgbClr val="EBEDF0"/>
                </a:solidFill>
                <a:latin typeface="Geist" pitchFamily="34" charset="0"/>
                <a:ea typeface="Geist" pitchFamily="34" charset="-122"/>
                <a:cs typeface="Geist" pitchFamily="34" charset="-120"/>
              </a:rPr>
              <a:t>100,000 familias</a:t>
            </a:r>
            <a:r>
              <a:rPr lang="en-US" sz="1650" dirty="0">
                <a:solidFill>
                  <a:srgbClr val="EBEDF0"/>
                </a:solidFill>
                <a:latin typeface="Geist" pitchFamily="34" charset="0"/>
                <a:ea typeface="Geist" pitchFamily="34" charset="-122"/>
                <a:cs typeface="Geist" pitchFamily="34" charset="-120"/>
              </a:rPr>
              <a:t>, afectando solo tierras improductivas. La United Fruit cultivaba apenas el </a:t>
            </a:r>
            <a:r>
              <a:rPr lang="en-US" sz="1650" b="1" dirty="0">
                <a:solidFill>
                  <a:srgbClr val="EBEDF0"/>
                </a:solidFill>
                <a:latin typeface="Geist" pitchFamily="34" charset="0"/>
                <a:ea typeface="Geist" pitchFamily="34" charset="-122"/>
                <a:cs typeface="Geist" pitchFamily="34" charset="-120"/>
              </a:rPr>
              <a:t>8%</a:t>
            </a:r>
            <a:r>
              <a:rPr lang="en-US" sz="1650" dirty="0">
                <a:solidFill>
                  <a:srgbClr val="EBEDF0"/>
                </a:solidFill>
                <a:latin typeface="Geist" pitchFamily="34" charset="0"/>
                <a:ea typeface="Geist" pitchFamily="34" charset="-122"/>
                <a:cs typeface="Geist" pitchFamily="34" charset="-120"/>
              </a:rPr>
              <a:t> de sus tierras.</a:t>
            </a:r>
            <a:endParaRPr lang="en-US" sz="1650" dirty="0"/>
          </a:p>
        </p:txBody>
      </p:sp>
      <p:sp>
        <p:nvSpPr>
          <p:cNvPr id="5" name="Text 3"/>
          <p:cNvSpPr/>
          <p:nvPr/>
        </p:nvSpPr>
        <p:spPr>
          <a:xfrm>
            <a:off x="744260" y="3936563"/>
            <a:ext cx="2658070" cy="345519"/>
          </a:xfrm>
          <a:prstGeom prst="rect">
            <a:avLst/>
          </a:prstGeom>
          <a:noFill/>
          <a:ln/>
        </p:spPr>
        <p:txBody>
          <a:bodyPr wrap="none" lIns="0" tIns="0" rIns="0" bIns="0" rtlCol="0" anchor="t"/>
          <a:lstStyle/>
          <a:p>
            <a:pPr marL="0" indent="0" algn="l">
              <a:lnSpc>
                <a:spcPts val="2700"/>
              </a:lnSpc>
              <a:buNone/>
            </a:pPr>
            <a:r>
              <a:rPr lang="en-US" sz="2050" b="1" dirty="0">
                <a:solidFill>
                  <a:srgbClr val="F2F5FA"/>
                </a:solidFill>
                <a:latin typeface="Geist Bold" pitchFamily="34" charset="0"/>
                <a:ea typeface="Geist Bold" pitchFamily="34" charset="-122"/>
                <a:cs typeface="Geist Bold" pitchFamily="34" charset="-120"/>
              </a:rPr>
              <a:t>La Invasión (1954)</a:t>
            </a:r>
            <a:endParaRPr lang="en-US" sz="2050" dirty="0"/>
          </a:p>
        </p:txBody>
      </p:sp>
      <p:sp>
        <p:nvSpPr>
          <p:cNvPr id="6" name="Text 4"/>
          <p:cNvSpPr/>
          <p:nvPr/>
        </p:nvSpPr>
        <p:spPr>
          <a:xfrm>
            <a:off x="744260" y="4481393"/>
            <a:ext cx="8360688" cy="803315"/>
          </a:xfrm>
          <a:prstGeom prst="rect">
            <a:avLst/>
          </a:prstGeom>
          <a:noFill/>
          <a:ln/>
        </p:spPr>
        <p:txBody>
          <a:bodyPr wrap="square" lIns="0" tIns="0" rIns="0" bIns="0" rtlCol="0" anchor="t"/>
          <a:lstStyle/>
          <a:p>
            <a:pPr marL="0" indent="0" algn="l">
              <a:lnSpc>
                <a:spcPts val="2100"/>
              </a:lnSpc>
              <a:buNone/>
            </a:pPr>
            <a:r>
              <a:rPr lang="en-US" sz="1650" dirty="0">
                <a:solidFill>
                  <a:srgbClr val="EBEDF0"/>
                </a:solidFill>
                <a:latin typeface="Geist" pitchFamily="34" charset="0"/>
                <a:ea typeface="Geist" pitchFamily="34" charset="-122"/>
                <a:cs typeface="Geist" pitchFamily="34" charset="-120"/>
              </a:rPr>
              <a:t>El coronel Castillo Armas, graduado en Fort Leavenworth, invadió con tropas entrenadas en EE.UU. Allen Dulles (CIA) había integrado el directorio de la United Fruit. </a:t>
            </a:r>
            <a:r>
              <a:rPr lang="en-US" sz="1650" b="1" dirty="0">
                <a:solidFill>
                  <a:srgbClr val="EBEDF0"/>
                </a:solidFill>
                <a:latin typeface="Geist" pitchFamily="34" charset="0"/>
                <a:ea typeface="Geist" pitchFamily="34" charset="-122"/>
                <a:cs typeface="Geist" pitchFamily="34" charset="-120"/>
              </a:rPr>
              <a:t>Eisenhower:</a:t>
            </a:r>
            <a:r>
              <a:rPr lang="en-US" sz="1650" dirty="0">
                <a:solidFill>
                  <a:srgbClr val="EBEDF0"/>
                </a:solidFill>
                <a:latin typeface="Geist" pitchFamily="34" charset="0"/>
                <a:ea typeface="Geist" pitchFamily="34" charset="-122"/>
                <a:cs typeface="Geist" pitchFamily="34" charset="-120"/>
              </a:rPr>
              <a:t> «Tuvimos que deshacernos de un gobierno comunista.»</a:t>
            </a:r>
            <a:endParaRPr lang="en-US" sz="1650" dirty="0"/>
          </a:p>
        </p:txBody>
      </p:sp>
      <p:pic>
        <p:nvPicPr>
          <p:cNvPr id="7" name="Image 0" descr="preencoded.png"/>
          <p:cNvPicPr>
            <a:picLocks noChangeAspect="1"/>
          </p:cNvPicPr>
          <p:nvPr/>
        </p:nvPicPr>
        <p:blipFill>
          <a:blip r:embed="rId3"/>
          <a:stretch>
            <a:fillRect/>
          </a:stretch>
        </p:blipFill>
        <p:spPr>
          <a:xfrm>
            <a:off x="9631204" y="1829633"/>
            <a:ext cx="4262438" cy="4262438"/>
          </a:xfrm>
          <a:prstGeom prst="rect">
            <a:avLst/>
          </a:prstGeom>
        </p:spPr>
      </p:pic>
      <p:sp>
        <p:nvSpPr>
          <p:cNvPr id="8" name="Shape 5"/>
          <p:cNvSpPr/>
          <p:nvPr/>
        </p:nvSpPr>
        <p:spPr>
          <a:xfrm>
            <a:off x="744260" y="6540460"/>
            <a:ext cx="13141881" cy="1073587"/>
          </a:xfrm>
          <a:prstGeom prst="roundRect">
            <a:avLst>
              <a:gd name="adj" fmla="val 8319"/>
            </a:avLst>
          </a:prstGeom>
          <a:solidFill>
            <a:srgbClr val="450707"/>
          </a:solidFill>
          <a:ln/>
        </p:spPr>
      </p:sp>
      <p:pic>
        <p:nvPicPr>
          <p:cNvPr id="9" name="Image 1" descr="preencoded.png"/>
          <p:cNvPicPr>
            <a:picLocks noChangeAspect="1"/>
          </p:cNvPicPr>
          <p:nvPr/>
        </p:nvPicPr>
        <p:blipFill>
          <a:blip r:embed="rId4"/>
          <a:stretch>
            <a:fillRect/>
          </a:stretch>
        </p:blipFill>
        <p:spPr>
          <a:xfrm>
            <a:off x="956905" y="6825853"/>
            <a:ext cx="265748" cy="212646"/>
          </a:xfrm>
          <a:prstGeom prst="rect">
            <a:avLst/>
          </a:prstGeom>
        </p:spPr>
      </p:pic>
      <p:sp>
        <p:nvSpPr>
          <p:cNvPr id="10" name="Text 6"/>
          <p:cNvSpPr/>
          <p:nvPr/>
        </p:nvSpPr>
        <p:spPr>
          <a:xfrm>
            <a:off x="1435298" y="6792873"/>
            <a:ext cx="12238196" cy="535543"/>
          </a:xfrm>
          <a:prstGeom prst="rect">
            <a:avLst/>
          </a:prstGeom>
          <a:noFill/>
          <a:ln/>
        </p:spPr>
        <p:txBody>
          <a:bodyPr wrap="square" lIns="0" tIns="0" rIns="0" bIns="0" rtlCol="0" anchor="t"/>
          <a:lstStyle/>
          <a:p>
            <a:pPr marL="0" indent="0" algn="l">
              <a:lnSpc>
                <a:spcPts val="2100"/>
              </a:lnSpc>
              <a:buNone/>
            </a:pPr>
            <a:r>
              <a:rPr lang="en-US" sz="1650" dirty="0">
                <a:solidFill>
                  <a:srgbClr val="FFFFFF"/>
                </a:solidFill>
                <a:latin typeface="Geist" pitchFamily="34" charset="0"/>
                <a:ea typeface="Geist" pitchFamily="34" charset="-122"/>
                <a:cs typeface="Geist" pitchFamily="34" charset="-120"/>
              </a:rPr>
              <a:t>En 1967, grupos terroristas de derecha habían asesinado a más de </a:t>
            </a:r>
            <a:r>
              <a:rPr lang="en-US" sz="1650" b="1" dirty="0">
                <a:solidFill>
                  <a:srgbClr val="FFFFFF"/>
                </a:solidFill>
                <a:latin typeface="Geist" pitchFamily="34" charset="0"/>
                <a:ea typeface="Geist" pitchFamily="34" charset="-122"/>
                <a:cs typeface="Geist" pitchFamily="34" charset="-120"/>
              </a:rPr>
              <a:t>2,800</a:t>
            </a:r>
            <a:r>
              <a:rPr lang="en-US" sz="1650" dirty="0">
                <a:solidFill>
                  <a:srgbClr val="FFFFFF"/>
                </a:solidFill>
                <a:latin typeface="Geist" pitchFamily="34" charset="0"/>
                <a:ea typeface="Geist" pitchFamily="34" charset="-122"/>
                <a:cs typeface="Geist" pitchFamily="34" charset="-120"/>
              </a:rPr>
              <a:t> intelectuales, estudiantes y campesinos. De 70,000 muertes anuales, 30,000 eran niños.</a:t>
            </a:r>
            <a:endParaRPr lang="en-US" sz="1650" dirty="0"/>
          </a:p>
        </p:txBody>
      </p:sp>
      <p:pic>
        <p:nvPicPr>
          <p:cNvPr id="11" name="Imagen 10">
            <a:extLst>
              <a:ext uri="{FF2B5EF4-FFF2-40B4-BE49-F238E27FC236}">
                <a16:creationId xmlns:a16="http://schemas.microsoft.com/office/drawing/2014/main" id="{4C7D42F9-4F5B-96A6-19BA-191742701DD9}"/>
              </a:ext>
            </a:extLst>
          </p:cNvPr>
          <p:cNvPicPr>
            <a:picLocks noChangeAspect="1"/>
          </p:cNvPicPr>
          <p:nvPr/>
        </p:nvPicPr>
        <p:blipFill>
          <a:blip r:embed="rId5"/>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8" presetClass="emph" presetSubtype="0" fill="hold" grpId="0" nodeType="clickEffect">
                                  <p:stCondLst>
                                    <p:cond delay="0"/>
                                  </p:stCondLst>
                                  <p:childTnLst>
                                    <p:animRot by="21600000">
                                      <p:cBhvr>
                                        <p:cTn id="25" dur="2000" fill="hold"/>
                                        <p:tgtEl>
                                          <p:spTgt spid="5"/>
                                        </p:tgtEl>
                                        <p:attrNameLst>
                                          <p:attrName>r</p:attrName>
                                        </p:attrNameLst>
                                      </p:cBhvr>
                                    </p:animRot>
                                  </p:childTnLst>
                                </p:cTn>
                              </p:par>
                            </p:childTnLst>
                          </p:cTn>
                        </p:par>
                      </p:childTnLst>
                    </p:cTn>
                  </p:par>
                  <p:par>
                    <p:cTn id="26" fill="hold">
                      <p:stCondLst>
                        <p:cond delay="indefinite"/>
                      </p:stCondLst>
                      <p:childTnLst>
                        <p:par>
                          <p:cTn id="27" fill="hold">
                            <p:stCondLst>
                              <p:cond delay="0"/>
                            </p:stCondLst>
                            <p:childTnLst>
                              <p:par>
                                <p:cTn id="28" presetID="34" presetClass="emph" presetSubtype="0" fill="hold" grpId="0" nodeType="clickEffect">
                                  <p:stCondLst>
                                    <p:cond delay="0"/>
                                  </p:stCondLst>
                                  <p:iterate type="lt">
                                    <p:tmPct val="10000"/>
                                  </p:iterate>
                                  <p:childTnLst>
                                    <p:animMotion origin="layout" path="M 0.0 0.0 L 0.0 -0.07213" pathEditMode="relative" ptsTypes="">
                                      <p:cBhvr>
                                        <p:cTn id="29" dur="250" accel="50000" decel="50000" autoRev="1" fill="hold">
                                          <p:stCondLst>
                                            <p:cond delay="0"/>
                                          </p:stCondLst>
                                        </p:cTn>
                                        <p:tgtEl>
                                          <p:spTgt spid="6"/>
                                        </p:tgtEl>
                                        <p:attrNameLst>
                                          <p:attrName>ppt_x</p:attrName>
                                          <p:attrName>ppt_y</p:attrName>
                                        </p:attrNameLst>
                                      </p:cBhvr>
                                    </p:animMotion>
                                    <p:animRot by="1500000">
                                      <p:cBhvr>
                                        <p:cTn id="30" dur="125" fill="hold">
                                          <p:stCondLst>
                                            <p:cond delay="0"/>
                                          </p:stCondLst>
                                        </p:cTn>
                                        <p:tgtEl>
                                          <p:spTgt spid="6"/>
                                        </p:tgtEl>
                                        <p:attrNameLst>
                                          <p:attrName>r</p:attrName>
                                        </p:attrNameLst>
                                      </p:cBhvr>
                                    </p:animRot>
                                    <p:animRot by="-1500000">
                                      <p:cBhvr>
                                        <p:cTn id="31" dur="125" fill="hold">
                                          <p:stCondLst>
                                            <p:cond delay="125"/>
                                          </p:stCondLst>
                                        </p:cTn>
                                        <p:tgtEl>
                                          <p:spTgt spid="6"/>
                                        </p:tgtEl>
                                        <p:attrNameLst>
                                          <p:attrName>r</p:attrName>
                                        </p:attrNameLst>
                                      </p:cBhvr>
                                    </p:animRot>
                                    <p:animRot by="-1500000">
                                      <p:cBhvr>
                                        <p:cTn id="32" dur="125" fill="hold">
                                          <p:stCondLst>
                                            <p:cond delay="250"/>
                                          </p:stCondLst>
                                        </p:cTn>
                                        <p:tgtEl>
                                          <p:spTgt spid="6"/>
                                        </p:tgtEl>
                                        <p:attrNameLst>
                                          <p:attrName>r</p:attrName>
                                        </p:attrNameLst>
                                      </p:cBhvr>
                                    </p:animRot>
                                    <p:animRot by="1500000">
                                      <p:cBhvr>
                                        <p:cTn id="33" dur="125" fill="hold">
                                          <p:stCondLst>
                                            <p:cond delay="375"/>
                                          </p:stCondLst>
                                        </p:cTn>
                                        <p:tgtEl>
                                          <p:spTgt spid="6"/>
                                        </p:tgtEl>
                                        <p:attrNameLst>
                                          <p:attrName>r</p:attrName>
                                        </p:attrNameLst>
                                      </p:cBhvr>
                                    </p:animRot>
                                  </p:childTnLst>
                                </p:cTn>
                              </p:par>
                            </p:childTnLst>
                          </p:cTn>
                        </p:par>
                      </p:childTnLst>
                    </p:cTn>
                  </p:par>
                  <p:par>
                    <p:cTn id="34" fill="hold">
                      <p:stCondLst>
                        <p:cond delay="indefinite"/>
                      </p:stCondLst>
                      <p:childTnLst>
                        <p:par>
                          <p:cTn id="35" fill="hold">
                            <p:stCondLst>
                              <p:cond delay="0"/>
                            </p:stCondLst>
                            <p:childTnLst>
                              <p:par>
                                <p:cTn id="36" presetID="8" presetClass="emph" presetSubtype="0" fill="hold" nodeType="clickEffect">
                                  <p:stCondLst>
                                    <p:cond delay="0"/>
                                  </p:stCondLst>
                                  <p:childTnLst>
                                    <p:animRot by="21600000">
                                      <p:cBhvr>
                                        <p:cTn id="37" dur="2000" fill="hold"/>
                                        <p:tgtEl>
                                          <p:spTgt spid="7"/>
                                        </p:tgtEl>
                                        <p:attrNameLst>
                                          <p:attrName>r</p:attrName>
                                        </p:attrNameLst>
                                      </p:cBhvr>
                                    </p:animRo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01416"/>
            <a:ext cx="12482513" cy="737116"/>
          </a:xfrm>
          <a:prstGeom prst="rect">
            <a:avLst/>
          </a:prstGeom>
          <a:noFill/>
          <a:ln/>
        </p:spPr>
        <p:txBody>
          <a:bodyPr wrap="none" lIns="0" tIns="0" rIns="0" bIns="0" rtlCol="0" anchor="t"/>
          <a:lstStyle/>
          <a:p>
            <a:pPr marL="0" indent="0" algn="l">
              <a:lnSpc>
                <a:spcPts val="5800"/>
              </a:lnSpc>
              <a:buNone/>
            </a:pPr>
            <a:r>
              <a:rPr lang="en-US" sz="4450" b="1" dirty="0">
                <a:solidFill>
                  <a:srgbClr val="F2F5FA"/>
                </a:solidFill>
                <a:latin typeface="Geist Bold" pitchFamily="34" charset="0"/>
                <a:ea typeface="Geist Bold" pitchFamily="34" charset="-122"/>
                <a:cs typeface="Geist Bold" pitchFamily="34" charset="-120"/>
              </a:rPr>
              <a:t>La Primera Reforma Agraria: Artigas y Zapata</a:t>
            </a:r>
            <a:endParaRPr lang="en-US" sz="4450" dirty="0"/>
          </a:p>
        </p:txBody>
      </p:sp>
      <p:sp>
        <p:nvSpPr>
          <p:cNvPr id="3" name="Shape 1"/>
          <p:cNvSpPr/>
          <p:nvPr/>
        </p:nvSpPr>
        <p:spPr>
          <a:xfrm>
            <a:off x="793790" y="2992160"/>
            <a:ext cx="4196358" cy="3436025"/>
          </a:xfrm>
          <a:prstGeom prst="roundRect">
            <a:avLst>
              <a:gd name="adj" fmla="val 2773"/>
            </a:avLst>
          </a:prstGeom>
          <a:solidFill>
            <a:srgbClr val="101620"/>
          </a:solidFill>
          <a:ln w="22860">
            <a:solidFill>
              <a:srgbClr val="002A80"/>
            </a:solidFill>
            <a:prstDash val="solid"/>
          </a:ln>
        </p:spPr>
      </p:sp>
      <p:sp>
        <p:nvSpPr>
          <p:cNvPr id="4" name="Text 2"/>
          <p:cNvSpPr/>
          <p:nvPr/>
        </p:nvSpPr>
        <p:spPr>
          <a:xfrm>
            <a:off x="1043464" y="3241834"/>
            <a:ext cx="2835235" cy="368498"/>
          </a:xfrm>
          <a:prstGeom prst="rect">
            <a:avLst/>
          </a:prstGeom>
          <a:noFill/>
          <a:ln/>
        </p:spPr>
        <p:txBody>
          <a:bodyPr wrap="none" lIns="0" tIns="0" rIns="0" bIns="0" rtlCol="0" anchor="t"/>
          <a:lstStyle/>
          <a:p>
            <a:pPr marL="0" indent="0" algn="l">
              <a:lnSpc>
                <a:spcPts val="2900"/>
              </a:lnSpc>
              <a:buNone/>
            </a:pPr>
            <a:r>
              <a:rPr lang="en-US" sz="2200" b="1" dirty="0">
                <a:solidFill>
                  <a:srgbClr val="EBEDF0"/>
                </a:solidFill>
                <a:latin typeface="Geist Bold" pitchFamily="34" charset="0"/>
                <a:ea typeface="Geist Bold" pitchFamily="34" charset="-122"/>
                <a:cs typeface="Geist Bold" pitchFamily="34" charset="-120"/>
              </a:rPr>
              <a:t>José Artigas (1815)</a:t>
            </a:r>
            <a:endParaRPr lang="en-US" sz="2200" dirty="0"/>
          </a:p>
        </p:txBody>
      </p:sp>
      <p:sp>
        <p:nvSpPr>
          <p:cNvPr id="5" name="Text 3"/>
          <p:cNvSpPr/>
          <p:nvPr/>
        </p:nvSpPr>
        <p:spPr>
          <a:xfrm>
            <a:off x="1043464" y="3746421"/>
            <a:ext cx="3697010" cy="2063591"/>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«Los más infelices serán los más privilegiados.» Expropió tierras de «malos europeos y peores americanos». Derrotado por la invasión portuguesa y la traición oligárquica, murió en exilio en Paraguay.</a:t>
            </a:r>
            <a:endParaRPr lang="en-US" sz="1750" dirty="0"/>
          </a:p>
        </p:txBody>
      </p:sp>
      <p:sp>
        <p:nvSpPr>
          <p:cNvPr id="6" name="Shape 4"/>
          <p:cNvSpPr/>
          <p:nvPr/>
        </p:nvSpPr>
        <p:spPr>
          <a:xfrm>
            <a:off x="5216962" y="2992160"/>
            <a:ext cx="4196358" cy="3436025"/>
          </a:xfrm>
          <a:prstGeom prst="roundRect">
            <a:avLst>
              <a:gd name="adj" fmla="val 2773"/>
            </a:avLst>
          </a:prstGeom>
          <a:solidFill>
            <a:srgbClr val="101620"/>
          </a:solidFill>
          <a:ln w="22860">
            <a:solidFill>
              <a:srgbClr val="002A80"/>
            </a:solidFill>
            <a:prstDash val="solid"/>
          </a:ln>
        </p:spPr>
      </p:sp>
      <p:sp>
        <p:nvSpPr>
          <p:cNvPr id="7" name="Text 5"/>
          <p:cNvSpPr/>
          <p:nvPr/>
        </p:nvSpPr>
        <p:spPr>
          <a:xfrm>
            <a:off x="5466636" y="3241834"/>
            <a:ext cx="3697010" cy="736997"/>
          </a:xfrm>
          <a:prstGeom prst="rect">
            <a:avLst/>
          </a:prstGeom>
          <a:noFill/>
          <a:ln/>
        </p:spPr>
        <p:txBody>
          <a:bodyPr wrap="square" lIns="0" tIns="0" rIns="0" bIns="0" rtlCol="0" anchor="t"/>
          <a:lstStyle/>
          <a:p>
            <a:pPr marL="0" indent="0" algn="l">
              <a:lnSpc>
                <a:spcPts val="2900"/>
              </a:lnSpc>
              <a:buNone/>
            </a:pPr>
            <a:r>
              <a:rPr lang="en-US" sz="2200" b="1" dirty="0">
                <a:solidFill>
                  <a:srgbClr val="EBEDF0"/>
                </a:solidFill>
                <a:latin typeface="Geist Bold" pitchFamily="34" charset="0"/>
                <a:ea typeface="Geist Bold" pitchFamily="34" charset="-122"/>
                <a:cs typeface="Geist Bold" pitchFamily="34" charset="-120"/>
              </a:rPr>
              <a:t>Emiliano Zapata (1910–1919)</a:t>
            </a:r>
            <a:endParaRPr lang="en-US" sz="2200" dirty="0"/>
          </a:p>
        </p:txBody>
      </p:sp>
      <p:sp>
        <p:nvSpPr>
          <p:cNvPr id="8" name="Text 6"/>
          <p:cNvSpPr/>
          <p:nvPr/>
        </p:nvSpPr>
        <p:spPr>
          <a:xfrm>
            <a:off x="5466636" y="4114919"/>
            <a:ext cx="3697010" cy="1768793"/>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«Estoy dispuesto a luchar contra todo y contra todos.» Puso en práctica una reforma agraria radical en Morelos. Asesinado en emboscada a los 40 años —misma edad que el Che Guevara.</a:t>
            </a:r>
            <a:endParaRPr lang="en-US" sz="1750" dirty="0"/>
          </a:p>
        </p:txBody>
      </p:sp>
      <p:sp>
        <p:nvSpPr>
          <p:cNvPr id="9" name="Shape 7"/>
          <p:cNvSpPr/>
          <p:nvPr/>
        </p:nvSpPr>
        <p:spPr>
          <a:xfrm>
            <a:off x="9640133" y="2992160"/>
            <a:ext cx="4196358" cy="3436025"/>
          </a:xfrm>
          <a:prstGeom prst="roundRect">
            <a:avLst>
              <a:gd name="adj" fmla="val 2773"/>
            </a:avLst>
          </a:prstGeom>
          <a:solidFill>
            <a:srgbClr val="101620"/>
          </a:solidFill>
          <a:ln w="22860">
            <a:solidFill>
              <a:srgbClr val="002A80"/>
            </a:solidFill>
            <a:prstDash val="solid"/>
          </a:ln>
        </p:spPr>
      </p:sp>
      <p:sp>
        <p:nvSpPr>
          <p:cNvPr id="10" name="Text 8"/>
          <p:cNvSpPr/>
          <p:nvPr/>
        </p:nvSpPr>
        <p:spPr>
          <a:xfrm>
            <a:off x="9889808" y="3241834"/>
            <a:ext cx="3697010" cy="736997"/>
          </a:xfrm>
          <a:prstGeom prst="rect">
            <a:avLst/>
          </a:prstGeom>
          <a:noFill/>
          <a:ln/>
        </p:spPr>
        <p:txBody>
          <a:bodyPr wrap="square" lIns="0" tIns="0" rIns="0" bIns="0" rtlCol="0" anchor="t"/>
          <a:lstStyle/>
          <a:p>
            <a:pPr marL="0" indent="0" algn="l">
              <a:lnSpc>
                <a:spcPts val="2900"/>
              </a:lnSpc>
              <a:buNone/>
            </a:pPr>
            <a:r>
              <a:rPr lang="en-US" sz="2200" b="1" dirty="0">
                <a:solidFill>
                  <a:srgbClr val="EBEDF0"/>
                </a:solidFill>
                <a:latin typeface="Geist Bold" pitchFamily="34" charset="0"/>
                <a:ea typeface="Geist Bold" pitchFamily="34" charset="-122"/>
                <a:cs typeface="Geist Bold" pitchFamily="34" charset="-120"/>
              </a:rPr>
              <a:t>Lázaro Cárdenas (1934–1940)</a:t>
            </a:r>
            <a:endParaRPr lang="en-US" sz="2200" dirty="0"/>
          </a:p>
        </p:txBody>
      </p:sp>
      <p:sp>
        <p:nvSpPr>
          <p:cNvPr id="11" name="Text 9"/>
          <p:cNvSpPr/>
          <p:nvPr/>
        </p:nvSpPr>
        <p:spPr>
          <a:xfrm>
            <a:off x="9889808" y="4114919"/>
            <a:ext cx="3697010" cy="2063591"/>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Expropió </a:t>
            </a:r>
            <a:r>
              <a:rPr lang="en-US" sz="1750" b="1" dirty="0">
                <a:solidFill>
                  <a:srgbClr val="EBEDF0"/>
                </a:solidFill>
                <a:latin typeface="Geist" pitchFamily="34" charset="0"/>
                <a:ea typeface="Geist" pitchFamily="34" charset="-122"/>
                <a:cs typeface="Geist" pitchFamily="34" charset="-120"/>
              </a:rPr>
              <a:t>67 millones de hectáreas</a:t>
            </a:r>
            <a:r>
              <a:rPr lang="en-US" sz="1750" dirty="0">
                <a:solidFill>
                  <a:srgbClr val="EBEDF0"/>
                </a:solidFill>
                <a:latin typeface="Geist" pitchFamily="34" charset="0"/>
                <a:ea typeface="Geist" pitchFamily="34" charset="-122"/>
                <a:cs typeface="Geist" pitchFamily="34" charset="-120"/>
              </a:rPr>
              <a:t> en poder de empresas extranjeras y nacionales. Pero el nacionalismo mexicano no derivó al socialismo: hoy el 60% de la población tiene un ingreso menor de 120 dólares al año.</a:t>
            </a:r>
            <a:endParaRPr lang="en-US" sz="1750" dirty="0"/>
          </a:p>
        </p:txBody>
      </p:sp>
      <p:pic>
        <p:nvPicPr>
          <p:cNvPr id="12" name="Imagen 11">
            <a:extLst>
              <a:ext uri="{FF2B5EF4-FFF2-40B4-BE49-F238E27FC236}">
                <a16:creationId xmlns:a16="http://schemas.microsoft.com/office/drawing/2014/main" id="{9D1CE7FB-776E-7233-4DBE-287A3AF46AF6}"/>
              </a:ext>
            </a:extLst>
          </p:cNvPr>
          <p:cNvPicPr>
            <a:picLocks noChangeAspect="1"/>
          </p:cNvPicPr>
          <p:nvPr/>
        </p:nvPicPr>
        <p:blipFill>
          <a:blip r:embed="rId3"/>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34" presetClass="emph" presetSubtype="0" fill="hold" grpId="0" nodeType="clickEffect">
                                  <p:stCondLst>
                                    <p:cond delay="0"/>
                                  </p:stCondLst>
                                  <p:iterate type="lt">
                                    <p:tmPct val="10000"/>
                                  </p:iterate>
                                  <p:childTnLst>
                                    <p:animMotion origin="layout" path="M 0.0 0.0 L 0.0 -0.07213" pathEditMode="relative" ptsTypes="">
                                      <p:cBhvr>
                                        <p:cTn id="13" dur="250" accel="50000" decel="50000" autoRev="1" fill="hold">
                                          <p:stCondLst>
                                            <p:cond delay="0"/>
                                          </p:stCondLst>
                                        </p:cTn>
                                        <p:tgtEl>
                                          <p:spTgt spid="4"/>
                                        </p:tgtEl>
                                        <p:attrNameLst>
                                          <p:attrName>ppt_x</p:attrName>
                                          <p:attrName>ppt_y</p:attrName>
                                        </p:attrNameLst>
                                      </p:cBhvr>
                                    </p:animMotion>
                                    <p:animRot by="1500000">
                                      <p:cBhvr>
                                        <p:cTn id="14" dur="125" fill="hold">
                                          <p:stCondLst>
                                            <p:cond delay="0"/>
                                          </p:stCondLst>
                                        </p:cTn>
                                        <p:tgtEl>
                                          <p:spTgt spid="4"/>
                                        </p:tgtEl>
                                        <p:attrNameLst>
                                          <p:attrName>r</p:attrName>
                                        </p:attrNameLst>
                                      </p:cBhvr>
                                    </p:animRot>
                                    <p:animRot by="-1500000">
                                      <p:cBhvr>
                                        <p:cTn id="15" dur="125" fill="hold">
                                          <p:stCondLst>
                                            <p:cond delay="125"/>
                                          </p:stCondLst>
                                        </p:cTn>
                                        <p:tgtEl>
                                          <p:spTgt spid="4"/>
                                        </p:tgtEl>
                                        <p:attrNameLst>
                                          <p:attrName>r</p:attrName>
                                        </p:attrNameLst>
                                      </p:cBhvr>
                                    </p:animRot>
                                    <p:animRot by="-1500000">
                                      <p:cBhvr>
                                        <p:cTn id="16" dur="125" fill="hold">
                                          <p:stCondLst>
                                            <p:cond delay="250"/>
                                          </p:stCondLst>
                                        </p:cTn>
                                        <p:tgtEl>
                                          <p:spTgt spid="4"/>
                                        </p:tgtEl>
                                        <p:attrNameLst>
                                          <p:attrName>r</p:attrName>
                                        </p:attrNameLst>
                                      </p:cBhvr>
                                    </p:animRot>
                                    <p:animRot by="1500000">
                                      <p:cBhvr>
                                        <p:cTn id="17" dur="125" fill="hold">
                                          <p:stCondLst>
                                            <p:cond delay="375"/>
                                          </p:stCondLst>
                                        </p:cTn>
                                        <p:tgtEl>
                                          <p:spTgt spid="4"/>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6" presetClass="emph" presetSubtype="0" fill="hold" grpId="0" nodeType="clickEffect">
                                  <p:stCondLst>
                                    <p:cond delay="0"/>
                                  </p:stCondLst>
                                  <p:childTnLst>
                                    <p:animScale>
                                      <p:cBhvr>
                                        <p:cTn id="21" dur="2000" fill="hold"/>
                                        <p:tgtEl>
                                          <p:spTgt spid="7"/>
                                        </p:tgtEl>
                                      </p:cBhvr>
                                      <p:by x="150000" y="150000"/>
                                    </p:animScale>
                                  </p:childTnLst>
                                </p:cTn>
                              </p:par>
                            </p:childTnLst>
                          </p:cTn>
                        </p:par>
                      </p:childTnLst>
                    </p:cTn>
                  </p:par>
                  <p:par>
                    <p:cTn id="22" fill="hold">
                      <p:stCondLst>
                        <p:cond delay="indefinite"/>
                      </p:stCondLst>
                      <p:childTnLst>
                        <p:par>
                          <p:cTn id="23" fill="hold">
                            <p:stCondLst>
                              <p:cond delay="0"/>
                            </p:stCondLst>
                            <p:childTnLst>
                              <p:par>
                                <p:cTn id="24" presetID="26" presetClass="emph" presetSubtype="0" fill="hold" grpId="0" nodeType="clickEffect">
                                  <p:stCondLst>
                                    <p:cond delay="0"/>
                                  </p:stCondLst>
                                  <p:childTnLst>
                                    <p:animEffect transition="out" filter="fade">
                                      <p:cBhvr>
                                        <p:cTn id="25" dur="500" tmFilter="0, 0; .2, .5; .8, .5; 1, 0"/>
                                        <p:tgtEl>
                                          <p:spTgt spid="8"/>
                                        </p:tgtEl>
                                      </p:cBhvr>
                                    </p:animEffect>
                                    <p:animScale>
                                      <p:cBhvr>
                                        <p:cTn id="26" dur="250" autoRev="1" fill="hold"/>
                                        <p:tgtEl>
                                          <p:spTgt spid="8"/>
                                        </p:tgtEl>
                                      </p:cBhvr>
                                      <p:by x="105000" y="105000"/>
                                    </p:animScale>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arn(inVertic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11">
                                            <p:txEl>
                                              <p:pRg st="0" end="0"/>
                                            </p:txEl>
                                          </p:spTgt>
                                        </p:tgtEl>
                                        <p:attrNameLst>
                                          <p:attrName>style.visibility</p:attrName>
                                        </p:attrNameLst>
                                      </p:cBhvr>
                                      <p:to>
                                        <p:strVal val="visible"/>
                                      </p:to>
                                    </p:set>
                                    <p:animEffect transition="in" filter="wipe(down)">
                                      <p:cBhvr>
                                        <p:cTn id="36" dur="500"/>
                                        <p:tgtEl>
                                          <p:spTgt spid="11">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45" presetClass="entr" presetSubtype="0"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fade">
                                      <p:cBhvr>
                                        <p:cTn id="41" dur="2000"/>
                                        <p:tgtEl>
                                          <p:spTgt spid="2"/>
                                        </p:tgtEl>
                                      </p:cBhvr>
                                    </p:animEffect>
                                    <p:anim calcmode="lin" valueType="num">
                                      <p:cBhvr>
                                        <p:cTn id="42" dur="2000" fill="hold"/>
                                        <p:tgtEl>
                                          <p:spTgt spid="2"/>
                                        </p:tgtEl>
                                        <p:attrNameLst>
                                          <p:attrName>ppt_w</p:attrName>
                                        </p:attrNameLst>
                                      </p:cBhvr>
                                      <p:tavLst>
                                        <p:tav tm="0" fmla="#ppt_w*sin(2.5*pi*$)">
                                          <p:val>
                                            <p:fltVal val="0"/>
                                          </p:val>
                                        </p:tav>
                                        <p:tav tm="100000">
                                          <p:val>
                                            <p:fltVal val="1"/>
                                          </p:val>
                                        </p:tav>
                                      </p:tavLst>
                                    </p:anim>
                                    <p:anim calcmode="lin" valueType="num">
                                      <p:cBhvr>
                                        <p:cTn id="43"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760720" cy="8229600"/>
          </a:xfrm>
          <a:prstGeom prst="rect">
            <a:avLst/>
          </a:prstGeom>
          <a:solidFill>
            <a:srgbClr val="101620"/>
          </a:solidFill>
          <a:ln/>
        </p:spPr>
      </p:sp>
      <p:pic>
        <p:nvPicPr>
          <p:cNvPr id="3" name="Image 0" descr="preencoded.png"/>
          <p:cNvPicPr>
            <a:picLocks noChangeAspect="1"/>
          </p:cNvPicPr>
          <p:nvPr/>
        </p:nvPicPr>
        <p:blipFill>
          <a:blip r:embed="rId3"/>
          <a:stretch>
            <a:fillRect/>
          </a:stretch>
        </p:blipFill>
        <p:spPr>
          <a:xfrm>
            <a:off x="93940" y="1288852"/>
            <a:ext cx="4238863" cy="5651897"/>
          </a:xfrm>
          <a:prstGeom prst="rect">
            <a:avLst/>
          </a:prstGeom>
        </p:spPr>
      </p:pic>
      <p:sp>
        <p:nvSpPr>
          <p:cNvPr id="4" name="Text 1"/>
          <p:cNvSpPr/>
          <p:nvPr/>
        </p:nvSpPr>
        <p:spPr>
          <a:xfrm>
            <a:off x="6143744" y="666988"/>
            <a:ext cx="7829312" cy="1220867"/>
          </a:xfrm>
          <a:prstGeom prst="rect">
            <a:avLst/>
          </a:prstGeom>
          <a:noFill/>
          <a:ln/>
        </p:spPr>
        <p:txBody>
          <a:bodyPr wrap="square" lIns="0" tIns="0" rIns="0" bIns="0" rtlCol="0" anchor="t"/>
          <a:lstStyle/>
          <a:p>
            <a:pPr marL="0" indent="0" algn="l">
              <a:lnSpc>
                <a:spcPts val="4800"/>
              </a:lnSpc>
              <a:buNone/>
            </a:pPr>
            <a:r>
              <a:rPr lang="en-US" sz="3650" b="1" dirty="0">
                <a:solidFill>
                  <a:srgbClr val="F2F5FA"/>
                </a:solidFill>
                <a:latin typeface="Geist Bold" pitchFamily="34" charset="0"/>
                <a:ea typeface="Geist Bold" pitchFamily="34" charset="-122"/>
                <a:cs typeface="Geist Bold" pitchFamily="34" charset="-120"/>
              </a:rPr>
              <a:t>El Latifundio Multiplica las Bocas, Pero No los Panes</a:t>
            </a:r>
            <a:endParaRPr lang="en-US" sz="3650" dirty="0"/>
          </a:p>
        </p:txBody>
      </p:sp>
      <p:sp>
        <p:nvSpPr>
          <p:cNvPr id="5" name="Text 2"/>
          <p:cNvSpPr/>
          <p:nvPr/>
        </p:nvSpPr>
        <p:spPr>
          <a:xfrm>
            <a:off x="6143744" y="2121098"/>
            <a:ext cx="7829312" cy="669727"/>
          </a:xfrm>
          <a:prstGeom prst="rect">
            <a:avLst/>
          </a:prstGeom>
          <a:noFill/>
          <a:ln/>
        </p:spPr>
        <p:txBody>
          <a:bodyPr wrap="square" lIns="0" tIns="0" rIns="0" bIns="0" rtlCol="0" anchor="t"/>
          <a:lstStyle/>
          <a:p>
            <a:pPr marL="0" indent="0" algn="l">
              <a:lnSpc>
                <a:spcPts val="1750"/>
              </a:lnSpc>
              <a:buNone/>
            </a:pPr>
            <a:r>
              <a:rPr lang="en-US" sz="1450" dirty="0">
                <a:solidFill>
                  <a:srgbClr val="EBEDF0"/>
                </a:solidFill>
                <a:latin typeface="Geist" pitchFamily="34" charset="0"/>
                <a:ea typeface="Geist" pitchFamily="34" charset="-122"/>
                <a:cs typeface="Geist" pitchFamily="34" charset="-120"/>
              </a:rPr>
              <a:t>El </a:t>
            </a:r>
            <a:r>
              <a:rPr lang="en-US" sz="1450" b="1" dirty="0">
                <a:solidFill>
                  <a:srgbClr val="EBEDF0"/>
                </a:solidFill>
                <a:latin typeface="Geist" pitchFamily="34" charset="0"/>
                <a:ea typeface="Geist" pitchFamily="34" charset="-122"/>
                <a:cs typeface="Geist" pitchFamily="34" charset="-120"/>
              </a:rPr>
              <a:t>1.5% de los propietarios</a:t>
            </a:r>
            <a:r>
              <a:rPr lang="en-US" sz="1450" dirty="0">
                <a:solidFill>
                  <a:srgbClr val="EBEDF0"/>
                </a:solidFill>
                <a:latin typeface="Geist" pitchFamily="34" charset="0"/>
                <a:ea typeface="Geist" pitchFamily="34" charset="-122"/>
                <a:cs typeface="Geist" pitchFamily="34" charset="-120"/>
              </a:rPr>
              <a:t> posee la mitad de las tierras cultivables. Solo el </a:t>
            </a:r>
            <a:r>
              <a:rPr lang="en-US" sz="1450" b="1" dirty="0">
                <a:solidFill>
                  <a:srgbClr val="EBEDF0"/>
                </a:solidFill>
                <a:latin typeface="Geist" pitchFamily="34" charset="0"/>
                <a:ea typeface="Geist" pitchFamily="34" charset="-122"/>
                <a:cs typeface="Geist" pitchFamily="34" charset="-120"/>
              </a:rPr>
              <a:t>5% de la superficie</a:t>
            </a:r>
            <a:r>
              <a:rPr lang="en-US" sz="1450" dirty="0">
                <a:solidFill>
                  <a:srgbClr val="EBEDF0"/>
                </a:solidFill>
                <a:latin typeface="Geist" pitchFamily="34" charset="0"/>
                <a:ea typeface="Geist" pitchFamily="34" charset="-122"/>
                <a:cs typeface="Geist" pitchFamily="34" charset="-120"/>
              </a:rPr>
              <a:t> está bajo cultivo —la proporción más baja del mundo. América Latina gasta más de </a:t>
            </a:r>
            <a:r>
              <a:rPr lang="en-US" sz="1450" b="1" dirty="0">
                <a:solidFill>
                  <a:srgbClr val="EBEDF0"/>
                </a:solidFill>
                <a:latin typeface="Geist" pitchFamily="34" charset="0"/>
                <a:ea typeface="Geist" pitchFamily="34" charset="-122"/>
                <a:cs typeface="Geist" pitchFamily="34" charset="-120"/>
              </a:rPr>
              <a:t>500 millones de dólares anuales</a:t>
            </a:r>
            <a:r>
              <a:rPr lang="en-US" sz="1450" dirty="0">
                <a:solidFill>
                  <a:srgbClr val="EBEDF0"/>
                </a:solidFill>
                <a:latin typeface="Geist" pitchFamily="34" charset="0"/>
                <a:ea typeface="Geist" pitchFamily="34" charset="-122"/>
                <a:cs typeface="Geist" pitchFamily="34" charset="-120"/>
              </a:rPr>
              <a:t> importando alimentos que podría producir.</a:t>
            </a:r>
            <a:endParaRPr lang="en-US" sz="1450" dirty="0"/>
          </a:p>
        </p:txBody>
      </p:sp>
      <p:sp>
        <p:nvSpPr>
          <p:cNvPr id="6" name="Text 3"/>
          <p:cNvSpPr/>
          <p:nvPr/>
        </p:nvSpPr>
        <p:spPr>
          <a:xfrm>
            <a:off x="6143744" y="3059549"/>
            <a:ext cx="3817382" cy="619839"/>
          </a:xfrm>
          <a:prstGeom prst="rect">
            <a:avLst/>
          </a:prstGeom>
          <a:noFill/>
          <a:ln/>
        </p:spPr>
        <p:txBody>
          <a:bodyPr wrap="none" lIns="0" tIns="0" rIns="0" bIns="0" rtlCol="0" anchor="t"/>
          <a:lstStyle/>
          <a:p>
            <a:pPr marL="0" indent="0" algn="ctr">
              <a:lnSpc>
                <a:spcPts val="4850"/>
              </a:lnSpc>
              <a:buNone/>
            </a:pPr>
            <a:r>
              <a:rPr lang="en-US" sz="4850" b="1" dirty="0">
                <a:solidFill>
                  <a:srgbClr val="EBEDF0"/>
                </a:solidFill>
                <a:latin typeface="Geist Bold" pitchFamily="34" charset="0"/>
                <a:ea typeface="Geist Bold" pitchFamily="34" charset="-122"/>
                <a:cs typeface="Geist Bold" pitchFamily="34" charset="-120"/>
              </a:rPr>
              <a:t>120M</a:t>
            </a:r>
            <a:endParaRPr lang="en-US" sz="4850" dirty="0"/>
          </a:p>
        </p:txBody>
      </p:sp>
      <p:sp>
        <p:nvSpPr>
          <p:cNvPr id="7" name="Text 4"/>
          <p:cNvSpPr/>
          <p:nvPr/>
        </p:nvSpPr>
        <p:spPr>
          <a:xfrm>
            <a:off x="6864787" y="3889772"/>
            <a:ext cx="2375178" cy="305157"/>
          </a:xfrm>
          <a:prstGeom prst="rect">
            <a:avLst/>
          </a:prstGeom>
          <a:noFill/>
          <a:ln/>
        </p:spPr>
        <p:txBody>
          <a:bodyPr wrap="none" lIns="0" tIns="0" rIns="0" bIns="0" rtlCol="0" anchor="t"/>
          <a:lstStyle/>
          <a:p>
            <a:pPr marL="0" indent="0" algn="ctr">
              <a:lnSpc>
                <a:spcPts val="2400"/>
              </a:lnSpc>
              <a:buNone/>
            </a:pPr>
            <a:r>
              <a:rPr lang="en-US" sz="1800" b="1" dirty="0">
                <a:solidFill>
                  <a:srgbClr val="EBEDF0"/>
                </a:solidFill>
                <a:latin typeface="Geist Bold" pitchFamily="34" charset="0"/>
                <a:ea typeface="Geist Bold" pitchFamily="34" charset="-122"/>
                <a:cs typeface="Geist Bold" pitchFamily="34" charset="-120"/>
              </a:rPr>
              <a:t>Niños en la tormenta</a:t>
            </a:r>
            <a:endParaRPr lang="en-US" sz="1800" dirty="0"/>
          </a:p>
        </p:txBody>
      </p:sp>
      <p:sp>
        <p:nvSpPr>
          <p:cNvPr id="8" name="Text 5"/>
          <p:cNvSpPr/>
          <p:nvPr/>
        </p:nvSpPr>
        <p:spPr>
          <a:xfrm>
            <a:off x="6143744" y="4288155"/>
            <a:ext cx="3817382" cy="446484"/>
          </a:xfrm>
          <a:prstGeom prst="rect">
            <a:avLst/>
          </a:prstGeom>
          <a:noFill/>
          <a:ln/>
        </p:spPr>
        <p:txBody>
          <a:bodyPr wrap="square" lIns="0" tIns="0" rIns="0" bIns="0" rtlCol="0" anchor="t"/>
          <a:lstStyle/>
          <a:p>
            <a:pPr marL="0" indent="0" algn="ctr">
              <a:lnSpc>
                <a:spcPts val="1750"/>
              </a:lnSpc>
              <a:buNone/>
            </a:pPr>
            <a:r>
              <a:rPr lang="en-US" sz="1450" dirty="0">
                <a:solidFill>
                  <a:srgbClr val="EBEDF0"/>
                </a:solidFill>
                <a:latin typeface="Geist" pitchFamily="34" charset="0"/>
                <a:ea typeface="Geist" pitchFamily="34" charset="-122"/>
                <a:cs typeface="Geist" pitchFamily="34" charset="-120"/>
              </a:rPr>
              <a:t>La mitad de los 650 millones proyectados para el año 2000 tendría menos de 15 años.</a:t>
            </a:r>
            <a:endParaRPr lang="en-US" sz="1450" dirty="0"/>
          </a:p>
        </p:txBody>
      </p:sp>
      <p:sp>
        <p:nvSpPr>
          <p:cNvPr id="9" name="Text 6"/>
          <p:cNvSpPr/>
          <p:nvPr/>
        </p:nvSpPr>
        <p:spPr>
          <a:xfrm>
            <a:off x="10155555" y="3059549"/>
            <a:ext cx="3817501" cy="619839"/>
          </a:xfrm>
          <a:prstGeom prst="rect">
            <a:avLst/>
          </a:prstGeom>
          <a:noFill/>
          <a:ln/>
        </p:spPr>
        <p:txBody>
          <a:bodyPr wrap="none" lIns="0" tIns="0" rIns="0" bIns="0" rtlCol="0" anchor="t"/>
          <a:lstStyle/>
          <a:p>
            <a:pPr marL="0" indent="0" algn="ctr">
              <a:lnSpc>
                <a:spcPts val="4850"/>
              </a:lnSpc>
              <a:buNone/>
            </a:pPr>
            <a:r>
              <a:rPr lang="en-US" sz="4850" b="1" dirty="0">
                <a:solidFill>
                  <a:srgbClr val="EBEDF0"/>
                </a:solidFill>
                <a:latin typeface="Geist Bold" pitchFamily="34" charset="0"/>
                <a:ea typeface="Geist Bold" pitchFamily="34" charset="-122"/>
                <a:cs typeface="Geist Bold" pitchFamily="34" charset="-120"/>
              </a:rPr>
              <a:t>180K</a:t>
            </a:r>
            <a:endParaRPr lang="en-US" sz="4850" dirty="0"/>
          </a:p>
        </p:txBody>
      </p:sp>
      <p:sp>
        <p:nvSpPr>
          <p:cNvPr id="10" name="Text 7"/>
          <p:cNvSpPr/>
          <p:nvPr/>
        </p:nvSpPr>
        <p:spPr>
          <a:xfrm>
            <a:off x="10845998" y="3889772"/>
            <a:ext cx="2436614" cy="305157"/>
          </a:xfrm>
          <a:prstGeom prst="rect">
            <a:avLst/>
          </a:prstGeom>
          <a:noFill/>
          <a:ln/>
        </p:spPr>
        <p:txBody>
          <a:bodyPr wrap="none" lIns="0" tIns="0" rIns="0" bIns="0" rtlCol="0" anchor="t"/>
          <a:lstStyle/>
          <a:p>
            <a:pPr marL="0" indent="0" algn="ctr">
              <a:lnSpc>
                <a:spcPts val="2400"/>
              </a:lnSpc>
              <a:buNone/>
            </a:pPr>
            <a:r>
              <a:rPr lang="en-US" sz="1800" b="1" dirty="0">
                <a:solidFill>
                  <a:srgbClr val="EBEDF0"/>
                </a:solidFill>
                <a:latin typeface="Geist Bold" pitchFamily="34" charset="0"/>
                <a:ea typeface="Geist Bold" pitchFamily="34" charset="-122"/>
                <a:cs typeface="Geist Bold" pitchFamily="34" charset="-120"/>
              </a:rPr>
              <a:t>Muertos en Colombia</a:t>
            </a:r>
            <a:endParaRPr lang="en-US" sz="1800" dirty="0"/>
          </a:p>
        </p:txBody>
      </p:sp>
      <p:sp>
        <p:nvSpPr>
          <p:cNvPr id="11" name="Text 8"/>
          <p:cNvSpPr/>
          <p:nvPr/>
        </p:nvSpPr>
        <p:spPr>
          <a:xfrm>
            <a:off x="10155555" y="4288155"/>
            <a:ext cx="3817501" cy="223242"/>
          </a:xfrm>
          <a:prstGeom prst="rect">
            <a:avLst/>
          </a:prstGeom>
          <a:noFill/>
          <a:ln/>
        </p:spPr>
        <p:txBody>
          <a:bodyPr wrap="none" lIns="0" tIns="0" rIns="0" bIns="0" rtlCol="0" anchor="t"/>
          <a:lstStyle/>
          <a:p>
            <a:pPr marL="0" indent="0" algn="ctr">
              <a:lnSpc>
                <a:spcPts val="1750"/>
              </a:lnSpc>
              <a:buNone/>
            </a:pPr>
            <a:r>
              <a:rPr lang="en-US" sz="1450" dirty="0">
                <a:solidFill>
                  <a:srgbClr val="EBEDF0"/>
                </a:solidFill>
                <a:latin typeface="Geist" pitchFamily="34" charset="0"/>
                <a:ea typeface="Geist" pitchFamily="34" charset="-122"/>
                <a:cs typeface="Geist" pitchFamily="34" charset="-120"/>
              </a:rPr>
              <a:t>Saldo de La Violencia (1948–1957).</a:t>
            </a:r>
            <a:endParaRPr lang="en-US" sz="1450" dirty="0"/>
          </a:p>
        </p:txBody>
      </p:sp>
      <p:sp>
        <p:nvSpPr>
          <p:cNvPr id="12" name="Text 9"/>
          <p:cNvSpPr/>
          <p:nvPr/>
        </p:nvSpPr>
        <p:spPr>
          <a:xfrm>
            <a:off x="8149590" y="5139571"/>
            <a:ext cx="3817501" cy="619839"/>
          </a:xfrm>
          <a:prstGeom prst="rect">
            <a:avLst/>
          </a:prstGeom>
          <a:noFill/>
          <a:ln/>
        </p:spPr>
        <p:txBody>
          <a:bodyPr wrap="none" lIns="0" tIns="0" rIns="0" bIns="0" rtlCol="0" anchor="t"/>
          <a:lstStyle/>
          <a:p>
            <a:pPr marL="0" indent="0" algn="ctr">
              <a:lnSpc>
                <a:spcPts val="4850"/>
              </a:lnSpc>
              <a:buNone/>
            </a:pPr>
            <a:r>
              <a:rPr lang="en-US" sz="4850" b="1" dirty="0">
                <a:solidFill>
                  <a:srgbClr val="EBEDF0"/>
                </a:solidFill>
                <a:latin typeface="Geist Bold" pitchFamily="34" charset="0"/>
                <a:ea typeface="Geist Bold" pitchFamily="34" charset="-122"/>
                <a:cs typeface="Geist Bold" pitchFamily="34" charset="-120"/>
              </a:rPr>
              <a:t>67M</a:t>
            </a:r>
            <a:endParaRPr lang="en-US" sz="4850" dirty="0"/>
          </a:p>
        </p:txBody>
      </p:sp>
      <p:sp>
        <p:nvSpPr>
          <p:cNvPr id="13" name="Text 10"/>
          <p:cNvSpPr/>
          <p:nvPr/>
        </p:nvSpPr>
        <p:spPr>
          <a:xfrm>
            <a:off x="8732044" y="5969794"/>
            <a:ext cx="2652474" cy="305157"/>
          </a:xfrm>
          <a:prstGeom prst="rect">
            <a:avLst/>
          </a:prstGeom>
          <a:noFill/>
          <a:ln/>
        </p:spPr>
        <p:txBody>
          <a:bodyPr wrap="none" lIns="0" tIns="0" rIns="0" bIns="0" rtlCol="0" anchor="t"/>
          <a:lstStyle/>
          <a:p>
            <a:pPr marL="0" indent="0" algn="ctr">
              <a:lnSpc>
                <a:spcPts val="2400"/>
              </a:lnSpc>
              <a:buNone/>
            </a:pPr>
            <a:r>
              <a:rPr lang="en-US" sz="1800" b="1" dirty="0">
                <a:solidFill>
                  <a:srgbClr val="EBEDF0"/>
                </a:solidFill>
                <a:latin typeface="Geist Bold" pitchFamily="34" charset="0"/>
                <a:ea typeface="Geist Bold" pitchFamily="34" charset="-122"/>
                <a:cs typeface="Geist Bold" pitchFamily="34" charset="-120"/>
              </a:rPr>
              <a:t>Hectáreas expropiadas</a:t>
            </a:r>
            <a:endParaRPr lang="en-US" sz="1800" dirty="0"/>
          </a:p>
        </p:txBody>
      </p:sp>
      <p:sp>
        <p:nvSpPr>
          <p:cNvPr id="14" name="Text 11"/>
          <p:cNvSpPr/>
          <p:nvPr/>
        </p:nvSpPr>
        <p:spPr>
          <a:xfrm>
            <a:off x="8149590" y="6368177"/>
            <a:ext cx="3817501" cy="223242"/>
          </a:xfrm>
          <a:prstGeom prst="rect">
            <a:avLst/>
          </a:prstGeom>
          <a:noFill/>
          <a:ln/>
        </p:spPr>
        <p:txBody>
          <a:bodyPr wrap="none" lIns="0" tIns="0" rIns="0" bIns="0" rtlCol="0" anchor="t"/>
          <a:lstStyle/>
          <a:p>
            <a:pPr marL="0" indent="0" algn="ctr">
              <a:lnSpc>
                <a:spcPts val="1750"/>
              </a:lnSpc>
              <a:buNone/>
            </a:pPr>
            <a:r>
              <a:rPr lang="en-US" sz="1450" dirty="0">
                <a:solidFill>
                  <a:srgbClr val="EBEDF0"/>
                </a:solidFill>
                <a:latin typeface="Geist" pitchFamily="34" charset="0"/>
                <a:ea typeface="Geist" pitchFamily="34" charset="-122"/>
                <a:cs typeface="Geist" pitchFamily="34" charset="-120"/>
              </a:rPr>
              <a:t>Por Cárdenas en México (1934–1940).</a:t>
            </a:r>
            <a:endParaRPr lang="en-US" sz="1450" dirty="0"/>
          </a:p>
        </p:txBody>
      </p:sp>
      <p:sp>
        <p:nvSpPr>
          <p:cNvPr id="15" name="Text 12"/>
          <p:cNvSpPr/>
          <p:nvPr/>
        </p:nvSpPr>
        <p:spPr>
          <a:xfrm>
            <a:off x="6425446" y="6941225"/>
            <a:ext cx="7547610" cy="446484"/>
          </a:xfrm>
          <a:prstGeom prst="rect">
            <a:avLst/>
          </a:prstGeom>
          <a:noFill/>
          <a:ln/>
        </p:spPr>
        <p:txBody>
          <a:bodyPr wrap="square" lIns="0" tIns="0" rIns="0" bIns="0" rtlCol="0" anchor="t"/>
          <a:lstStyle/>
          <a:p>
            <a:pPr marL="0" indent="0" algn="l">
              <a:lnSpc>
                <a:spcPts val="1750"/>
              </a:lnSpc>
              <a:buNone/>
            </a:pPr>
            <a:r>
              <a:rPr lang="en-US" sz="1450" i="1" dirty="0">
                <a:solidFill>
                  <a:srgbClr val="EBEDF0"/>
                </a:solidFill>
                <a:latin typeface="Geist" pitchFamily="34" charset="0"/>
                <a:ea typeface="Geist" pitchFamily="34" charset="-122"/>
                <a:cs typeface="Geist" pitchFamily="34" charset="-120"/>
              </a:rPr>
              <a:t>«La historia es un profeta con la mirada vuelta hacia atrás: por lo que fue, y contra lo que fue, anuncia lo que será.»</a:t>
            </a:r>
            <a:endParaRPr lang="en-US" sz="1450" dirty="0"/>
          </a:p>
        </p:txBody>
      </p:sp>
      <p:sp>
        <p:nvSpPr>
          <p:cNvPr id="16" name="Shape 13"/>
          <p:cNvSpPr/>
          <p:nvPr/>
        </p:nvSpPr>
        <p:spPr>
          <a:xfrm>
            <a:off x="6143744" y="6766322"/>
            <a:ext cx="22860" cy="796290"/>
          </a:xfrm>
          <a:prstGeom prst="rect">
            <a:avLst/>
          </a:prstGeom>
          <a:solidFill>
            <a:srgbClr val="6296FF"/>
          </a:solidFill>
          <a:ln/>
        </p:spPr>
      </p:sp>
      <p:pic>
        <p:nvPicPr>
          <p:cNvPr id="17" name="Imagen 16">
            <a:extLst>
              <a:ext uri="{FF2B5EF4-FFF2-40B4-BE49-F238E27FC236}">
                <a16:creationId xmlns:a16="http://schemas.microsoft.com/office/drawing/2014/main" id="{E8E16C95-10E5-AC8C-F033-BEAF5AE56864}"/>
              </a:ext>
            </a:extLst>
          </p:cNvPr>
          <p:cNvPicPr>
            <a:picLocks noChangeAspect="1"/>
          </p:cNvPicPr>
          <p:nvPr/>
        </p:nvPicPr>
        <p:blipFill>
          <a:blip r:embed="rId4"/>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32" presetClass="emph" presetSubtype="0" fill="hold" grpId="0" nodeType="clickEffect">
                                  <p:stCondLst>
                                    <p:cond delay="0"/>
                                  </p:stCondLst>
                                  <p:childTnLst>
                                    <p:animRot by="120000">
                                      <p:cBhvr>
                                        <p:cTn id="13" dur="100" fill="hold">
                                          <p:stCondLst>
                                            <p:cond delay="0"/>
                                          </p:stCondLst>
                                        </p:cTn>
                                        <p:tgtEl>
                                          <p:spTgt spid="4"/>
                                        </p:tgtEl>
                                        <p:attrNameLst>
                                          <p:attrName>r</p:attrName>
                                        </p:attrNameLst>
                                      </p:cBhvr>
                                    </p:animRot>
                                    <p:animRot by="-240000">
                                      <p:cBhvr>
                                        <p:cTn id="14" dur="200" fill="hold">
                                          <p:stCondLst>
                                            <p:cond delay="200"/>
                                          </p:stCondLst>
                                        </p:cTn>
                                        <p:tgtEl>
                                          <p:spTgt spid="4"/>
                                        </p:tgtEl>
                                        <p:attrNameLst>
                                          <p:attrName>r</p:attrName>
                                        </p:attrNameLst>
                                      </p:cBhvr>
                                    </p:animRot>
                                    <p:animRot by="240000">
                                      <p:cBhvr>
                                        <p:cTn id="15" dur="200" fill="hold">
                                          <p:stCondLst>
                                            <p:cond delay="400"/>
                                          </p:stCondLst>
                                        </p:cTn>
                                        <p:tgtEl>
                                          <p:spTgt spid="4"/>
                                        </p:tgtEl>
                                        <p:attrNameLst>
                                          <p:attrName>r</p:attrName>
                                        </p:attrNameLst>
                                      </p:cBhvr>
                                    </p:animRot>
                                    <p:animRot by="-240000">
                                      <p:cBhvr>
                                        <p:cTn id="16" dur="200" fill="hold">
                                          <p:stCondLst>
                                            <p:cond delay="600"/>
                                          </p:stCondLst>
                                        </p:cTn>
                                        <p:tgtEl>
                                          <p:spTgt spid="4"/>
                                        </p:tgtEl>
                                        <p:attrNameLst>
                                          <p:attrName>r</p:attrName>
                                        </p:attrNameLst>
                                      </p:cBhvr>
                                    </p:animRot>
                                    <p:animRot by="120000">
                                      <p:cBhvr>
                                        <p:cTn id="17" dur="200" fill="hold">
                                          <p:stCondLst>
                                            <p:cond delay="800"/>
                                          </p:stCondLst>
                                        </p:cTn>
                                        <p:tgtEl>
                                          <p:spTgt spid="4"/>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32" presetClass="emph" presetSubtype="0" fill="hold" nodeType="clickEffect">
                                  <p:stCondLst>
                                    <p:cond delay="0"/>
                                  </p:stCondLst>
                                  <p:childTnLst>
                                    <p:animRot by="120000">
                                      <p:cBhvr>
                                        <p:cTn id="21" dur="100" fill="hold">
                                          <p:stCondLst>
                                            <p:cond delay="0"/>
                                          </p:stCondLst>
                                        </p:cTn>
                                        <p:tgtEl>
                                          <p:spTgt spid="5">
                                            <p:txEl>
                                              <p:pRg st="0" end="0"/>
                                            </p:txEl>
                                          </p:spTgt>
                                        </p:tgtEl>
                                        <p:attrNameLst>
                                          <p:attrName>r</p:attrName>
                                        </p:attrNameLst>
                                      </p:cBhvr>
                                    </p:animRot>
                                    <p:animRot by="-240000">
                                      <p:cBhvr>
                                        <p:cTn id="22" dur="200" fill="hold">
                                          <p:stCondLst>
                                            <p:cond delay="200"/>
                                          </p:stCondLst>
                                        </p:cTn>
                                        <p:tgtEl>
                                          <p:spTgt spid="5">
                                            <p:txEl>
                                              <p:pRg st="0" end="0"/>
                                            </p:txEl>
                                          </p:spTgt>
                                        </p:tgtEl>
                                        <p:attrNameLst>
                                          <p:attrName>r</p:attrName>
                                        </p:attrNameLst>
                                      </p:cBhvr>
                                    </p:animRot>
                                    <p:animRot by="240000">
                                      <p:cBhvr>
                                        <p:cTn id="23" dur="200" fill="hold">
                                          <p:stCondLst>
                                            <p:cond delay="400"/>
                                          </p:stCondLst>
                                        </p:cTn>
                                        <p:tgtEl>
                                          <p:spTgt spid="5">
                                            <p:txEl>
                                              <p:pRg st="0" end="0"/>
                                            </p:txEl>
                                          </p:spTgt>
                                        </p:tgtEl>
                                        <p:attrNameLst>
                                          <p:attrName>r</p:attrName>
                                        </p:attrNameLst>
                                      </p:cBhvr>
                                    </p:animRot>
                                    <p:animRot by="-240000">
                                      <p:cBhvr>
                                        <p:cTn id="24" dur="200" fill="hold">
                                          <p:stCondLst>
                                            <p:cond delay="600"/>
                                          </p:stCondLst>
                                        </p:cTn>
                                        <p:tgtEl>
                                          <p:spTgt spid="5">
                                            <p:txEl>
                                              <p:pRg st="0" end="0"/>
                                            </p:txEl>
                                          </p:spTgt>
                                        </p:tgtEl>
                                        <p:attrNameLst>
                                          <p:attrName>r</p:attrName>
                                        </p:attrNameLst>
                                      </p:cBhvr>
                                    </p:animRot>
                                    <p:animRot by="120000">
                                      <p:cBhvr>
                                        <p:cTn id="25" dur="200" fill="hold">
                                          <p:stCondLst>
                                            <p:cond delay="800"/>
                                          </p:stCondLst>
                                        </p:cTn>
                                        <p:tgtEl>
                                          <p:spTgt spid="5">
                                            <p:txEl>
                                              <p:pRg st="0" end="0"/>
                                            </p:txEl>
                                          </p:spTgt>
                                        </p:tgtEl>
                                        <p:attrNameLst>
                                          <p:attrName>r</p:attrName>
                                        </p:attrNameLst>
                                      </p:cBhvr>
                                    </p:animRot>
                                  </p:childTnLst>
                                </p:cTn>
                              </p:par>
                            </p:childTnLst>
                          </p:cTn>
                        </p:par>
                      </p:childTnLst>
                    </p:cTn>
                  </p:par>
                  <p:par>
                    <p:cTn id="26" fill="hold">
                      <p:stCondLst>
                        <p:cond delay="indefinite"/>
                      </p:stCondLst>
                      <p:childTnLst>
                        <p:par>
                          <p:cTn id="27" fill="hold">
                            <p:stCondLst>
                              <p:cond delay="0"/>
                            </p:stCondLst>
                            <p:childTnLst>
                              <p:par>
                                <p:cTn id="28" presetID="8" presetClass="emph" presetSubtype="0" fill="hold" nodeType="clickEffect">
                                  <p:stCondLst>
                                    <p:cond delay="0"/>
                                  </p:stCondLst>
                                  <p:childTnLst>
                                    <p:animRot by="21600000">
                                      <p:cBhvr>
                                        <p:cTn id="29" dur="2000" fill="hold"/>
                                        <p:tgtEl>
                                          <p:spTgt spid="6">
                                            <p:txEl>
                                              <p:pRg st="0" end="0"/>
                                            </p:txEl>
                                          </p:spTgt>
                                        </p:tgtEl>
                                        <p:attrNameLst>
                                          <p:attrName>r</p:attrName>
                                        </p:attrNameLst>
                                      </p:cBhvr>
                                    </p:animRo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arn(inVertical)">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inVertical)">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45"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2000"/>
                                        <p:tgtEl>
                                          <p:spTgt spid="10"/>
                                        </p:tgtEl>
                                      </p:cBhvr>
                                    </p:animEffect>
                                    <p:anim calcmode="lin" valueType="num">
                                      <p:cBhvr>
                                        <p:cTn id="45" dur="2000" fill="hold"/>
                                        <p:tgtEl>
                                          <p:spTgt spid="10"/>
                                        </p:tgtEl>
                                        <p:attrNameLst>
                                          <p:attrName>ppt_w</p:attrName>
                                        </p:attrNameLst>
                                      </p:cBhvr>
                                      <p:tavLst>
                                        <p:tav tm="0" fmla="#ppt_w*sin(2.5*pi*$)">
                                          <p:val>
                                            <p:fltVal val="0"/>
                                          </p:val>
                                        </p:tav>
                                        <p:tav tm="100000">
                                          <p:val>
                                            <p:fltVal val="1"/>
                                          </p:val>
                                        </p:tav>
                                      </p:tavLst>
                                    </p:anim>
                                    <p:anim calcmode="lin" valueType="num">
                                      <p:cBhvr>
                                        <p:cTn id="46" dur="2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6" presetClass="emph" presetSubtype="0" fill="hold" grpId="0" nodeType="clickEffect">
                                  <p:stCondLst>
                                    <p:cond delay="0"/>
                                  </p:stCondLst>
                                  <p:childTnLst>
                                    <p:animScale>
                                      <p:cBhvr>
                                        <p:cTn id="50" dur="2000" fill="hold"/>
                                        <p:tgtEl>
                                          <p:spTgt spid="8"/>
                                        </p:tgtEl>
                                      </p:cBhvr>
                                      <p:by x="150000" y="150000"/>
                                    </p:animScale>
                                  </p:childTnLst>
                                </p:cTn>
                              </p:par>
                            </p:childTnLst>
                          </p:cTn>
                        </p:par>
                      </p:childTnLst>
                    </p:cTn>
                  </p:par>
                  <p:par>
                    <p:cTn id="51" fill="hold">
                      <p:stCondLst>
                        <p:cond delay="indefinite"/>
                      </p:stCondLst>
                      <p:childTnLst>
                        <p:par>
                          <p:cTn id="52" fill="hold">
                            <p:stCondLst>
                              <p:cond delay="0"/>
                            </p:stCondLst>
                            <p:childTnLst>
                              <p:par>
                                <p:cTn id="53" presetID="6" presetClass="emph" presetSubtype="0" fill="hold" nodeType="clickEffect">
                                  <p:stCondLst>
                                    <p:cond delay="0"/>
                                  </p:stCondLst>
                                  <p:childTnLst>
                                    <p:animScale>
                                      <p:cBhvr>
                                        <p:cTn id="54" dur="2000" fill="hold"/>
                                        <p:tgtEl>
                                          <p:spTgt spid="11">
                                            <p:txEl>
                                              <p:pRg st="0" end="0"/>
                                            </p:txEl>
                                          </p:spTgt>
                                        </p:tgtEl>
                                      </p:cBhvr>
                                      <p:by x="150000" y="150000"/>
                                    </p:animScale>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anim calcmode="lin" valueType="num">
                                      <p:cBhvr>
                                        <p:cTn id="67" dur="1000" fill="hold"/>
                                        <p:tgtEl>
                                          <p:spTgt spid="13"/>
                                        </p:tgtEl>
                                        <p:attrNameLst>
                                          <p:attrName>ppt_x</p:attrName>
                                        </p:attrNameLst>
                                      </p:cBhvr>
                                      <p:tavLst>
                                        <p:tav tm="0">
                                          <p:val>
                                            <p:strVal val="#ppt_x"/>
                                          </p:val>
                                        </p:tav>
                                        <p:tav tm="100000">
                                          <p:val>
                                            <p:strVal val="#ppt_x"/>
                                          </p:val>
                                        </p:tav>
                                      </p:tavLst>
                                    </p:anim>
                                    <p:anim calcmode="lin" valueType="num">
                                      <p:cBhvr>
                                        <p:cTn id="6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14"/>
                                        </p:tgtEl>
                                        <p:attrNameLst>
                                          <p:attrName>style.visibility</p:attrName>
                                        </p:attrNameLst>
                                      </p:cBhvr>
                                      <p:to>
                                        <p:strVal val="visible"/>
                                      </p:to>
                                    </p:set>
                                    <p:anim calcmode="lin" valueType="num">
                                      <p:cBhvr additive="base">
                                        <p:cTn id="73" dur="500" fill="hold"/>
                                        <p:tgtEl>
                                          <p:spTgt spid="14"/>
                                        </p:tgtEl>
                                        <p:attrNameLst>
                                          <p:attrName>ppt_x</p:attrName>
                                        </p:attrNameLst>
                                      </p:cBhvr>
                                      <p:tavLst>
                                        <p:tav tm="0">
                                          <p:val>
                                            <p:strVal val="#ppt_x"/>
                                          </p:val>
                                        </p:tav>
                                        <p:tav tm="100000">
                                          <p:val>
                                            <p:strVal val="#ppt_x"/>
                                          </p:val>
                                        </p:tav>
                                      </p:tavLst>
                                    </p:anim>
                                    <p:anim calcmode="lin" valueType="num">
                                      <p:cBhvr additive="base">
                                        <p:cTn id="7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6" presetClass="emph" presetSubtype="0" fill="hold" grpId="0" nodeType="clickEffect">
                                  <p:stCondLst>
                                    <p:cond delay="0"/>
                                  </p:stCondLst>
                                  <p:childTnLst>
                                    <p:animScale>
                                      <p:cBhvr>
                                        <p:cTn id="82" dur="2000" fill="hold"/>
                                        <p:tgtEl>
                                          <p:spTgt spid="1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2" grpId="0" animBg="1"/>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276350"/>
            <a:ext cx="6038374" cy="737116"/>
          </a:xfrm>
          <a:prstGeom prst="rect">
            <a:avLst/>
          </a:prstGeom>
          <a:noFill/>
          <a:ln/>
        </p:spPr>
        <p:txBody>
          <a:bodyPr wrap="none" lIns="0" tIns="0" rIns="0" bIns="0" rtlCol="0" anchor="t"/>
          <a:lstStyle/>
          <a:p>
            <a:pPr marL="0" indent="0" algn="l">
              <a:lnSpc>
                <a:spcPts val="5800"/>
              </a:lnSpc>
              <a:buNone/>
            </a:pPr>
            <a:r>
              <a:rPr lang="en-US" sz="4450" b="1" dirty="0">
                <a:solidFill>
                  <a:srgbClr val="F2F5FA"/>
                </a:solidFill>
                <a:latin typeface="Geist Bold" pitchFamily="34" charset="0"/>
                <a:ea typeface="Geist Bold" pitchFamily="34" charset="-122"/>
                <a:cs typeface="Geist Bold" pitchFamily="34" charset="-120"/>
              </a:rPr>
              <a:t>Un Futuro Por Escribir</a:t>
            </a:r>
            <a:endParaRPr lang="en-US" sz="4450" dirty="0"/>
          </a:p>
        </p:txBody>
      </p:sp>
      <p:sp>
        <p:nvSpPr>
          <p:cNvPr id="3" name="Text 1"/>
          <p:cNvSpPr/>
          <p:nvPr/>
        </p:nvSpPr>
        <p:spPr>
          <a:xfrm>
            <a:off x="793790" y="2557701"/>
            <a:ext cx="7604284" cy="884396"/>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Las venas abiertas de América Latina han sangrado por siglos, pero la historia no es un destino inmutable. La memoria de estas luchas y explotaciones debe ser la semilla de un nuevo amanecer.</a:t>
            </a:r>
            <a:endParaRPr lang="en-US" sz="1750" dirty="0"/>
          </a:p>
        </p:txBody>
      </p:sp>
      <p:sp>
        <p:nvSpPr>
          <p:cNvPr id="4" name="Text 2"/>
          <p:cNvSpPr/>
          <p:nvPr/>
        </p:nvSpPr>
        <p:spPr>
          <a:xfrm>
            <a:off x="793790" y="3646170"/>
            <a:ext cx="7604284" cy="1179195"/>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Es imperativo forjar un futuro donde la riqueza de nuestra tierra y la dignidad de su gente no sean sacrificadas en el altar de intereses ajenos. El camino hacia la verdadera independencia y justicia social requiere conciencia, unidad y acción colectiva.</a:t>
            </a:r>
            <a:endParaRPr lang="en-US" sz="1750" dirty="0"/>
          </a:p>
        </p:txBody>
      </p:sp>
      <p:sp>
        <p:nvSpPr>
          <p:cNvPr id="5" name="Text 3"/>
          <p:cNvSpPr/>
          <p:nvPr/>
        </p:nvSpPr>
        <p:spPr>
          <a:xfrm>
            <a:off x="793790" y="5029438"/>
            <a:ext cx="7604284" cy="884396"/>
          </a:xfrm>
          <a:prstGeom prst="rect">
            <a:avLst/>
          </a:prstGeom>
          <a:noFill/>
          <a:ln/>
        </p:spPr>
        <p:txBody>
          <a:bodyPr wrap="square" lIns="0" tIns="0" rIns="0" bIns="0" rtlCol="0" anchor="t"/>
          <a:lstStyle/>
          <a:p>
            <a:pPr marL="0" indent="0" algn="l">
              <a:lnSpc>
                <a:spcPts val="2300"/>
              </a:lnSpc>
              <a:buNone/>
            </a:pPr>
            <a:r>
              <a:rPr lang="en-US" sz="1750" dirty="0">
                <a:solidFill>
                  <a:srgbClr val="EBEDF0"/>
                </a:solidFill>
                <a:latin typeface="Geist" pitchFamily="34" charset="0"/>
                <a:ea typeface="Geist" pitchFamily="34" charset="-122"/>
                <a:cs typeface="Geist" pitchFamily="34" charset="-120"/>
              </a:rPr>
              <a:t>Este libro es un recordatorio de que el pasado nos define, pero no nos condena. El mañana se construye hoy, con la esperanza de que la historia, por fin, se ponga del lado de los oprimidos.</a:t>
            </a:r>
            <a:endParaRPr lang="en-US" sz="1750" dirty="0"/>
          </a:p>
        </p:txBody>
      </p:sp>
      <p:pic>
        <p:nvPicPr>
          <p:cNvPr id="6" name="Image 0" descr="preencoded.png"/>
          <p:cNvPicPr>
            <a:picLocks noChangeAspect="1"/>
          </p:cNvPicPr>
          <p:nvPr/>
        </p:nvPicPr>
        <p:blipFill>
          <a:blip r:embed="rId3"/>
          <a:stretch>
            <a:fillRect/>
          </a:stretch>
        </p:blipFill>
        <p:spPr>
          <a:xfrm>
            <a:off x="9347597" y="2863929"/>
            <a:ext cx="4108013" cy="3834051"/>
          </a:xfrm>
          <a:prstGeom prst="rect">
            <a:avLst/>
          </a:prstGeom>
        </p:spPr>
      </p:pic>
      <p:pic>
        <p:nvPicPr>
          <p:cNvPr id="7" name="Imagen 6">
            <a:extLst>
              <a:ext uri="{FF2B5EF4-FFF2-40B4-BE49-F238E27FC236}">
                <a16:creationId xmlns:a16="http://schemas.microsoft.com/office/drawing/2014/main" id="{D827A835-F07B-53AB-17CC-7D3E11CE8301}"/>
              </a:ext>
            </a:extLst>
          </p:cNvPr>
          <p:cNvPicPr>
            <a:picLocks noChangeAspect="1"/>
          </p:cNvPicPr>
          <p:nvPr/>
        </p:nvPicPr>
        <p:blipFill>
          <a:blip r:embed="rId4"/>
          <a:stretch>
            <a:fillRect/>
          </a:stretch>
        </p:blipFill>
        <p:spPr>
          <a:xfrm>
            <a:off x="12817044" y="7655688"/>
            <a:ext cx="1813356" cy="4927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2"/>
                                        </p:tgtEl>
                                        <p:attrNameLst>
                                          <p:attrName>ppt_x</p:attrName>
                                        </p:attrNameLst>
                                      </p:cBhvr>
                                      <p:tavLst>
                                        <p:tav tm="0">
                                          <p:val>
                                            <p:strVal val="ppt_x"/>
                                          </p:val>
                                        </p:tav>
                                        <p:tav tm="100000">
                                          <p:val>
                                            <p:strVal val="ppt_x"/>
                                          </p:val>
                                        </p:tav>
                                      </p:tavLst>
                                    </p:anim>
                                    <p:anim calcmode="lin" valueType="num">
                                      <p:cBhvr additive="base">
                                        <p:cTn id="7" dur="500"/>
                                        <p:tgtEl>
                                          <p:spTgt spid="2"/>
                                        </p:tgtEl>
                                        <p:attrNameLst>
                                          <p:attrName>ppt_y</p:attrName>
                                        </p:attrNameLst>
                                      </p:cBhvr>
                                      <p:tavLst>
                                        <p:tav tm="0">
                                          <p:val>
                                            <p:strVal val="ppt_y"/>
                                          </p:val>
                                        </p:tav>
                                        <p:tav tm="100000">
                                          <p:val>
                                            <p:strVal val="1+ppt_h/2"/>
                                          </p:val>
                                        </p:tav>
                                      </p:tavLst>
                                    </p:anim>
                                    <p:set>
                                      <p:cBhvr>
                                        <p:cTn id="8" dur="1" fill="hold">
                                          <p:stCondLst>
                                            <p:cond delay="499"/>
                                          </p:stCondLst>
                                        </p:cTn>
                                        <p:tgtEl>
                                          <p:spTgt spid="2"/>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31" presetClass="exit" presetSubtype="0" fill="hold" nodeType="clickEffect">
                                  <p:stCondLst>
                                    <p:cond delay="0"/>
                                  </p:stCondLst>
                                  <p:childTnLst>
                                    <p:anim calcmode="lin" valueType="num">
                                      <p:cBhvr>
                                        <p:cTn id="12" dur="1000"/>
                                        <p:tgtEl>
                                          <p:spTgt spid="3">
                                            <p:txEl>
                                              <p:pRg st="0" end="0"/>
                                            </p:txEl>
                                          </p:spTgt>
                                        </p:tgtEl>
                                        <p:attrNameLst>
                                          <p:attrName>ppt_w</p:attrName>
                                        </p:attrNameLst>
                                      </p:cBhvr>
                                      <p:tavLst>
                                        <p:tav tm="0">
                                          <p:val>
                                            <p:strVal val="ppt_w"/>
                                          </p:val>
                                        </p:tav>
                                        <p:tav tm="100000">
                                          <p:val>
                                            <p:fltVal val="0"/>
                                          </p:val>
                                        </p:tav>
                                      </p:tavLst>
                                    </p:anim>
                                    <p:anim calcmode="lin" valueType="num">
                                      <p:cBhvr>
                                        <p:cTn id="13" dur="1000"/>
                                        <p:tgtEl>
                                          <p:spTgt spid="3">
                                            <p:txEl>
                                              <p:pRg st="0" end="0"/>
                                            </p:txEl>
                                          </p:spTgt>
                                        </p:tgtEl>
                                        <p:attrNameLst>
                                          <p:attrName>ppt_h</p:attrName>
                                        </p:attrNameLst>
                                      </p:cBhvr>
                                      <p:tavLst>
                                        <p:tav tm="0">
                                          <p:val>
                                            <p:strVal val="ppt_h"/>
                                          </p:val>
                                        </p:tav>
                                        <p:tav tm="100000">
                                          <p:val>
                                            <p:fltVal val="0"/>
                                          </p:val>
                                        </p:tav>
                                      </p:tavLst>
                                    </p:anim>
                                    <p:anim calcmode="lin" valueType="num">
                                      <p:cBhvr>
                                        <p:cTn id="14" dur="1000"/>
                                        <p:tgtEl>
                                          <p:spTgt spid="3">
                                            <p:txEl>
                                              <p:pRg st="0" end="0"/>
                                            </p:txEl>
                                          </p:spTgt>
                                        </p:tgtEl>
                                        <p:attrNameLst>
                                          <p:attrName>style.rotation</p:attrName>
                                        </p:attrNameLst>
                                      </p:cBhvr>
                                      <p:tavLst>
                                        <p:tav tm="0">
                                          <p:val>
                                            <p:fltVal val="0"/>
                                          </p:val>
                                        </p:tav>
                                        <p:tav tm="100000">
                                          <p:val>
                                            <p:fltVal val="90"/>
                                          </p:val>
                                        </p:tav>
                                      </p:tavLst>
                                    </p:anim>
                                    <p:animEffect transition="out" filter="fade">
                                      <p:cBhvr>
                                        <p:cTn id="15" dur="1000"/>
                                        <p:tgtEl>
                                          <p:spTgt spid="3">
                                            <p:txEl>
                                              <p:pRg st="0" end="0"/>
                                            </p:txEl>
                                          </p:spTgt>
                                        </p:tgtEl>
                                      </p:cBhvr>
                                    </p:animEffect>
                                    <p:set>
                                      <p:cBhvr>
                                        <p:cTn id="16" dur="1" fill="hold">
                                          <p:stCondLst>
                                            <p:cond delay="999"/>
                                          </p:stCondLst>
                                        </p:cTn>
                                        <p:tgtEl>
                                          <p:spTgt spid="3">
                                            <p:txEl>
                                              <p:pRg st="0" end="0"/>
                                            </p:txEl>
                                          </p:spTgt>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xit" presetSubtype="0" fill="hold" grpId="0" nodeType="clickEffect">
                                  <p:stCondLst>
                                    <p:cond delay="0"/>
                                  </p:stCondLst>
                                  <p:childTnLst>
                                    <p:animEffect transition="out" filter="fade">
                                      <p:cBhvr>
                                        <p:cTn id="20" dur="1000"/>
                                        <p:tgtEl>
                                          <p:spTgt spid="4"/>
                                        </p:tgtEl>
                                      </p:cBhvr>
                                    </p:animEffect>
                                    <p:anim calcmode="lin" valueType="num">
                                      <p:cBhvr>
                                        <p:cTn id="21" dur="1000"/>
                                        <p:tgtEl>
                                          <p:spTgt spid="4"/>
                                        </p:tgtEl>
                                        <p:attrNameLst>
                                          <p:attrName>ppt_x</p:attrName>
                                        </p:attrNameLst>
                                      </p:cBhvr>
                                      <p:tavLst>
                                        <p:tav tm="0">
                                          <p:val>
                                            <p:strVal val="ppt_x"/>
                                          </p:val>
                                        </p:tav>
                                        <p:tav tm="100000">
                                          <p:val>
                                            <p:strVal val="ppt_x"/>
                                          </p:val>
                                        </p:tav>
                                      </p:tavLst>
                                    </p:anim>
                                    <p:anim calcmode="lin" valueType="num">
                                      <p:cBhvr>
                                        <p:cTn id="22" dur="1000"/>
                                        <p:tgtEl>
                                          <p:spTgt spid="4"/>
                                        </p:tgtEl>
                                        <p:attrNameLst>
                                          <p:attrName>ppt_y</p:attrName>
                                        </p:attrNameLst>
                                      </p:cBhvr>
                                      <p:tavLst>
                                        <p:tav tm="0">
                                          <p:val>
                                            <p:strVal val="ppt_y"/>
                                          </p:val>
                                        </p:tav>
                                        <p:tav tm="100000">
                                          <p:val>
                                            <p:strVal val="ppt_y+.1"/>
                                          </p:val>
                                        </p:tav>
                                      </p:tavLst>
                                    </p:anim>
                                    <p:set>
                                      <p:cBhvr>
                                        <p:cTn id="23" dur="1" fill="hold">
                                          <p:stCondLst>
                                            <p:cond delay="999"/>
                                          </p:stCondLst>
                                        </p:cTn>
                                        <p:tgtEl>
                                          <p:spTgt spid="4"/>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26" presetClass="exit" presetSubtype="0" fill="hold" grpId="0" nodeType="clickEffect">
                                  <p:stCondLst>
                                    <p:cond delay="0"/>
                                  </p:stCondLst>
                                  <p:childTnLst>
                                    <p:animEffect transition="out" filter="wipe(down)">
                                      <p:cBhvr>
                                        <p:cTn id="27" dur="180" accel="50000">
                                          <p:stCondLst>
                                            <p:cond delay="1820"/>
                                          </p:stCondLst>
                                        </p:cTn>
                                        <p:tgtEl>
                                          <p:spTgt spid="5"/>
                                        </p:tgtEl>
                                      </p:cBhvr>
                                    </p:animEffect>
                                    <p:anim calcmode="lin" valueType="num">
                                      <p:cBhvr>
                                        <p:cTn id="28" dur="1822" tmFilter="0,0; 0.14,0.31; 0.43,0.73; 0.71,0.91; 1.0,1.0">
                                          <p:stCondLst>
                                            <p:cond delay="0"/>
                                          </p:stCondLst>
                                        </p:cTn>
                                        <p:tgtEl>
                                          <p:spTgt spid="5"/>
                                        </p:tgtEl>
                                        <p:attrNameLst>
                                          <p:attrName>ppt_x</p:attrName>
                                        </p:attrNameLst>
                                      </p:cBhvr>
                                      <p:tavLst>
                                        <p:tav tm="0">
                                          <p:val>
                                            <p:strVal val="ppt_x"/>
                                          </p:val>
                                        </p:tav>
                                        <p:tav tm="100000">
                                          <p:val>
                                            <p:strVal val="#ppt_x+0.25"/>
                                          </p:val>
                                        </p:tav>
                                      </p:tavLst>
                                    </p:anim>
                                    <p:anim calcmode="lin" valueType="num">
                                      <p:cBhvr>
                                        <p:cTn id="29" dur="178">
                                          <p:stCondLst>
                                            <p:cond delay="1822"/>
                                          </p:stCondLst>
                                        </p:cTn>
                                        <p:tgtEl>
                                          <p:spTgt spid="5"/>
                                        </p:tgtEl>
                                        <p:attrNameLst>
                                          <p:attrName>ppt_x</p:attrName>
                                        </p:attrNameLst>
                                      </p:cBhvr>
                                      <p:tavLst>
                                        <p:tav tm="0">
                                          <p:val>
                                            <p:strVal val="ppt_x"/>
                                          </p:val>
                                        </p:tav>
                                        <p:tav tm="100000">
                                          <p:val>
                                            <p:strVal val="ppt_x"/>
                                          </p:val>
                                        </p:tav>
                                      </p:tavLst>
                                    </p:anim>
                                    <p:anim calcmode="lin" valueType="num">
                                      <p:cBhvr>
                                        <p:cTn id="30" dur="664" tmFilter="0.0,0.0;0.25,0.07;0.50,0.2;0.75,0.467;1.0,1.0">
                                          <p:stCondLst>
                                            <p:cond delay="0"/>
                                          </p:stCondLst>
                                        </p:cTn>
                                        <p:tgtEl>
                                          <p:spTgt spid="5"/>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31" dur="664" tmFilter="0, 0; 0.125,0.2665; 0.25,0.4; 0.375,0.465; 0.5,0.5;  0.625,0.535; 0.75,0.6; 0.875,0.7335; 1,1">
                                          <p:stCondLst>
                                            <p:cond delay="664"/>
                                          </p:stCondLst>
                                        </p:cTn>
                                        <p:tgtEl>
                                          <p:spTgt spid="5"/>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32" dur="332" tmFilter="0, 0; 0.125,0.2665; 0.25,0.4; 0.375,0.465; 0.5,0.5;  0.625,0.535; 0.75,0.6; 0.875,0.7335; 1,1">
                                          <p:stCondLst>
                                            <p:cond delay="1324"/>
                                          </p:stCondLst>
                                        </p:cTn>
                                        <p:tgtEl>
                                          <p:spTgt spid="5"/>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33" dur="164" tmFilter="0, 0; 0.125,0.2665; 0.25,0.4; 0.375,0.465; 0.5,0.5;  0.625,0.535; 0.75,0.6; 0.875,0.7335; 1,1">
                                          <p:stCondLst>
                                            <p:cond delay="1656"/>
                                          </p:stCondLst>
                                        </p:cTn>
                                        <p:tgtEl>
                                          <p:spTgt spid="5"/>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34" dur="180" accel="50000">
                                          <p:stCondLst>
                                            <p:cond delay="1820"/>
                                          </p:stCondLst>
                                        </p:cTn>
                                        <p:tgtEl>
                                          <p:spTgt spid="5"/>
                                        </p:tgtEl>
                                        <p:attrNameLst>
                                          <p:attrName>ppt_y</p:attrName>
                                        </p:attrNameLst>
                                      </p:cBhvr>
                                      <p:tavLst>
                                        <p:tav tm="0">
                                          <p:val>
                                            <p:strVal val="ppt_y"/>
                                          </p:val>
                                        </p:tav>
                                        <p:tav tm="100000">
                                          <p:val>
                                            <p:strVal val="ppt_y+ppt_h"/>
                                          </p:val>
                                        </p:tav>
                                      </p:tavLst>
                                    </p:anim>
                                    <p:animScale>
                                      <p:cBhvr>
                                        <p:cTn id="35" dur="26">
                                          <p:stCondLst>
                                            <p:cond delay="620"/>
                                          </p:stCondLst>
                                        </p:cTn>
                                        <p:tgtEl>
                                          <p:spTgt spid="5"/>
                                        </p:tgtEl>
                                      </p:cBhvr>
                                      <p:to x="100000" y="60000"/>
                                    </p:animScale>
                                    <p:animScale>
                                      <p:cBhvr>
                                        <p:cTn id="36" dur="166" decel="50000">
                                          <p:stCondLst>
                                            <p:cond delay="646"/>
                                          </p:stCondLst>
                                        </p:cTn>
                                        <p:tgtEl>
                                          <p:spTgt spid="5"/>
                                        </p:tgtEl>
                                      </p:cBhvr>
                                      <p:to x="100000" y="100000"/>
                                    </p:animScale>
                                    <p:animScale>
                                      <p:cBhvr>
                                        <p:cTn id="37" dur="26">
                                          <p:stCondLst>
                                            <p:cond delay="1312"/>
                                          </p:stCondLst>
                                        </p:cTn>
                                        <p:tgtEl>
                                          <p:spTgt spid="5"/>
                                        </p:tgtEl>
                                      </p:cBhvr>
                                      <p:to x="100000" y="80000"/>
                                    </p:animScale>
                                    <p:animScale>
                                      <p:cBhvr>
                                        <p:cTn id="38" dur="166" decel="50000">
                                          <p:stCondLst>
                                            <p:cond delay="1338"/>
                                          </p:stCondLst>
                                        </p:cTn>
                                        <p:tgtEl>
                                          <p:spTgt spid="5"/>
                                        </p:tgtEl>
                                      </p:cBhvr>
                                      <p:to x="100000" y="100000"/>
                                    </p:animScale>
                                    <p:animScale>
                                      <p:cBhvr>
                                        <p:cTn id="39" dur="26">
                                          <p:stCondLst>
                                            <p:cond delay="1642"/>
                                          </p:stCondLst>
                                        </p:cTn>
                                        <p:tgtEl>
                                          <p:spTgt spid="5"/>
                                        </p:tgtEl>
                                      </p:cBhvr>
                                      <p:to x="100000" y="90000"/>
                                    </p:animScale>
                                    <p:animScale>
                                      <p:cBhvr>
                                        <p:cTn id="40" dur="166" decel="50000">
                                          <p:stCondLst>
                                            <p:cond delay="1668"/>
                                          </p:stCondLst>
                                        </p:cTn>
                                        <p:tgtEl>
                                          <p:spTgt spid="5"/>
                                        </p:tgtEl>
                                      </p:cBhvr>
                                      <p:to x="100000" y="100000"/>
                                    </p:animScale>
                                    <p:animScale>
                                      <p:cBhvr>
                                        <p:cTn id="41" dur="26">
                                          <p:stCondLst>
                                            <p:cond delay="1808"/>
                                          </p:stCondLst>
                                        </p:cTn>
                                        <p:tgtEl>
                                          <p:spTgt spid="5"/>
                                        </p:tgtEl>
                                      </p:cBhvr>
                                      <p:to x="100000" y="95000"/>
                                    </p:animScale>
                                    <p:animScale>
                                      <p:cBhvr>
                                        <p:cTn id="42" dur="166" decel="50000">
                                          <p:stCondLst>
                                            <p:cond delay="1834"/>
                                          </p:stCondLst>
                                        </p:cTn>
                                        <p:tgtEl>
                                          <p:spTgt spid="5"/>
                                        </p:tgtEl>
                                      </p:cBhvr>
                                      <p:to x="100000" y="100000"/>
                                    </p:animScale>
                                    <p:set>
                                      <p:cBhvr>
                                        <p:cTn id="43" dur="1" fill="hold">
                                          <p:stCondLst>
                                            <p:cond delay="1999"/>
                                          </p:stCondLst>
                                        </p:cTn>
                                        <p:tgtEl>
                                          <p:spTgt spid="5"/>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4" presetClass="exit" presetSubtype="10" fill="hold" nodeType="clickEffect">
                                  <p:stCondLst>
                                    <p:cond delay="0"/>
                                  </p:stCondLst>
                                  <p:childTnLst>
                                    <p:animEffect transition="out" filter="randombar(horizontal)">
                                      <p:cBhvr>
                                        <p:cTn id="47" dur="500"/>
                                        <p:tgtEl>
                                          <p:spTgt spid="6"/>
                                        </p:tgtEl>
                                      </p:cBhvr>
                                    </p:animEffect>
                                    <p:set>
                                      <p:cBhvr>
                                        <p:cTn id="48" dur="1" fill="hold">
                                          <p:stCondLst>
                                            <p:cond delay="4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1029</Words>
  <Application>Microsoft Office PowerPoint</Application>
  <PresentationFormat>Personalizado</PresentationFormat>
  <Paragraphs>75</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Geist</vt:lpstr>
      <vt:lpstr>Geist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Mateo Moreno</dc:creator>
  <cp:lastModifiedBy>marientamaraseguracarvajal@gmail.com</cp:lastModifiedBy>
  <cp:revision>3</cp:revision>
  <dcterms:created xsi:type="dcterms:W3CDTF">2026-04-26T04:18:46Z</dcterms:created>
  <dcterms:modified xsi:type="dcterms:W3CDTF">2026-04-29T22:21:57Z</dcterms:modified>
</cp:coreProperties>
</file>